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오프닝: '120만 원 환불이 버튼 한 번으로 완료된다면, 우리 조직은 어디서 통제해야 할까요?' 기능 목록 대신 실제 업무의 변경 전후를 보여 준다. 본 영상은 실제 로컬 실행을 편집한 사전 녹화이며 편집 길이가 구현 시간은 아니다. 합성 데이터와 모의 역할, 실제 금전 이동 없음.</a:t>
            </a:r>
            <a:endParaRPr lang="ko-KR" sz="1200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변경 전 실제 앱을 캡처했다. 김지원 역할로 RF-2401 처리 시 120만 원이 즉시 completed 상태가 되고 감사 이벤트는 0이다. 실제 금전 이동이나 실제 조직의 결함을 주장하지 않는다. 출처: demo/starter, .build/screens/before-*.png.</a:t>
            </a:r>
            <a:endParaRPr lang="ko-KR" sz="1200" b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원문 변경 요청: demo/request.md. 경계는 100만 원 이상으로 정한다. 본 데모의 정책 요구 예시이며 법적 준수 판정이 아니다. 대기 금액을 비용 절감액이나 손실 예방액이라고 표현하지 않는다.</a:t>
            </a:r>
            <a:endParaRPr lang="ko-KR" sz="1200" b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실제 구현은 GitHub Copilot CLI --agent를 순차 호출하는 로컬 스크립트다. 로컬 스크립트가 테스트를 실행하며, 검증 단계에 별도 AI 에이전트가 있다고 주장하지 않는다. 자율 에이전트 네트워크나 특정 A2A 프로토콜 구현이 아니다. 자동 리허설 수락은 simulated-rehearsal이고 실제 발표자는 직접 범위를 승인한다. 공식 출처: https://docs.github.com/en/copilot/how-tos/copilot-cli/customize-copilot/create-custom-agents-for-cli</a:t>
            </a:r>
            <a:endParaRPr lang="ko-KR" sz="1200" b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실제 변경 파일: README.md, public/app.mjs, public/index.html, public/styles.css, src/refunds.mjs, test/refunds.test.mjs. 수정 범위는 계획 수락 전 정했고, 파일 해시로 범위를 확인했다. 로컬 스크립트의 허용 목록은 운영 보안 경계의 완전성을 증명하지 않는다. 실제 구현 기록: demo/fallback/02-implementation.md 및 change.diff. https://docs.github.com/en/copilot/how-tos/copilot-cli/customize-copilot/create-custom-agents-for-cli</a:t>
            </a:r>
            <a:endParaRPr lang="ko-KR" sz="1200" b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실제 로컬 API에 승인 요청을 보낸 뒤 캡처했다. 요청 건 RF-2401, 금액 1,200,000원, 요청자 cs-kim. pendingApprovalAmount는 실제 현재 배열의 합계이다. 예방한 손실이나 생산성 지표가 아니다.</a:t>
            </a:r>
            <a:endParaRPr lang="ko-KR" sz="1200" b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동일 actorId=cs-kim의 approve 요청을 실제로 보내 HTTP 403/SELF_APPROVAL을 확인했다. '자기 승인 차단 확인' 버튼은 통제 검증용이며 정상 승인 권한이 있는 것처럼 제시하지 않는다. 역할 선택은 실제 사용자 인증이 아니다.</a:t>
            </a:r>
            <a:endParaRPr lang="ko-KR" sz="1200" b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김지원 요청, 김지원 자기 승인 차단, 박민서 승인이라는 실제 메모리 이벤트를 캡처했다. 실제 계정 인증 또는 변경 불가능한 영구 감사 저장소가 아니다. 서버 재시작 및 데모 초기화 시 사라진다. 배포 설계에서는 인증, 영구 저장, 결제 경계, 동시성 등을 별도로 검토해야 한다.</a:t>
            </a:r>
            <a:endParaRPr lang="ko-KR" sz="1200" b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최초 외부 인수 검증은 감사 reason=null로 실패했고 문자열 정규화 후 빈 값 검사에서도 실패했다. 의미 있는 사유를 남기도록 구현과 테스트를 보완한 뒤 최종 검증했다. 최종 제품 16/16, 독립 인수 20/20, git diff --check exit=0. 출처: demo/fallback/03-first-verification.json, 03-second-verification.json, 03-verification.json. 실제 재현 환경: GitHub Copilot CLI 1.0.88., v22.16.0, darwin/arm64. GitHub Actions 실행 결과가 아니다.</a:t>
            </a:r>
            <a:endParaRPr lang="ko-KR" sz="1200" b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계획 수락과 출시 판단은 별개다. 리허설의 kind는 simulated-rehearsal로 명시했고 최종 상태는 hold다. --by는 입력 라벨이지 인증된 결재가 아니다. 본 데모는 PR 생성·병합·배포를 하지 않는다. 실제 발표에서는 발표자가 계획을 읽고 승인 명령을 직접 실행한다.</a:t>
            </a:r>
            <a:endParaRPr lang="ko-KR" sz="1200" b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이 데모를 근거로 시간 절감률이나 비용 절감액을 주장하지 않는다. 실제 결제·인증·영구 저장 설계는 별도 보안 및 운영 검토가 필요하다. 파일럿 지표는 향후 측정 제안이지 이 세션의 검증 성과가 아니다.</a:t>
            </a:r>
            <a:endParaRPr lang="ko-KR" sz="1200" b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마무리: 기능의 개수보다 조직의 어느 변경에 적용하고 어디에서 사람의 결정을 유지할지 질문한다. 경영 정책, 실제 UI/API 변화, 검증, 사람의 통제라는 연결을 기억하게 한다. 특정 프로토콜 또는 자동 운영 배포의 시연으로 확대 해석하지 않는다.</a:t>
            </a:r>
            <a:endParaRPr lang="ko-KR" sz="1200" b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>
          <a:xfrm>
            <a:off x="476250" y="1143000"/>
            <a:ext cx="5905500" cy="6667500"/>
          </a:xfrm>
        </p:spPr>
        <p:txBody>
          <a:bodyPr/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GitHub Copilot CLI 역할 실행: https://docs.github.com/en/copilot/how-tos/copilot-cli/customize-copilot/create-custom-agents-for-cli</a:t>
            </a:r>
            <a:endParaRPr lang="ko-KR" sz="1200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Copilot Studio 공식 개요: https://learn.microsoft.com/microsoft-copilot-studio/fundamentals-what-is-copilot-studio</a:t>
            </a:r>
            <a:endParaRPr lang="ko-KR" sz="1200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A2A 규격: https://a2a-protocol.org/latest/specification/</a:t>
            </a:r>
            <a:endParaRPr lang="ko-KR" sz="1200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12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Copilot Studio의 일부 환경이 GitHub Copilot harness를 사용하더라도 제품의 제작·운영 워크플로와 이 로컬 개발 데모를 같은 것으로 취급하지 않는다. GitHub Copilot code review 제품과도 구분한다.</a:t>
            </a:r>
            <a:endParaRPr lang="ko-KR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itHub Copilot: Agentic Development in Action">
    <p:bg>
      <p:bgPr>
        <a:solidFill>
          <a:srgbClr val="10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42950" y="923925"/>
            <a:ext cx="1047750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4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GitHub Copilot</a:t>
            </a:r>
            <a:endParaRPr lang="ko-KR" sz="4350" b="1"/>
          </a:p>
        </p:txBody>
      </p:sp>
      <p:sp>
        <p:nvSpPr>
          <p:cNvPr id="3" name="Text 3"/>
          <p:cNvSpPr txBox="1"/>
          <p:nvPr/>
        </p:nvSpPr>
        <p:spPr>
          <a:xfrm>
            <a:off x="742950" y="1809750"/>
            <a:ext cx="10382250" cy="1666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49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Agentic Development</a:t>
            </a:r>
            <a:endParaRPr lang="ko-KR" sz="4950" b="1"/>
          </a:p>
          <a:p>
            <a:pPr marL="0" marR="0" indent="0">
              <a:lnSpc>
                <a:spcPct val="125000"/>
              </a:lnSpc>
              <a:buNone/>
            </a:pPr>
            <a:r>
              <a:rPr lang="ko-KR" sz="49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in Action</a:t>
            </a:r>
            <a:endParaRPr lang="ko-KR" sz="4950" b="1"/>
          </a:p>
        </p:txBody>
      </p:sp>
      <p:sp>
        <p:nvSpPr>
          <p:cNvPr id="4" name="Text 4"/>
          <p:cNvSpPr txBox="1"/>
          <p:nvPr/>
        </p:nvSpPr>
        <p:spPr>
          <a:xfrm>
            <a:off x="781050" y="4286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775" b="0">
                <a:solidFill>
                  <a:srgbClr val="C9B6F2"/>
                </a:solidFill>
                <a:latin typeface="Nanum Gothic"/>
                <a:ea typeface="Nanum Gothic"/>
                <a:cs typeface="Nanum Gothic"/>
              </a:rPr>
              <a:t>경영진의 요청을</a:t>
            </a:r>
            <a:endParaRPr lang="ko-KR" sz="2775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775" b="0">
                <a:solidFill>
                  <a:srgbClr val="C9B6F2"/>
                </a:solidFill>
                <a:latin typeface="Nanum Gothic"/>
                <a:ea typeface="Nanum Gothic"/>
                <a:cs typeface="Nanum Gothic"/>
              </a:rPr>
              <a:t>검토 가능한 제품 변경으로</a:t>
            </a:r>
            <a:endParaRPr lang="ko-KR" sz="2775" b="0"/>
          </a:p>
        </p:txBody>
      </p:sp>
      <p:sp>
        <p:nvSpPr>
          <p:cNvPr id="5" name="Text 5"/>
          <p:cNvSpPr txBox="1"/>
          <p:nvPr/>
        </p:nvSpPr>
        <p:spPr>
          <a:xfrm>
            <a:off x="800100" y="5924550"/>
            <a:ext cx="101917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425" b="0">
                <a:solidFill>
                  <a:srgbClr val="AAB4C8"/>
                </a:solidFill>
                <a:latin typeface="Nanum Gothic"/>
                <a:ea typeface="Nanum Gothic"/>
                <a:cs typeface="Nanum Gothic"/>
              </a:rPr>
              <a:t>CXO DEMO · 환불 승인과 감사</a:t>
            </a:r>
            <a:endParaRPr lang="ko-KR" sz="1425" b="0"/>
          </a:p>
        </p:txBody>
      </p:sp>
      <p:sp>
        <p:nvSpPr>
          <p:cNvPr id="6" name="Text 6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994A9"/>
                </a:solidFill>
                <a:latin typeface="Nanum Gothic"/>
                <a:ea typeface="Nanum Gothic"/>
                <a:cs typeface="Nanum Gothic"/>
              </a:rPr>
              <a:t>1</a:t>
            </a:r>
            <a:endParaRPr lang="ko-KR" sz="105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승인 없이 완료되는 120만 원 환불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승인 없이 완료되는 120만 원 환불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23900" y="1314450"/>
            <a:ext cx="10744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현재 업무 화면에서 통제의 빈틈을 먼저 확인합니다</a:t>
            </a:r>
            <a:endParaRPr lang="ko-KR" sz="1875" b="0"/>
          </a:p>
        </p:txBody>
      </p:sp>
      <p:pic>
        <p:nvPicPr>
          <p:cNvPr id="4" name="before-policy.png" descr="Actual local dem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074837"/>
            <a:ext cx="10744200" cy="1184325"/>
          </a:xfrm>
          <a:prstGeom prst="rect">
            <a:avLst/>
          </a:prstGeom>
        </p:spPr>
      </p:pic>
      <p:pic>
        <p:nvPicPr>
          <p:cNvPr id="5" name="before-completed-row.png" descr="Actual local demo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682574"/>
            <a:ext cx="10744200" cy="654903"/>
          </a:xfrm>
          <a:prstGeom prst="rect">
            <a:avLst/>
          </a:prstGeom>
        </p:spPr>
      </p:pic>
      <p:pic>
        <p:nvPicPr>
          <p:cNvPr id="6" name="before-completed-metrics.png" descr="Actual local demo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96" y="4591050"/>
            <a:ext cx="10463808" cy="118110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42950" y="6048375"/>
            <a:ext cx="105727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5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실제 결제 대신 합성 요청의 상태를 바꾸는 로컬 시연입니다</a:t>
            </a:r>
            <a:endParaRPr lang="ko-KR" sz="1575" b="0"/>
          </a:p>
        </p:txBody>
      </p:sp>
      <p:sp>
        <p:nvSpPr>
          <p:cNvPr id="8" name="Text 8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2</a:t>
            </a:r>
            <a:endParaRPr lang="ko-KR" sz="1050"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경영진의 정책 요청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경영진의 정책 요청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81050" y="1876425"/>
            <a:ext cx="10572750" cy="2333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37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“100만 원 이상 환불은</a:t>
            </a:r>
            <a:endParaRPr lang="ko-KR" sz="3375" b="1"/>
          </a:p>
          <a:p>
            <a:pPr marL="0" marR="0" indent="0">
              <a:lnSpc>
                <a:spcPct val="125000"/>
              </a:lnSpc>
              <a:buNone/>
            </a:pPr>
            <a:r>
              <a:rPr lang="ko-KR" sz="337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다른 담당자가 승인한 뒤 처리하고,</a:t>
            </a:r>
            <a:endParaRPr lang="ko-KR" sz="3375" b="1"/>
          </a:p>
          <a:p>
            <a:pPr marL="0" marR="0" indent="0">
              <a:lnSpc>
                <a:spcPct val="125000"/>
              </a:lnSpc>
              <a:buNone/>
            </a:pPr>
            <a:r>
              <a:rPr lang="ko-KR" sz="337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결정과 차단 시도를 기록해 주세요.”</a:t>
            </a:r>
            <a:endParaRPr lang="ko-KR" sz="3375" b="1"/>
          </a:p>
        </p:txBody>
      </p:sp>
      <p:cxnSp>
        <p:nvCxnSpPr>
          <p:cNvPr id="4" name="Handoff 4"/>
          <p:cNvCxnSpPr/>
          <p:nvPr/>
        </p:nvCxnSpPr>
        <p:spPr>
          <a:xfrm>
            <a:off x="781050" y="4686300"/>
            <a:ext cx="10610850" cy="0"/>
          </a:xfrm>
          <a:prstGeom prst="line">
            <a:avLst/>
          </a:prstGeom>
          <a:ln w="19050">
            <a:solidFill>
              <a:srgbClr val="D8DFEB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800100" y="5067300"/>
            <a:ext cx="476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10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소액 고객 대응은 유지</a:t>
            </a:r>
            <a:endParaRPr lang="ko-KR" sz="2100" b="1"/>
          </a:p>
        </p:txBody>
      </p:sp>
      <p:sp>
        <p:nvSpPr>
          <p:cNvPr id="6" name="Text 6"/>
          <p:cNvSpPr txBox="1"/>
          <p:nvPr/>
        </p:nvSpPr>
        <p:spPr>
          <a:xfrm>
            <a:off x="800100" y="5553075"/>
            <a:ext cx="10477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서버의 정책과 업무 화면을 함께 변경</a:t>
            </a:r>
            <a:endParaRPr lang="ko-KR" sz="2025" b="0"/>
          </a:p>
        </p:txBody>
      </p:sp>
      <p:sp>
        <p:nvSpPr>
          <p:cNvPr id="7" name="Text 7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3</a:t>
            </a:r>
            <a:endParaRPr lang="ko-KR" sz="1050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요청부터 검토까지의 작업 전달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요청부터 검토까지의 작업 전달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23900" y="1314450"/>
            <a:ext cx="10744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역할별 결과물을 다음 단계의 입력으로 사용합니다</a:t>
            </a:r>
            <a:endParaRPr lang="ko-KR" sz="1875" b="0"/>
          </a:p>
        </p:txBody>
      </p:sp>
      <p:sp>
        <p:nvSpPr>
          <p:cNvPr id="4" name="Text 4"/>
          <p:cNvSpPr txBox="1"/>
          <p:nvPr/>
        </p:nvSpPr>
        <p:spPr>
          <a:xfrm>
            <a:off x="762000" y="2466975"/>
            <a:ext cx="19907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32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Copilot 계획</a:t>
            </a:r>
            <a:endParaRPr lang="ko-KR" sz="2325" b="1"/>
          </a:p>
        </p:txBody>
      </p:sp>
      <p:sp>
        <p:nvSpPr>
          <p:cNvPr id="5" name="Text 5"/>
          <p:cNvSpPr txBox="1"/>
          <p:nvPr/>
        </p:nvSpPr>
        <p:spPr>
          <a:xfrm>
            <a:off x="3505200" y="2466975"/>
            <a:ext cx="199072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32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Copilot 구현</a:t>
            </a:r>
            <a:endParaRPr lang="ko-KR" sz="2325" b="1"/>
          </a:p>
        </p:txBody>
      </p:sp>
      <p:sp>
        <p:nvSpPr>
          <p:cNvPr id="6" name="Text 6"/>
          <p:cNvSpPr txBox="1"/>
          <p:nvPr/>
        </p:nvSpPr>
        <p:spPr>
          <a:xfrm>
            <a:off x="6305550" y="2466975"/>
            <a:ext cx="1905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325" b="1">
                <a:solidFill>
                  <a:srgbClr val="19734A"/>
                </a:solidFill>
                <a:latin typeface="Nanum Gothic"/>
                <a:ea typeface="Nanum Gothic"/>
                <a:cs typeface="Nanum Gothic"/>
              </a:rPr>
              <a:t>로컬 검증</a:t>
            </a:r>
            <a:endParaRPr lang="ko-KR" sz="2325" b="1"/>
          </a:p>
        </p:txBody>
      </p:sp>
      <p:sp>
        <p:nvSpPr>
          <p:cNvPr id="7" name="Text 7"/>
          <p:cNvSpPr txBox="1"/>
          <p:nvPr/>
        </p:nvSpPr>
        <p:spPr>
          <a:xfrm>
            <a:off x="8991600" y="2466975"/>
            <a:ext cx="2428875" cy="533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32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Copilot 검토</a:t>
            </a:r>
            <a:endParaRPr lang="ko-KR" sz="2325" b="1"/>
          </a:p>
        </p:txBody>
      </p:sp>
      <p:cxnSp>
        <p:nvCxnSpPr>
          <p:cNvPr id="8" name="Handoff 8"/>
          <p:cNvCxnSpPr/>
          <p:nvPr/>
        </p:nvCxnSpPr>
        <p:spPr>
          <a:xfrm>
            <a:off x="2847975" y="2724150"/>
            <a:ext cx="447675" cy="0"/>
          </a:xfrm>
          <a:prstGeom prst="line">
            <a:avLst/>
          </a:prstGeom>
          <a:ln w="19050">
            <a:solidFill>
              <a:srgbClr val="7652C4"/>
            </a:solidFill>
            <a:tailEnd type="triangle" w="sm" len="sm"/>
          </a:ln>
        </p:spPr>
      </p:cxnSp>
      <p:cxnSp>
        <p:nvCxnSpPr>
          <p:cNvPr id="9" name="Handoff 9"/>
          <p:cNvCxnSpPr/>
          <p:nvPr/>
        </p:nvCxnSpPr>
        <p:spPr>
          <a:xfrm>
            <a:off x="5572125" y="2724150"/>
            <a:ext cx="514350" cy="0"/>
          </a:xfrm>
          <a:prstGeom prst="line">
            <a:avLst/>
          </a:prstGeom>
          <a:ln w="19050">
            <a:solidFill>
              <a:srgbClr val="7652C4"/>
            </a:solidFill>
            <a:tailEnd type="triangle" w="sm" len="sm"/>
          </a:ln>
        </p:spPr>
      </p:cxnSp>
      <p:cxnSp>
        <p:nvCxnSpPr>
          <p:cNvPr id="10" name="Handoff 10"/>
          <p:cNvCxnSpPr/>
          <p:nvPr/>
        </p:nvCxnSpPr>
        <p:spPr>
          <a:xfrm>
            <a:off x="8305800" y="2724150"/>
            <a:ext cx="485775" cy="0"/>
          </a:xfrm>
          <a:prstGeom prst="line">
            <a:avLst/>
          </a:prstGeom>
          <a:ln w="19050">
            <a:solidFill>
              <a:srgbClr val="7652C4"/>
            </a:solidFill>
            <a:tailEnd type="triangle" w="sm" len="sm"/>
          </a:ln>
        </p:spPr>
      </p:cxnSp>
      <p:sp>
        <p:nvSpPr>
          <p:cNvPr id="11" name="Text 11"/>
          <p:cNvSpPr txBox="1"/>
          <p:nvPr/>
        </p:nvSpPr>
        <p:spPr>
          <a:xfrm>
            <a:off x="800100" y="3162300"/>
            <a:ext cx="2047875" cy="866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계획서</a:t>
            </a:r>
            <a:endParaRPr lang="ko-KR" sz="2025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완료 기준</a:t>
            </a:r>
            <a:endParaRPr lang="ko-KR" sz="2025" b="0"/>
          </a:p>
        </p:txBody>
      </p:sp>
      <p:sp>
        <p:nvSpPr>
          <p:cNvPr id="12" name="Text 12"/>
          <p:cNvSpPr txBox="1"/>
          <p:nvPr/>
        </p:nvSpPr>
        <p:spPr>
          <a:xfrm>
            <a:off x="3543300" y="3162300"/>
            <a:ext cx="2286000" cy="866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UI와 업무 API</a:t>
            </a:r>
            <a:endParaRPr lang="ko-KR" sz="2025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테스트와 문서</a:t>
            </a:r>
            <a:endParaRPr lang="ko-KR" sz="2025" b="0"/>
          </a:p>
        </p:txBody>
      </p:sp>
      <p:sp>
        <p:nvSpPr>
          <p:cNvPr id="13" name="Text 13"/>
          <p:cNvSpPr txBox="1"/>
          <p:nvPr/>
        </p:nvSpPr>
        <p:spPr>
          <a:xfrm>
            <a:off x="6324600" y="3162300"/>
            <a:ext cx="2143125" cy="866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테스트 기록</a:t>
            </a:r>
            <a:endParaRPr lang="ko-KR" sz="2025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변경 diff</a:t>
            </a:r>
            <a:endParaRPr lang="ko-KR" sz="2025" b="0"/>
          </a:p>
        </p:txBody>
      </p:sp>
      <p:sp>
        <p:nvSpPr>
          <p:cNvPr id="14" name="Text 14"/>
          <p:cNvSpPr txBox="1"/>
          <p:nvPr/>
        </p:nvSpPr>
        <p:spPr>
          <a:xfrm>
            <a:off x="9020175" y="3162300"/>
            <a:ext cx="2333625" cy="866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지적 사항</a:t>
            </a:r>
            <a:endParaRPr lang="ko-KR" sz="2025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남은 위험</a:t>
            </a:r>
            <a:endParaRPr lang="ko-KR" sz="2025" b="0"/>
          </a:p>
        </p:txBody>
      </p:sp>
      <p:sp>
        <p:nvSpPr>
          <p:cNvPr id="15" name="Diagram 15"/>
          <p:cNvSpPr/>
          <p:nvPr/>
        </p:nvSpPr>
        <p:spPr>
          <a:xfrm>
            <a:off x="752475" y="4610100"/>
            <a:ext cx="4857750" cy="1095375"/>
          </a:xfrm>
          <a:prstGeom prst="rect">
            <a:avLst/>
          </a:prstGeom>
          <a:solidFill>
            <a:srgbClr val="EEE8FA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971550" y="4905375"/>
            <a:ext cx="43815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250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사람: 구현 범위 승인</a:t>
            </a:r>
            <a:endParaRPr lang="ko-KR" sz="2250" b="1"/>
          </a:p>
        </p:txBody>
      </p:sp>
      <p:sp>
        <p:nvSpPr>
          <p:cNvPr id="17" name="Diagram 17"/>
          <p:cNvSpPr/>
          <p:nvPr/>
        </p:nvSpPr>
        <p:spPr>
          <a:xfrm>
            <a:off x="6305550" y="4610100"/>
            <a:ext cx="5105400" cy="1095375"/>
          </a:xfrm>
          <a:prstGeom prst="rect">
            <a:avLst/>
          </a:prstGeom>
          <a:solidFill>
            <a:srgbClr val="E8F3EC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505575" y="4905375"/>
            <a:ext cx="47625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250" b="1">
                <a:solidFill>
                  <a:srgbClr val="19734A"/>
                </a:solidFill>
                <a:latin typeface="Nanum Gothic"/>
                <a:ea typeface="Nanum Gothic"/>
                <a:cs typeface="Nanum Gothic"/>
              </a:rPr>
              <a:t>사람: 적용 및 출시 판단</a:t>
            </a:r>
            <a:endParaRPr lang="ko-KR" sz="2250" b="1"/>
          </a:p>
        </p:txBody>
      </p:sp>
      <p:sp>
        <p:nvSpPr>
          <p:cNvPr id="19" name="Text 19"/>
          <p:cNvSpPr txBox="1"/>
          <p:nvPr/>
        </p:nvSpPr>
        <p:spPr>
          <a:xfrm>
            <a:off x="781050" y="6010275"/>
            <a:ext cx="10620375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5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인계 방식은 명시적 파일 전달이며, A2A 프로토콜 연결은 사용하지 않습니다</a:t>
            </a:r>
            <a:endParaRPr lang="ko-KR" sz="1575" b="0"/>
          </a:p>
        </p:txBody>
      </p:sp>
      <p:sp>
        <p:nvSpPr>
          <p:cNvPr id="20" name="Text 20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4</a:t>
            </a:r>
            <a:endParaRPr lang="ko-KR" sz="1050"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opilot이 바꾸는 제품의 표면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Copilot이 바꾸는 제품의 표면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23900" y="1314450"/>
            <a:ext cx="10744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하나의 요청으로 연결된 변경을 검토합니다</a:t>
            </a:r>
            <a:endParaRPr lang="ko-KR" sz="1875" b="0"/>
          </a:p>
        </p:txBody>
      </p:sp>
      <p:sp>
        <p:nvSpPr>
          <p:cNvPr id="4" name="Text 4"/>
          <p:cNvSpPr txBox="1"/>
          <p:nvPr/>
        </p:nvSpPr>
        <p:spPr>
          <a:xfrm>
            <a:off x="781050" y="2181225"/>
            <a:ext cx="22860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62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업무 화면</a:t>
            </a:r>
            <a:endParaRPr lang="ko-KR" sz="2625" b="1"/>
          </a:p>
        </p:txBody>
      </p:sp>
      <p:sp>
        <p:nvSpPr>
          <p:cNvPr id="5" name="Text 5"/>
          <p:cNvSpPr txBox="1"/>
          <p:nvPr/>
        </p:nvSpPr>
        <p:spPr>
          <a:xfrm>
            <a:off x="3810000" y="2209800"/>
            <a:ext cx="75057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1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승인 요청·승인·반려와 역할별 안내</a:t>
            </a:r>
            <a:endParaRPr lang="ko-KR" sz="2100" b="0"/>
          </a:p>
        </p:txBody>
      </p:sp>
      <p:cxnSp>
        <p:nvCxnSpPr>
          <p:cNvPr id="6" name="Handoff 6"/>
          <p:cNvCxnSpPr/>
          <p:nvPr/>
        </p:nvCxnSpPr>
        <p:spPr>
          <a:xfrm>
            <a:off x="781050" y="2962275"/>
            <a:ext cx="10648950" cy="0"/>
          </a:xfrm>
          <a:prstGeom prst="line">
            <a:avLst/>
          </a:prstGeom>
          <a:ln w="19050">
            <a:solidFill>
              <a:srgbClr val="D8DFEB"/>
            </a:solidFill>
          </a:ln>
        </p:spPr>
      </p:cxnSp>
      <p:sp>
        <p:nvSpPr>
          <p:cNvPr id="7" name="Text 7"/>
          <p:cNvSpPr txBox="1"/>
          <p:nvPr/>
        </p:nvSpPr>
        <p:spPr>
          <a:xfrm>
            <a:off x="781050" y="3305175"/>
            <a:ext cx="28575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62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서버의 통제</a:t>
            </a:r>
            <a:endParaRPr lang="ko-KR" sz="2625" b="1"/>
          </a:p>
        </p:txBody>
      </p:sp>
      <p:sp>
        <p:nvSpPr>
          <p:cNvPr id="8" name="Text 8"/>
          <p:cNvSpPr txBox="1"/>
          <p:nvPr/>
        </p:nvSpPr>
        <p:spPr>
          <a:xfrm>
            <a:off x="3810000" y="3333750"/>
            <a:ext cx="75057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1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금액 경계, 자기 승인 금지, 상태 전이</a:t>
            </a:r>
            <a:endParaRPr lang="ko-KR" sz="2100" b="0"/>
          </a:p>
        </p:txBody>
      </p:sp>
      <p:cxnSp>
        <p:nvCxnSpPr>
          <p:cNvPr id="9" name="Handoff 9"/>
          <p:cNvCxnSpPr/>
          <p:nvPr/>
        </p:nvCxnSpPr>
        <p:spPr>
          <a:xfrm>
            <a:off x="781050" y="4086225"/>
            <a:ext cx="10648950" cy="0"/>
          </a:xfrm>
          <a:prstGeom prst="line">
            <a:avLst/>
          </a:prstGeom>
          <a:ln w="19050">
            <a:solidFill>
              <a:srgbClr val="D8DFEB"/>
            </a:solidFill>
          </a:ln>
        </p:spPr>
      </p:cxnSp>
      <p:sp>
        <p:nvSpPr>
          <p:cNvPr id="10" name="Text 10"/>
          <p:cNvSpPr txBox="1"/>
          <p:nvPr/>
        </p:nvSpPr>
        <p:spPr>
          <a:xfrm>
            <a:off x="781050" y="4429125"/>
            <a:ext cx="28575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62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테스트와 문서</a:t>
            </a:r>
            <a:endParaRPr lang="ko-KR" sz="2625" b="1"/>
          </a:p>
        </p:txBody>
      </p:sp>
      <p:sp>
        <p:nvSpPr>
          <p:cNvPr id="11" name="Text 11"/>
          <p:cNvSpPr txBox="1"/>
          <p:nvPr/>
        </p:nvSpPr>
        <p:spPr>
          <a:xfrm>
            <a:off x="3810000" y="4457700"/>
            <a:ext cx="750570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10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기존 동작, 예외 처리, 운영 한계</a:t>
            </a:r>
            <a:endParaRPr lang="ko-KR" sz="2100" b="0"/>
          </a:p>
        </p:txBody>
      </p:sp>
      <p:sp>
        <p:nvSpPr>
          <p:cNvPr id="12" name="Text 12"/>
          <p:cNvSpPr txBox="1"/>
          <p:nvPr/>
        </p:nvSpPr>
        <p:spPr>
          <a:xfrm>
            <a:off x="800100" y="5772150"/>
            <a:ext cx="10477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7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외부 결제·인증·데이터베이스와 배포는 이번 변경에서 제외합니다</a:t>
            </a:r>
            <a:endParaRPr lang="ko-KR" sz="1725" b="0"/>
          </a:p>
        </p:txBody>
      </p:sp>
      <p:sp>
        <p:nvSpPr>
          <p:cNvPr id="13" name="Text 13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5</a:t>
            </a:r>
            <a:endParaRPr lang="ko-KR" sz="1050"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120만 원은 승인 대기에 남습니다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120만 원은 승인 대기에 남습니다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23900" y="1314450"/>
            <a:ext cx="10744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버튼 동작과 서버의 처리 결과가 함께 바뀝니다</a:t>
            </a:r>
            <a:endParaRPr lang="ko-KR" sz="1875" b="0"/>
          </a:p>
        </p:txBody>
      </p:sp>
      <p:pic>
        <p:nvPicPr>
          <p:cNvPr id="4" name="after-policy.png" descr="Actual local dem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017687"/>
            <a:ext cx="10744200" cy="1184325"/>
          </a:xfrm>
          <a:prstGeom prst="rect">
            <a:avLst/>
          </a:prstGeom>
        </p:spPr>
      </p:pic>
      <p:pic>
        <p:nvPicPr>
          <p:cNvPr id="5" name="after-pending-row.png" descr="Actual local demo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615949"/>
            <a:ext cx="10744200" cy="683377"/>
          </a:xfrm>
          <a:prstGeom prst="rect">
            <a:avLst/>
          </a:prstGeom>
        </p:spPr>
      </p:pic>
      <p:pic>
        <p:nvPicPr>
          <p:cNvPr id="6" name="after-pending-metrics.png" descr="Actual local demo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11" y="4724400"/>
            <a:ext cx="10632579" cy="120015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781050" y="6134100"/>
            <a:ext cx="105727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650" b="1">
                <a:solidFill>
                  <a:srgbClr val="19734A"/>
                </a:solidFill>
                <a:latin typeface="Nanum Gothic"/>
                <a:ea typeface="Nanum Gothic"/>
                <a:cs typeface="Nanum Gothic"/>
              </a:rPr>
              <a:t>HTTP 202 · 승인 전에는 completed 상태로 전환하지 않음</a:t>
            </a:r>
            <a:endParaRPr lang="ko-KR" sz="1650" b="1"/>
          </a:p>
        </p:txBody>
      </p:sp>
      <p:sp>
        <p:nvSpPr>
          <p:cNvPr id="8" name="Text 8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6</a:t>
            </a:r>
            <a:endParaRPr lang="ko-KR" sz="1050"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자기 승인은 서버가 차단합니다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자기 승인은 서버가 차단합니다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62000" y="1762125"/>
            <a:ext cx="4000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9000" b="1">
                <a:solidFill>
                  <a:srgbClr val="AD5B15"/>
                </a:solidFill>
                <a:latin typeface="Nanum Gothic"/>
                <a:ea typeface="Nanum Gothic"/>
                <a:cs typeface="Nanum Gothic"/>
              </a:rPr>
              <a:t>403</a:t>
            </a:r>
            <a:endParaRPr lang="ko-KR" sz="9000" b="1"/>
          </a:p>
        </p:txBody>
      </p:sp>
      <p:sp>
        <p:nvSpPr>
          <p:cNvPr id="4" name="Text 4"/>
          <p:cNvSpPr txBox="1"/>
          <p:nvPr/>
        </p:nvSpPr>
        <p:spPr>
          <a:xfrm>
            <a:off x="4800600" y="2038350"/>
            <a:ext cx="64770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70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요청자와 승인자를 분리</a:t>
            </a:r>
            <a:endParaRPr lang="ko-KR" sz="2700" b="1"/>
          </a:p>
        </p:txBody>
      </p:sp>
      <p:sp>
        <p:nvSpPr>
          <p:cNvPr id="5" name="Text 5"/>
          <p:cNvSpPr txBox="1"/>
          <p:nvPr/>
        </p:nvSpPr>
        <p:spPr>
          <a:xfrm>
            <a:off x="4829175" y="2933700"/>
            <a:ext cx="6477000" cy="981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1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검증용 버튼으로 실제 API의</a:t>
            </a:r>
            <a:endParaRPr lang="ko-KR" sz="2175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1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거부 결과를 확인합니다</a:t>
            </a:r>
            <a:endParaRPr lang="ko-KR" sz="2175" b="0"/>
          </a:p>
        </p:txBody>
      </p:sp>
      <p:pic>
        <p:nvPicPr>
          <p:cNvPr id="6" name="after-blocked-notice.png" descr="Actual local dem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4506442"/>
            <a:ext cx="10734675" cy="359716"/>
          </a:xfrm>
          <a:prstGeom prst="rect">
            <a:avLst/>
          </a:prstGeom>
        </p:spPr>
      </p:pic>
      <p:pic>
        <p:nvPicPr>
          <p:cNvPr id="7" name="after-blocked-row.png" descr="Actual local demo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5430765"/>
            <a:ext cx="10734675" cy="682771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7</a:t>
            </a:r>
            <a:endParaRPr lang="ko-KR" sz="1050"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승인과 차단 시도가 이력에 남습니다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승인과 차단 시도가 이력에 남습니다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23900" y="1314450"/>
            <a:ext cx="10744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다른 운영 승인자가 결정한 뒤 상태와 이력을 함께 확인합니다</a:t>
            </a:r>
            <a:endParaRPr lang="ko-KR" sz="1875" b="0"/>
          </a:p>
        </p:txBody>
      </p:sp>
      <p:pic>
        <p:nvPicPr>
          <p:cNvPr id="4" name="after-approved-row.png" descr="Actual local demo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183547"/>
            <a:ext cx="10706100" cy="652580"/>
          </a:xfrm>
          <a:prstGeom prst="rect">
            <a:avLst/>
          </a:prstGeom>
        </p:spPr>
      </p:pic>
      <p:pic>
        <p:nvPicPr>
          <p:cNvPr id="5" name="after-audit.png" descr="Actual local demo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514187"/>
            <a:ext cx="10706100" cy="2020375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762000" y="6048375"/>
            <a:ext cx="106680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00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누가 · 어떤 환불에 · 무엇을 했는가 · 허용 또는 차단 사유</a:t>
            </a:r>
            <a:endParaRPr lang="ko-KR" sz="1800" b="1"/>
          </a:p>
        </p:txBody>
      </p:sp>
      <p:sp>
        <p:nvSpPr>
          <p:cNvPr id="7" name="Text 7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8</a:t>
            </a:r>
            <a:endParaRPr lang="ko-KR" sz="1050"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테스트가 놓친 부분을 드러냅니다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테스트가 놓친 부분을 드러냅니다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23900" y="1314450"/>
            <a:ext cx="10744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최초 생성 결과를 그대로 승인하지 않습니다</a:t>
            </a:r>
            <a:endParaRPr lang="ko-KR" sz="1875" b="0"/>
          </a:p>
        </p:txBody>
      </p:sp>
      <p:sp>
        <p:nvSpPr>
          <p:cNvPr id="4" name="Text 4"/>
          <p:cNvSpPr txBox="1"/>
          <p:nvPr/>
        </p:nvSpPr>
        <p:spPr>
          <a:xfrm>
            <a:off x="800100" y="2190750"/>
            <a:ext cx="4333875" cy="485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325" b="1">
                <a:solidFill>
                  <a:srgbClr val="AD5B15"/>
                </a:solidFill>
                <a:latin typeface="Nanum Gothic"/>
                <a:ea typeface="Nanum Gothic"/>
                <a:cs typeface="Nanum Gothic"/>
              </a:rPr>
              <a:t>첫 독립 검증</a:t>
            </a:r>
            <a:endParaRPr lang="ko-KR" sz="2325" b="1"/>
          </a:p>
        </p:txBody>
      </p:sp>
      <p:sp>
        <p:nvSpPr>
          <p:cNvPr id="5" name="Text 5"/>
          <p:cNvSpPr txBox="1"/>
          <p:nvPr/>
        </p:nvSpPr>
        <p:spPr>
          <a:xfrm>
            <a:off x="800100" y="2876550"/>
            <a:ext cx="4953000" cy="8286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075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감사 사유 누락 발견</a:t>
            </a:r>
            <a:endParaRPr lang="ko-KR" sz="3075" b="1"/>
          </a:p>
        </p:txBody>
      </p:sp>
      <p:sp>
        <p:nvSpPr>
          <p:cNvPr id="6" name="Text 6"/>
          <p:cNvSpPr txBox="1"/>
          <p:nvPr/>
        </p:nvSpPr>
        <p:spPr>
          <a:xfrm>
            <a:off x="800100" y="3867150"/>
            <a:ext cx="53340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Copilot 보완 후 다시 검증</a:t>
            </a:r>
            <a:endParaRPr lang="ko-KR" sz="2025" b="0"/>
          </a:p>
        </p:txBody>
      </p:sp>
      <p:sp>
        <p:nvSpPr>
          <p:cNvPr id="8" name="Text 8"/>
          <p:cNvSpPr txBox="1"/>
          <p:nvPr/>
        </p:nvSpPr>
        <p:spPr>
          <a:xfrm>
            <a:off x="6734175" y="2114550"/>
            <a:ext cx="4667250" cy="1057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6000" b="1">
                <a:solidFill>
                  <a:srgbClr val="19734A"/>
                </a:solidFill>
                <a:latin typeface="Nanum Gothic"/>
                <a:ea typeface="Nanum Gothic"/>
                <a:cs typeface="Nanum Gothic"/>
              </a:rPr>
              <a:t>16 + 20</a:t>
            </a:r>
            <a:endParaRPr lang="ko-KR" sz="6000" b="1"/>
          </a:p>
        </p:txBody>
      </p:sp>
      <p:sp>
        <p:nvSpPr>
          <p:cNvPr id="9" name="Text 9"/>
          <p:cNvSpPr txBox="1"/>
          <p:nvPr/>
        </p:nvSpPr>
        <p:spPr>
          <a:xfrm>
            <a:off x="6743700" y="3419475"/>
            <a:ext cx="4714875" cy="800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10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제품 테스트 + 독립 인수 테스트</a:t>
            </a:r>
            <a:endParaRPr lang="ko-KR" sz="2100" b="1"/>
          </a:p>
        </p:txBody>
      </p:sp>
      <p:sp>
        <p:nvSpPr>
          <p:cNvPr id="10" name="Text 10"/>
          <p:cNvSpPr txBox="1"/>
          <p:nvPr/>
        </p:nvSpPr>
        <p:spPr>
          <a:xfrm>
            <a:off x="6753225" y="4457700"/>
            <a:ext cx="46482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로컬 실행 기록과 diff를</a:t>
            </a:r>
            <a:endParaRPr lang="ko-KR" sz="2025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0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읽기 전용 검토 역할에 전달</a:t>
            </a:r>
            <a:endParaRPr lang="ko-KR" sz="2025" b="0"/>
          </a:p>
        </p:txBody>
      </p:sp>
      <p:sp>
        <p:nvSpPr>
          <p:cNvPr id="11" name="Text 11"/>
          <p:cNvSpPr txBox="1"/>
          <p:nvPr/>
        </p:nvSpPr>
        <p:spPr>
          <a:xfrm>
            <a:off x="800100" y="6000750"/>
            <a:ext cx="1057275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75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테스트 통과는 운영 안전성이나 출시 승인과 다릅니다</a:t>
            </a:r>
            <a:endParaRPr lang="ko-KR" sz="1875" b="1"/>
          </a:p>
        </p:txBody>
      </p:sp>
      <p:sp>
        <p:nvSpPr>
          <p:cNvPr id="12" name="Text 12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9</a:t>
            </a:r>
            <a:endParaRPr lang="ko-KR" sz="1050"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사람에게 남는 결정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사람에게 남는 결정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81050" y="2143125"/>
            <a:ext cx="219075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400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구현 전</a:t>
            </a:r>
            <a:endParaRPr lang="ko-KR" sz="2400" b="1"/>
          </a:p>
        </p:txBody>
      </p:sp>
      <p:sp>
        <p:nvSpPr>
          <p:cNvPr id="4" name="Text 4"/>
          <p:cNvSpPr txBox="1"/>
          <p:nvPr/>
        </p:nvSpPr>
        <p:spPr>
          <a:xfrm>
            <a:off x="3390900" y="2171700"/>
            <a:ext cx="7981950" cy="676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25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정책의 의미, 완료 기준, 변경 범위 확인</a:t>
            </a:r>
            <a:endParaRPr lang="ko-KR" sz="2250" b="0"/>
          </a:p>
        </p:txBody>
      </p:sp>
      <p:cxnSp>
        <p:nvCxnSpPr>
          <p:cNvPr id="5" name="Handoff 5"/>
          <p:cNvCxnSpPr/>
          <p:nvPr/>
        </p:nvCxnSpPr>
        <p:spPr>
          <a:xfrm>
            <a:off x="781050" y="3152775"/>
            <a:ext cx="10620375" cy="0"/>
          </a:xfrm>
          <a:prstGeom prst="line">
            <a:avLst/>
          </a:prstGeom>
          <a:ln w="19050">
            <a:solidFill>
              <a:srgbClr val="D8DFEB"/>
            </a:solidFill>
          </a:ln>
        </p:spPr>
      </p:cxnSp>
      <p:sp>
        <p:nvSpPr>
          <p:cNvPr id="6" name="Text 6"/>
          <p:cNvSpPr txBox="1"/>
          <p:nvPr/>
        </p:nvSpPr>
        <p:spPr>
          <a:xfrm>
            <a:off x="781050" y="3533775"/>
            <a:ext cx="219075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400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구현 후</a:t>
            </a:r>
            <a:endParaRPr lang="ko-KR" sz="2400" b="1"/>
          </a:p>
        </p:txBody>
      </p:sp>
      <p:sp>
        <p:nvSpPr>
          <p:cNvPr id="7" name="Text 7"/>
          <p:cNvSpPr txBox="1"/>
          <p:nvPr/>
        </p:nvSpPr>
        <p:spPr>
          <a:xfrm>
            <a:off x="3390900" y="3562350"/>
            <a:ext cx="7981950" cy="676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25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diff와 테스트, 검토 의견, 남은 위험 확인</a:t>
            </a:r>
            <a:endParaRPr lang="ko-KR" sz="2250" b="0"/>
          </a:p>
        </p:txBody>
      </p:sp>
      <p:cxnSp>
        <p:nvCxnSpPr>
          <p:cNvPr id="8" name="Handoff 8"/>
          <p:cNvCxnSpPr/>
          <p:nvPr/>
        </p:nvCxnSpPr>
        <p:spPr>
          <a:xfrm>
            <a:off x="781050" y="4533900"/>
            <a:ext cx="10620375" cy="0"/>
          </a:xfrm>
          <a:prstGeom prst="line">
            <a:avLst/>
          </a:prstGeom>
          <a:ln w="19050">
            <a:solidFill>
              <a:srgbClr val="D8DFEB"/>
            </a:solidFill>
          </a:ln>
        </p:spPr>
      </p:cxnSp>
      <p:sp>
        <p:nvSpPr>
          <p:cNvPr id="9" name="Text 9"/>
          <p:cNvSpPr txBox="1"/>
          <p:nvPr/>
        </p:nvSpPr>
        <p:spPr>
          <a:xfrm>
            <a:off x="781050" y="4962525"/>
            <a:ext cx="219075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400" b="1">
                <a:solidFill>
                  <a:srgbClr val="19734A"/>
                </a:solidFill>
                <a:latin typeface="Nanum Gothic"/>
                <a:ea typeface="Nanum Gothic"/>
                <a:cs typeface="Nanum Gothic"/>
              </a:rPr>
              <a:t>출시 판단</a:t>
            </a:r>
            <a:endParaRPr lang="ko-KR" sz="2400" b="1"/>
          </a:p>
        </p:txBody>
      </p:sp>
      <p:sp>
        <p:nvSpPr>
          <p:cNvPr id="10" name="Text 10"/>
          <p:cNvSpPr txBox="1"/>
          <p:nvPr/>
        </p:nvSpPr>
        <p:spPr>
          <a:xfrm>
            <a:off x="3390900" y="4991100"/>
            <a:ext cx="7981950" cy="676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325" b="1">
                <a:solidFill>
                  <a:srgbClr val="19734A"/>
                </a:solidFill>
                <a:latin typeface="Nanum Gothic"/>
                <a:ea typeface="Nanum Gothic"/>
                <a:cs typeface="Nanum Gothic"/>
              </a:rPr>
              <a:t>HOLD · 운영 적용은 별도 승인</a:t>
            </a:r>
            <a:endParaRPr lang="ko-KR" sz="2325" b="1"/>
          </a:p>
        </p:txBody>
      </p:sp>
      <p:sp>
        <p:nvSpPr>
          <p:cNvPr id="11" name="Text 11"/>
          <p:cNvSpPr txBox="1"/>
          <p:nvPr/>
        </p:nvSpPr>
        <p:spPr>
          <a:xfrm>
            <a:off x="800100" y="6038850"/>
            <a:ext cx="105537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650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영상의 자동 리허설 수락은 실제 사람의 승인이 아닙니다</a:t>
            </a:r>
            <a:endParaRPr lang="ko-KR" sz="1650" b="0"/>
          </a:p>
        </p:txBody>
      </p:sp>
      <p:sp>
        <p:nvSpPr>
          <p:cNvPr id="12" name="Text 12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10</a:t>
            </a:r>
            <a:endParaRPr lang="ko-KR" sz="1050"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첫 파일럿의 선택 기준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첫 파일럿의 선택 기준</a:t>
            </a:r>
            <a:endParaRPr lang="ko-KR" sz="3450" b="1"/>
          </a:p>
        </p:txBody>
      </p:sp>
      <p:sp>
        <p:nvSpPr>
          <p:cNvPr id="3" name="Text 3"/>
          <p:cNvSpPr txBox="1"/>
          <p:nvPr/>
        </p:nvSpPr>
        <p:spPr>
          <a:xfrm>
            <a:off x="723900" y="1314450"/>
            <a:ext cx="107442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7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운영 결제 엔진 대신, 되돌릴 수 있는 비운영 변경부터 시작합니다</a:t>
            </a:r>
            <a:endParaRPr lang="ko-KR" sz="1875" b="0"/>
          </a:p>
        </p:txBody>
      </p:sp>
      <p:sp>
        <p:nvSpPr>
          <p:cNvPr id="4" name="Text 4"/>
          <p:cNvSpPr txBox="1"/>
          <p:nvPr/>
        </p:nvSpPr>
        <p:spPr>
          <a:xfrm>
            <a:off x="800100" y="2238375"/>
            <a:ext cx="514350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550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명확한 완료 기준</a:t>
            </a:r>
            <a:endParaRPr lang="ko-KR" sz="2550" b="1"/>
          </a:p>
        </p:txBody>
      </p:sp>
      <p:sp>
        <p:nvSpPr>
          <p:cNvPr id="5" name="Text 5"/>
          <p:cNvSpPr txBox="1"/>
          <p:nvPr/>
        </p:nvSpPr>
        <p:spPr>
          <a:xfrm>
            <a:off x="819150" y="2981325"/>
            <a:ext cx="5067300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25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정책 경계와 실패 조건을</a:t>
            </a:r>
            <a:endParaRPr lang="ko-KR" sz="2250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25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테스트로 확인할 수 있는가</a:t>
            </a:r>
            <a:endParaRPr lang="ko-KR" sz="2250" b="0"/>
          </a:p>
        </p:txBody>
      </p:sp>
      <p:sp>
        <p:nvSpPr>
          <p:cNvPr id="6" name="Text 6"/>
          <p:cNvSpPr txBox="1"/>
          <p:nvPr/>
        </p:nvSpPr>
        <p:spPr>
          <a:xfrm>
            <a:off x="6629400" y="2238375"/>
            <a:ext cx="4743450" cy="542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550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제한된 적용 범위</a:t>
            </a:r>
            <a:endParaRPr lang="ko-KR" sz="2550" b="1"/>
          </a:p>
        </p:txBody>
      </p:sp>
      <p:sp>
        <p:nvSpPr>
          <p:cNvPr id="7" name="Text 7"/>
          <p:cNvSpPr txBox="1"/>
          <p:nvPr/>
        </p:nvSpPr>
        <p:spPr>
          <a:xfrm>
            <a:off x="6648450" y="2981325"/>
            <a:ext cx="47625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25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합성 데이터, 최소 권한,</a:t>
            </a:r>
            <a:endParaRPr lang="ko-KR" sz="2250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250" b="0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명시적 승인과 복구 경로가 있는가</a:t>
            </a:r>
            <a:endParaRPr lang="ko-KR" sz="2250" b="0"/>
          </a:p>
        </p:txBody>
      </p:sp>
      <p:cxnSp>
        <p:nvCxnSpPr>
          <p:cNvPr id="8" name="Handoff 8"/>
          <p:cNvCxnSpPr/>
          <p:nvPr/>
        </p:nvCxnSpPr>
        <p:spPr>
          <a:xfrm>
            <a:off x="800100" y="4743450"/>
            <a:ext cx="10572750" cy="0"/>
          </a:xfrm>
          <a:prstGeom prst="line">
            <a:avLst/>
          </a:prstGeom>
          <a:ln w="19050">
            <a:solidFill>
              <a:srgbClr val="D8DFEB"/>
            </a:solidFill>
          </a:ln>
        </p:spPr>
      </p:cxnSp>
      <p:sp>
        <p:nvSpPr>
          <p:cNvPr id="9" name="Text 9"/>
          <p:cNvSpPr txBox="1"/>
          <p:nvPr/>
        </p:nvSpPr>
        <p:spPr>
          <a:xfrm>
            <a:off x="819150" y="5124450"/>
            <a:ext cx="105537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175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후보: 승인 분기, 내부 운영 화면, 회귀 테스트 보강</a:t>
            </a:r>
            <a:endParaRPr lang="ko-KR" sz="2175" b="1"/>
          </a:p>
        </p:txBody>
      </p:sp>
      <p:sp>
        <p:nvSpPr>
          <p:cNvPr id="10" name="Text 10"/>
          <p:cNvSpPr txBox="1"/>
          <p:nvPr/>
        </p:nvSpPr>
        <p:spPr>
          <a:xfrm>
            <a:off x="819150" y="5819775"/>
            <a:ext cx="105537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725" b="0">
                <a:solidFill>
                  <a:srgbClr val="637085"/>
                </a:solidFill>
                <a:latin typeface="Nanum Gothic"/>
                <a:ea typeface="Nanum Gothic"/>
                <a:cs typeface="Nanum Gothic"/>
              </a:rPr>
              <a:t>리드타임·재작업·검토 부담은 도입 전후 같은 완료 기준으로 측정</a:t>
            </a:r>
            <a:endParaRPr lang="ko-KR" sz="1725" b="0"/>
          </a:p>
        </p:txBody>
      </p:sp>
      <p:sp>
        <p:nvSpPr>
          <p:cNvPr id="11" name="Text 11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11</a:t>
            </a:r>
            <a:endParaRPr lang="ko-KR" sz="1050"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요청에서 검토 가능한 제품 변경까지">
    <p:bg>
      <p:bgPr>
        <a:solidFill>
          <a:srgbClr val="10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90575" y="923925"/>
            <a:ext cx="10382250" cy="657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6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GitHub Copilot</a:t>
            </a:r>
            <a:endParaRPr lang="ko-KR" sz="3675" b="1"/>
          </a:p>
        </p:txBody>
      </p:sp>
      <p:sp>
        <p:nvSpPr>
          <p:cNvPr id="3" name="Text 3"/>
          <p:cNvSpPr txBox="1"/>
          <p:nvPr/>
        </p:nvSpPr>
        <p:spPr>
          <a:xfrm>
            <a:off x="762000" y="2286000"/>
            <a:ext cx="10620375" cy="1809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4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하나의 업무 요청에서</a:t>
            </a:r>
            <a:endParaRPr lang="ko-KR" sz="4500" b="1"/>
          </a:p>
          <a:p>
            <a:pPr marL="0" marR="0" indent="0">
              <a:lnSpc>
                <a:spcPct val="125000"/>
              </a:lnSpc>
              <a:buNone/>
            </a:pPr>
            <a:r>
              <a:rPr lang="ko-KR" sz="45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검토 가능한 제품 변경까지</a:t>
            </a:r>
            <a:endParaRPr lang="ko-KR" sz="4500" b="1"/>
          </a:p>
        </p:txBody>
      </p:sp>
      <p:sp>
        <p:nvSpPr>
          <p:cNvPr id="4" name="Text 4"/>
          <p:cNvSpPr txBox="1"/>
          <p:nvPr/>
        </p:nvSpPr>
        <p:spPr>
          <a:xfrm>
            <a:off x="800100" y="4752975"/>
            <a:ext cx="1047750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2700" b="0">
                <a:solidFill>
                  <a:srgbClr val="C9B6F2"/>
                </a:solidFill>
                <a:latin typeface="Nanum Gothic"/>
                <a:ea typeface="Nanum Gothic"/>
                <a:cs typeface="Nanum Gothic"/>
              </a:rPr>
              <a:t>작업은 에이전트가 수행하고,</a:t>
            </a:r>
            <a:endParaRPr lang="ko-KR" sz="2700" b="0"/>
          </a:p>
          <a:p>
            <a:pPr marL="0" marR="0" indent="0">
              <a:lnSpc>
                <a:spcPct val="125000"/>
              </a:lnSpc>
              <a:buNone/>
            </a:pPr>
            <a:r>
              <a:rPr lang="ko-KR" sz="2700" b="0">
                <a:solidFill>
                  <a:srgbClr val="C9B6F2"/>
                </a:solidFill>
                <a:latin typeface="Nanum Gothic"/>
                <a:ea typeface="Nanum Gothic"/>
                <a:cs typeface="Nanum Gothic"/>
              </a:rPr>
              <a:t>범위와 출시는 사람이 결정합니다</a:t>
            </a:r>
            <a:endParaRPr lang="ko-KR" sz="2700" b="0"/>
          </a:p>
        </p:txBody>
      </p:sp>
      <p:sp>
        <p:nvSpPr>
          <p:cNvPr id="5" name="Text 5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994A9"/>
                </a:solidFill>
                <a:latin typeface="Nanum Gothic"/>
                <a:ea typeface="Nanum Gothic"/>
                <a:cs typeface="Nanum Gothic"/>
              </a:rPr>
              <a:t>12</a:t>
            </a:r>
            <a:endParaRPr lang="ko-KR" sz="1050"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부록: 서로 다른 세 가지 개념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4850" y="571500"/>
            <a:ext cx="10782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3450" b="1">
                <a:solidFill>
                  <a:srgbClr val="172033"/>
                </a:solidFill>
                <a:latin typeface="Nanum Gothic"/>
                <a:ea typeface="Nanum Gothic"/>
                <a:cs typeface="Nanum Gothic"/>
              </a:rPr>
              <a:t>부록: 서로 다른 세 가지 개념</a:t>
            </a:r>
            <a:endParaRPr lang="ko-KR" sz="3450" b="1"/>
          </a:p>
        </p:txBody>
      </p:sp>
      <p:graphicFrame>
        <p:nvGraphicFramePr>
          <p:cNvPr id="3" name="Concept comparison"/>
          <p:cNvGraphicFramePr/>
          <p:nvPr/>
        </p:nvGraphicFramePr>
        <p:xfrm>
          <a:off x="762000" y="1981200"/>
          <a:ext cx="10668000" cy="3390900"/>
        </p:xfrm>
        <a:graphic>
          <a:graphicData uri="http://schemas.openxmlformats.org/drawingml/2006/main/table">
            <a:tbl>
              <a:tblPr firstRow="1" bandRow="0"/>
              <a:tblGrid>
                <a:gridCol w="2762250"/>
                <a:gridCol w="5238750"/>
                <a:gridCol w="2667000"/>
              </a:tblGrid>
              <a:tr h="847725"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7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개념</a:t>
                      </a:r>
                      <a:endParaRPr lang="ko-KR" sz="1875" b="1"/>
                    </a:p>
                  </a:txBody>
                  <a:tcPr marL="190500" marR="152400" marT="152400" marB="95250" anchor="ctr">
                    <a:solidFill>
                      <a:srgbClr val="584185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7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의미</a:t>
                      </a:r>
                      <a:endParaRPr lang="ko-KR" sz="1875" b="1"/>
                    </a:p>
                  </a:txBody>
                  <a:tcPr marL="190500" marR="152400" marT="152400" marB="95250" anchor="ctr">
                    <a:solidFill>
                      <a:srgbClr val="584185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75" b="1">
                          <a:solidFill>
                            <a:srgbClr val="FFFFFF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이번 시연</a:t>
                      </a:r>
                      <a:endParaRPr lang="ko-KR" sz="1875" b="1"/>
                    </a:p>
                  </a:txBody>
                  <a:tcPr marL="190500" marR="152400" marT="152400" marB="95250" anchor="ctr">
                    <a:solidFill>
                      <a:srgbClr val="584185"/>
                    </a:solidFill>
                  </a:tcPr>
                </a:tc>
              </a:tr>
              <a:tr h="847725"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GitHub 개발 흐름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코드 변경과 검증·검토의 연결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CLI 역할과 로컬 검증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Copilot Studio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EE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에이전트와 업무 자동화 제작 환경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EEE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사용하지 않음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EEEAF7"/>
                    </a:solidFill>
                  </a:tcPr>
                </a:tc>
              </a:tr>
              <a:tr h="847725"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A2A 프로토콜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독립 에이전트 간 통신 규약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indent="0">
                        <a:lnSpc>
                          <a:spcPct val="125000"/>
                        </a:lnSpc>
                        <a:buNone/>
                      </a:pPr>
                      <a:r>
                        <a:rPr lang="ko-KR" sz="1800" b="0">
                          <a:solidFill>
                            <a:srgbClr val="172033"/>
                          </a:solidFill>
                          <a:latin typeface="Nanum Gothic"/>
                          <a:ea typeface="Nanum Gothic"/>
                          <a:cs typeface="Nanum Gothic"/>
                        </a:rPr>
                        <a:t>구현하지 않음</a:t>
                      </a:r>
                      <a:endParaRPr lang="ko-KR" sz="1800" b="0"/>
                    </a:p>
                  </a:txBody>
                  <a:tcPr marL="190500" marR="152400" marT="1524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4"/>
          <p:cNvSpPr txBox="1"/>
          <p:nvPr/>
        </p:nvSpPr>
        <p:spPr>
          <a:xfrm>
            <a:off x="790575" y="5791200"/>
            <a:ext cx="106108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800" b="1">
                <a:solidFill>
                  <a:srgbClr val="7652C4"/>
                </a:solidFill>
                <a:latin typeface="Nanum Gothic"/>
                <a:ea typeface="Nanum Gothic"/>
                <a:cs typeface="Nanum Gothic"/>
              </a:rPr>
              <a:t>이 세션의 Agent-to-Agent는 역할별 작업 결과를 전달하는 협업 설계입니다</a:t>
            </a:r>
            <a:endParaRPr lang="ko-KR" sz="1800" b="1"/>
          </a:p>
        </p:txBody>
      </p:sp>
      <p:sp>
        <p:nvSpPr>
          <p:cNvPr id="5" name="Text 5"/>
          <p:cNvSpPr txBox="1"/>
          <p:nvPr/>
        </p:nvSpPr>
        <p:spPr>
          <a:xfrm>
            <a:off x="11430000" y="6467475"/>
            <a:ext cx="3429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marL="0" marR="0" indent="0">
              <a:lnSpc>
                <a:spcPct val="125000"/>
              </a:lnSpc>
              <a:buNone/>
            </a:pPr>
            <a:r>
              <a:rPr lang="ko-KR" sz="1050" b="0">
                <a:solidFill>
                  <a:srgbClr val="8A95A8"/>
                </a:solidFill>
                <a:latin typeface="Nanum Gothic"/>
                <a:ea typeface="Nanum Gothic"/>
                <a:cs typeface="Nanum Gothic"/>
              </a:rPr>
              <a:t>13</a:t>
            </a:r>
            <a:endParaRPr lang="ko-KR" sz="105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ecutive Copilot">
  <a:themeElements>
    <a:clrScheme name="Executive">
      <a:dk1>
        <a:srgbClr val="172033"/>
      </a:dk1>
      <a:lt1>
        <a:srgbClr val="FFFFFF"/>
      </a:lt1>
      <a:dk2>
        <a:srgbClr val="101523"/>
      </a:dk2>
      <a:lt2>
        <a:srgbClr val="F7F8FC"/>
      </a:lt2>
      <a:accent1>
        <a:srgbClr val="7652C4"/>
      </a:accent1>
      <a:accent2>
        <a:srgbClr val="19734A"/>
      </a:accent2>
      <a:accent3>
        <a:srgbClr val="AD5B15"/>
      </a:accent3>
      <a:accent4>
        <a:srgbClr val="637085"/>
      </a:accent4>
      <a:accent5>
        <a:srgbClr val="C9B6F2"/>
      </a:accent5>
      <a:accent6>
        <a:srgbClr val="E8F3EC"/>
      </a:accent6>
      <a:hlink>
        <a:srgbClr val="7652C4"/>
      </a:hlink>
      <a:folHlink>
        <a:srgbClr val="584185"/>
      </a:folHlink>
    </a:clrScheme>
    <a:fontScheme name="Korean">
      <a:majorFont>
        <a:latin typeface="Nanum Gothic"/>
        <a:ea typeface="Nanum Gothic"/>
        <a:cs typeface="Nanum Gothic"/>
      </a:majorFont>
      <a:minorFont>
        <a:latin typeface="Nanum Gothic"/>
        <a:ea typeface="Nanum Gothic"/>
        <a:cs typeface="Nanum Gothic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  <a:headEnd type="none"/>
          <a:tailEnd type="none"/>
        </a:ln>
        <a:ln w="19050" cap="flat" cmpd="sng" algn="ctr">
          <a:solidFill>
            <a:schemeClr val="phClr"/>
          </a:solidFill>
          <a:prstDash val="solid"/>
          <a:miter lim="800000"/>
          <a:headEnd type="none"/>
          <a:tailEnd type="none"/>
        </a:ln>
        <a:ln w="28575" cap="flat" cmpd="sng" algn="ctr">
          <a:solidFill>
            <a:schemeClr val="phClr"/>
          </a:solidFill>
          <a:prstDash val="solid"/>
          <a:miter lim="800000"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Native PresentationML</Application>
  <PresentationFormat>On-screen Show (16:9)</PresentationFormat>
  <Slides>13</Slides>
  <Notes>13</Notes>
</Properties>
</file>

<file path=docProps/core.xml><?xml version="1.0" encoding="utf-8"?>
<cp:coreProperties xmlns:cp="http://schemas.openxmlformats.org/package/2006/metadata/core-properties" xmlns:dc="http://purl.org/dc/elements/1.1/">
  <dc:title>GitHub Copilot: Agentic Development in Action</dc:title>
  <dc:subject>CXO demo: refund approval and audit</dc:subject>
  <dc:creator>GitHub Copilot</dc:creator>
</cp:coreProperties>
</file>
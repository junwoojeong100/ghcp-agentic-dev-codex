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p="http://schemas.openxmlformats.org/presentationml/2006/main" xmlns:r="http://schemas.openxmlformats.org/officeDocument/2006/relationships">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type="screen16x9"/>
  <p:notesSz cx="6858000" cy="9144000"/>
  <p:defaultTextStyle/>
</p:presentation>
</file>

<file path=ppt/_rels/presentation.xml.rels><?xml version="1.0" encoding="UTF-8" standalone="yes"?><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s>
</file>

<file path=ppt/notesMasters/_rels/notesMaster1.xml.rels><?xml version="1.0" encoding="UTF-8" standalone="yes"?><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p:notesMaster>
</file>

<file path=ppt/notesSlides/_rels/notesSlide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대상은 CXO 고객이다. 기능 목록이 아니라 사업 정책을 실제 동작하는 제품 변경으로 연결하는 능력을 보여 준다. 질문: '정책이 바뀌었을 때, 서비스는 얼마나 빠르고 검토 가능하게 바뀔 수 있을까요?' 실제 GitHub Copilot CLI 프로세스의 원본 PTY 출력을 터미널에 전달해 실시간 녹화했다. 재구성한 CLI 모형이 아니다. 합성 데이터이며 영상의 5분은 개발 소요 시간이 아니다. 출처: https://docs.github.com/en/copilot/concepts/agents/copilot-cli/about-copilot-cli; demo/copilot-evidence/manifest.json.</a:t>
            </a:r>
            <a:endParaRPr lang="ko-KR" sz="1200" b="0"/>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세 가지 가치는 이번 데모가 보여 주는 능력에 연결한다. 실제 시간 절감률이나 ROI는 측정하지 않았으므로 수치로 주장하지 않는다. '수작업 연결 감소'는 기능에 따른 기대 효과이며 고객 파일럿에서 검증할 가설이다. 출처: https://docs.github.com/en/copilot/concepts/agents/copilot-cli/about-copilot-cli, https://docs.github.com/en/copilot/how-tos/copilot-cli/use-copilot-cli/agentic-code-review, https://docs.github.com/en/copilot/how-tos/copilot-cli/use-copilot-cli/allowing-tools.</a:t>
            </a:r>
            <a:endParaRPr lang="ko-KR" sz="1200" b="0"/>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사업 시나리오는 합성 환불 운영 앱이다. 실제 결제나 고객 데이터가 없다. 현재 앱의 고액 처리 상태를 보여 준 뒤 정책 요청을 Copilot에 전달한다. 완성 기준과 허용 파일은 request.md 및 .github/copilot-instructions.md로 정의한다. 대기 금액을 절감액이나 예방 손실로 표현하지 않는다. 출처: demo/request.md, demo/starter.</a:t>
            </a:r>
            <a:endParaRPr lang="ko-KR" sz="1200" b="0"/>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실제 Copilot /plan, 허용 파일 수정, 명령 실행, /review로 이어진다. 전용 CLI 리뷰 에이전트는 주 작업의 변경을 다시 검사한다. 이 데모를 A2A 프로토콜이나 병렬 에이전트 전체 자동화 시연이라고 확대하지 않는다. 네이티브 승인 대화상자에 대한 시연용 입력과 실제 사람의 출시 승인을 구분한다. 출처: https://docs.github.com/en/copilot/concepts/agents/copilot-cli/about-copilot-cli, https://docs.github.com/en/copilot/how-tos/copilot-cli/use-copilot-cli/agentic-code-review; demo/copilot-evidence/terminal.cast.</a:t>
            </a:r>
            <a:endParaRPr lang="ko-KR" sz="1200" b="0"/>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계획 생성 전 제품 파일은 변경하지 않았다. .github/copilot-instructions.md에 수정 범위와 검증 명령을 저장해 반복 설명을 줄인다. 실제 기록 모델 설정: auto, GitHub Copilot CLI 1.0.88.. 제품 가치는 특정 모델 하나가 아니라 저장소·도구·권한을 연결하는 GitHub Copilot 작업 흐름이다. 출처: https://docs.github.com/en/copilot/how-tos/copilot-cli/customize-copilot/add-custom-instructions; demo/copilot-evidence/plan-ready.txt, invocation.json.</a:t>
            </a:r>
            <a:endParaRPr lang="ko-KR" sz="1200" b="0"/>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모든 도구를 자동 허용하는 --yolo, --allow-all, assisted approval을 사용하지 않는다. 원본 실행과 실제 승인 UI를 녹화했고 선택 키는 demo-automation으로 기록했다. 직접 발표할 때는 발표자가 동일 UI에서 명령을 읽고 일회성 Yes 또는 No를 선택한다. 도구 필터와 승인 정책을 OS 샌드박스 보장으로 표현하지 않는다. 출처: https://docs.github.com/en/copilot/how-tos/copilot-cli/use-copilot-cli/allowing-tools; demo/copilot-evidence/terminal-inputs.jsonl.</a:t>
            </a:r>
            <a:endParaRPr lang="ko-KR" sz="1200" b="0"/>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기록된 변경 파일은 README.md, public/app.mjs, public/index.html, public/styles.css, src/refunds.mjs, test/refunds.test.mjs이다. 테스트와 README를 포함한 코드가 실제 바뀌었고 snapshot과 독립 검증으로 범위를 확인했다. 원본 diff: demo/copilot-evidence/change.diff. 사진은 Copilot의 실제 출력이다. 허용 파일 이외의 인수 테스트, fixture, HTTP 서버, 패키지는 바꾸지 않는다.</a:t>
            </a:r>
            <a:endParaRPr lang="ko-KR" sz="1200" b="0"/>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이번 Copilot이 만든 작업 공간을 실제 로컬 서버로 실행한 브라우저 화면이다. process 202, 자기 승인 403, 다른 승인자 200과 감사 이력을 확인했다. 소액 35,000원 처리와 1,000,000원 경계 반려도 실행한다. 시연용 역할 선택은 운영 인증이 아니다. 실제 결제와 영구 저장은 별도 작업이다.</a:t>
            </a:r>
            <a:endParaRPr lang="ko-KR" sz="1200" b="0"/>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수치는 실제 결과에서 생성했다. 제품 12/12, 독립 인수 20/20, git diff --check exit=0. CLI와 별도로 동일 소스에 검증을 다시 실행했다. 테스트·AI 리뷰 통과가 운영 인증이나 사람의 출시 승인을 대신하지 않는다. 출처: demo/copilot-evidence/03-verification.json, 03-tests.log, review-result.txt; https://docs.github.com/en/copilot/how-tos/copilot-cli/use-copilot-cli/agentic-code-review.</a:t>
            </a:r>
            <a:endParaRPr lang="ko-KR" sz="1200" b="0"/>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이번에 실제 보여 준 것은 저장소 지침, CLI 실행 승인, 로컬 구현·검증·리뷰다. PR 생성, GitHub Actions 실행과 배포는 시연하지 않았다. 확장 가능한 GitHub 흐름으로 구분해 설명한다. 조직·엔터프라이즈 Copilot 정책은 Business/Enterprise 및 기능별 지원 범위를 확인해야 한다. CLI는 일부 MCP 정책 미지원 등 한계가 있으므로 모든 정책이 모든 표면에 동일하게 적용된다고 말하지 않는다. 출처: https://docs.github.com/en/copilot/how-tos/copilot-cli/customize-copilot/add-custom-instructions, https://docs.github.com/en/copilot/concepts/agents/copilot-cli/about-copilot-cli, https://docs.github.com/en/copilot/concepts/enterprise/policies.</a:t>
            </a:r>
            <a:endParaRPr lang="ko-KR" sz="1200" b="0"/>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경영 효과와 기술 증거를 연결하는 정리 슬라이드다. 시연의 속도·효과는 실측 조직 성과가 아니다. 고객별 파일럿에서 동일한 품질과 완료 기준으로 비교한다. 녹화 편집 길이, 대기 금액, 통과한 테스트 수를 생산성 비율·절감액·보안 보증으로 바꾸어 표현하지 않는다.</a:t>
            </a:r>
            <a:endParaRPr lang="ko-KR" sz="1200" b="0"/>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파일럿 지표는 제안이며 이번 데모의 측정 결과가 아니다. 리드타임 단축만 보지 말고 재작업, 검토 부담과 통제 준수를 함께 확인한다. 실제 인증, 결제, 영구 감사 저장과 운영 출시 심사는 별도 범위다. 자동화된 시연 입력은 인간의 출시 승인으로 인정하지 않으며 데모 출시 상태는 HOLD다.</a:t>
            </a:r>
            <a:endParaRPr lang="ko-KR" sz="1200" b="0"/>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peaker notes"/>
          <p:cNvSpPr txBox="1"/>
          <p:nvPr>
            <p:ph type="body" idx="1"/>
          </p:nvPr>
        </p:nvSpPr>
        <p:spPr>
          <a:xfrm>
            <a:off x="476250" y="1143000"/>
            <a:ext cx="5905500" cy="6667500"/>
          </a:xfrm>
        </p:spPr>
        <p:txBody>
          <a:bodyPr/>
          <a:lstStyle/>
          <a:p>
            <a:pPr marL="0" marR="0" indent="0">
              <a:lnSpc>
                <a:spcPct val="125000"/>
              </a:lnSpc>
              <a:buNone/>
            </a:pPr>
            <a:r>
              <a:rPr lang="ko-KR" sz="1200" b="0">
                <a:solidFill>
                  <a:srgbClr val="172033"/>
                </a:solidFill>
                <a:latin typeface="Nanum Gothic"/>
                <a:ea typeface="Nanum Gothic"/>
                <a:cs typeface="Nanum Gothic"/>
              </a:rPr>
              <a:t>고객에게 남길 결론: GitHub Copilot은 코드를 설명하는 도구에 그치지 않고 업무 요청을 실제 변경과 검토 근거로 연결한다. 사용자는 목표·권한·출시 판단을 유지한다. 보여 주지 않은 원격 PR·Actions·배포나 측정하지 않은 ROI를 약속하지 않는다. 다음 고객 대화는 파일럿 후보 업무 한 가지와 성공 기준의 선택에 집중한다.</a:t>
            </a:r>
            <a:endParaRPr lang="ko-KR" sz="1200" b="0"/>
          </a:p>
        </p:txBody>
      </p:sp>
    </p:spTree>
  </p:cSld>
  <p:clrMapOvr>
    <a:masterClrMapping/>
  </p:clrMapOvr>
</p:note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p="http://schemas.openxmlformats.org/presentationml/2006/main" xmlns:r="http://schemas.openxmlformats.org/officeDocument/2006/relationships"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p:bodyStyle/>
    <p:otherStyle/>
  </p:txStyles>
</p:sldMaster>
</file>

<file path=ppt/slides/_rels/slide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9.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8.png"/><Relationship Id="rId4" Type="http://schemas.openxmlformats.org/officeDocument/2006/relationships/image" Target="../media/image9.png"/></Relationships>
</file>

<file path=ppt/slides/_rels/slide10.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name="GitHub Copilot: 비즈니스 요청을 제품 변경으로">
    <p:bg>
      <p:bgPr>
        <a:solidFill>
          <a:srgbClr val="101523"/>
        </a:solidFill>
        <a:effectLst/>
      </p:bgPr>
    </p:bg>
    <p:spTree>
      <p:nvGrpSpPr>
        <p:cNvPr id="1" name=""/>
        <p:cNvGrpSpPr/>
        <p:nvPr/>
      </p:nvGrpSpPr>
      <p:grpSpPr>
        <a:xfrm>
          <a:off x="0" y="0"/>
          <a:ext cx="0" cy="0"/>
          <a:chOff x="0" y="0"/>
          <a:chExt cx="0" cy="0"/>
        </a:xfrm>
      </p:grpSpPr>
      <p:sp>
        <p:nvSpPr>
          <p:cNvPr id="2" name="Text 2"/>
          <p:cNvSpPr txBox="1"/>
          <p:nvPr/>
        </p:nvSpPr>
        <p:spPr>
          <a:xfrm>
            <a:off x="742950" y="771525"/>
            <a:ext cx="10572750" cy="847725"/>
          </a:xfrm>
          <a:prstGeom prst="rect">
            <a:avLst/>
          </a:prstGeom>
          <a:noFill/>
          <a:ln>
            <a:noFill/>
          </a:ln>
        </p:spPr>
        <p:txBody>
          <a:bodyPr wrap="square" lIns="0" rIns="0" tIns="0" bIns="0" anchor="t">
            <a:noAutofit/>
          </a:bodyPr>
          <a:lstStyle/>
          <a:p>
            <a:pPr marL="0" marR="0" indent="0">
              <a:lnSpc>
                <a:spcPct val="125000"/>
              </a:lnSpc>
              <a:buNone/>
            </a:pPr>
            <a:r>
              <a:rPr lang="ko-KR" sz="4650" b="1">
                <a:solidFill>
                  <a:srgbClr val="FFFFFF"/>
                </a:solidFill>
                <a:latin typeface="Nanum Gothic"/>
                <a:ea typeface="Nanum Gothic"/>
                <a:cs typeface="Nanum Gothic"/>
              </a:rPr>
              <a:t>GitHub Copilot</a:t>
            </a:r>
            <a:endParaRPr lang="ko-KR" sz="4650" b="1"/>
          </a:p>
        </p:txBody>
      </p:sp>
      <p:sp>
        <p:nvSpPr>
          <p:cNvPr id="3" name="Text 3"/>
          <p:cNvSpPr txBox="1"/>
          <p:nvPr/>
        </p:nvSpPr>
        <p:spPr>
          <a:xfrm>
            <a:off x="742950" y="2181225"/>
            <a:ext cx="10668000" cy="1857375"/>
          </a:xfrm>
          <a:prstGeom prst="rect">
            <a:avLst/>
          </a:prstGeom>
          <a:noFill/>
          <a:ln>
            <a:noFill/>
          </a:ln>
        </p:spPr>
        <p:txBody>
          <a:bodyPr wrap="square" lIns="0" rIns="0" tIns="0" bIns="0" anchor="t">
            <a:noAutofit/>
          </a:bodyPr>
          <a:lstStyle/>
          <a:p>
            <a:pPr marL="0" marR="0" indent="0">
              <a:lnSpc>
                <a:spcPct val="125000"/>
              </a:lnSpc>
              <a:buNone/>
            </a:pPr>
            <a:r>
              <a:rPr lang="ko-KR" sz="4575" b="1">
                <a:solidFill>
                  <a:srgbClr val="FFFFFF"/>
                </a:solidFill>
                <a:latin typeface="Nanum Gothic"/>
                <a:ea typeface="Nanum Gothic"/>
                <a:cs typeface="Nanum Gothic"/>
              </a:rPr>
              <a:t>비즈니스 요청을</a:t>
            </a:r>
            <a:endParaRPr lang="ko-KR" sz="4575" b="1"/>
          </a:p>
          <a:p>
            <a:pPr marL="0" marR="0" indent="0">
              <a:lnSpc>
                <a:spcPct val="125000"/>
              </a:lnSpc>
              <a:buNone/>
            </a:pPr>
            <a:r>
              <a:rPr lang="ko-KR" sz="4575" b="1">
                <a:solidFill>
                  <a:srgbClr val="FFFFFF"/>
                </a:solidFill>
                <a:latin typeface="Nanum Gothic"/>
                <a:ea typeface="Nanum Gothic"/>
                <a:cs typeface="Nanum Gothic"/>
              </a:rPr>
              <a:t>검증 가능한 제품 변경으로</a:t>
            </a:r>
            <a:endParaRPr lang="ko-KR" sz="4575" b="1"/>
          </a:p>
        </p:txBody>
      </p:sp>
      <p:sp>
        <p:nvSpPr>
          <p:cNvPr id="4" name="Text 4"/>
          <p:cNvSpPr txBox="1"/>
          <p:nvPr/>
        </p:nvSpPr>
        <p:spPr>
          <a:xfrm>
            <a:off x="790575" y="4733925"/>
            <a:ext cx="10515600" cy="600075"/>
          </a:xfrm>
          <a:prstGeom prst="rect">
            <a:avLst/>
          </a:prstGeom>
          <a:noFill/>
          <a:ln>
            <a:noFill/>
          </a:ln>
        </p:spPr>
        <p:txBody>
          <a:bodyPr wrap="square" lIns="0" rIns="0" tIns="0" bIns="0" anchor="t">
            <a:noAutofit/>
          </a:bodyPr>
          <a:lstStyle/>
          <a:p>
            <a:pPr marL="0" marR="0" indent="0">
              <a:lnSpc>
                <a:spcPct val="125000"/>
              </a:lnSpc>
              <a:buNone/>
            </a:pPr>
            <a:r>
              <a:rPr lang="ko-KR" sz="2625" b="0">
                <a:solidFill>
                  <a:srgbClr val="D7C3FF"/>
                </a:solidFill>
                <a:latin typeface="Nanum Gothic"/>
                <a:ea typeface="Nanum Gothic"/>
                <a:cs typeface="Nanum Gothic"/>
              </a:rPr>
              <a:t>개발 실행력 · 검토 근거 · 조직의 통제권</a:t>
            </a:r>
            <a:endParaRPr lang="ko-KR" sz="2625" b="0"/>
          </a:p>
        </p:txBody>
      </p:sp>
      <p:sp>
        <p:nvSpPr>
          <p:cNvPr id="5" name="Text 5"/>
          <p:cNvSpPr txBox="1"/>
          <p:nvPr/>
        </p:nvSpPr>
        <p:spPr>
          <a:xfrm>
            <a:off x="800100" y="5895975"/>
            <a:ext cx="10572750" cy="333375"/>
          </a:xfrm>
          <a:prstGeom prst="rect">
            <a:avLst/>
          </a:prstGeom>
          <a:noFill/>
          <a:ln>
            <a:noFill/>
          </a:ln>
        </p:spPr>
        <p:txBody>
          <a:bodyPr wrap="square" lIns="0" rIns="0" tIns="0" bIns="0" anchor="t">
            <a:noAutofit/>
          </a:bodyPr>
          <a:lstStyle/>
          <a:p>
            <a:pPr marL="0" marR="0" indent="0">
              <a:lnSpc>
                <a:spcPct val="125000"/>
              </a:lnSpc>
              <a:buNone/>
            </a:pPr>
            <a:r>
              <a:rPr lang="ko-KR" sz="1725" b="0">
                <a:solidFill>
                  <a:srgbClr val="BAC4D4"/>
                </a:solidFill>
                <a:latin typeface="Nanum Gothic"/>
                <a:ea typeface="Nanum Gothic"/>
                <a:cs typeface="Nanum Gothic"/>
              </a:rPr>
              <a:t>CXO BRIEFING  |  실제 Copilot CLI 에이전트 데모</a:t>
            </a:r>
            <a:endParaRPr lang="ko-KR" sz="1725" b="0"/>
          </a:p>
        </p:txBody>
      </p:sp>
      <p:sp>
        <p:nvSpPr>
          <p:cNvPr id="6" name="Text 6"/>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994A9"/>
                </a:solidFill>
                <a:latin typeface="Nanum Gothic"/>
                <a:ea typeface="Nanum Gothic"/>
                <a:cs typeface="Nanum Gothic"/>
              </a:rPr>
              <a:t>1</a:t>
            </a:r>
            <a:endParaRPr lang="ko-KR" sz="1050" b="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개발 생산성은 코드 작성 다음 단계까지">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rIns="0" tIns="0" bIns="0" anchor="t">
            <a:noAutofit/>
          </a:bodyPr>
          <a:lstStyle/>
          <a:p>
            <a:pPr marL="0" marR="0" indent="0">
              <a:lnSpc>
                <a:spcPct val="125000"/>
              </a:lnSpc>
              <a:buNone/>
            </a:pPr>
            <a:r>
              <a:rPr lang="ko-KR" sz="3225" b="1">
                <a:solidFill>
                  <a:srgbClr val="172033"/>
                </a:solidFill>
                <a:latin typeface="Nanum Gothic"/>
                <a:ea typeface="Nanum Gothic"/>
                <a:cs typeface="Nanum Gothic"/>
              </a:rPr>
              <a:t>개발 생산성은 코드 작성 다음 단계까지</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637085"/>
                </a:solidFill>
                <a:latin typeface="Nanum Gothic"/>
                <a:ea typeface="Nanum Gothic"/>
                <a:cs typeface="Nanum Gothic"/>
              </a:rPr>
              <a:t>GitHub Copilot은 계획·실행·검증을 하나의 작업 흐름으로 연결합니다</a:t>
            </a:r>
            <a:endParaRPr lang="ko-KR" sz="1875" b="0"/>
          </a:p>
        </p:txBody>
      </p:sp>
      <p:sp>
        <p:nvSpPr>
          <p:cNvPr id="4" name="Text 4"/>
          <p:cNvSpPr txBox="1"/>
          <p:nvPr/>
        </p:nvSpPr>
        <p:spPr>
          <a:xfrm>
            <a:off x="790575" y="2228850"/>
            <a:ext cx="3162300" cy="552450"/>
          </a:xfrm>
          <a:prstGeom prst="rect">
            <a:avLst/>
          </a:prstGeom>
          <a:noFill/>
          <a:ln>
            <a:noFill/>
          </a:ln>
        </p:spPr>
        <p:txBody>
          <a:bodyPr wrap="square" lIns="0" rIns="0" tIns="0" bIns="0" anchor="t">
            <a:noAutofit/>
          </a:bodyPr>
          <a:lstStyle/>
          <a:p>
            <a:pPr marL="0" marR="0" indent="0">
              <a:lnSpc>
                <a:spcPct val="125000"/>
              </a:lnSpc>
              <a:buNone/>
            </a:pPr>
            <a:r>
              <a:rPr lang="ko-KR" sz="2925" b="1">
                <a:solidFill>
                  <a:srgbClr val="7652C4"/>
                </a:solidFill>
                <a:latin typeface="Nanum Gothic"/>
                <a:ea typeface="Nanum Gothic"/>
                <a:cs typeface="Nanum Gothic"/>
              </a:rPr>
              <a:t>실행 속도</a:t>
            </a:r>
            <a:endParaRPr lang="ko-KR" sz="2925" b="1"/>
          </a:p>
        </p:txBody>
      </p:sp>
      <p:sp>
        <p:nvSpPr>
          <p:cNvPr id="5" name="Text 5"/>
          <p:cNvSpPr txBox="1"/>
          <p:nvPr/>
        </p:nvSpPr>
        <p:spPr>
          <a:xfrm>
            <a:off x="4562475" y="2228850"/>
            <a:ext cx="3162300" cy="552450"/>
          </a:xfrm>
          <a:prstGeom prst="rect">
            <a:avLst/>
          </a:prstGeom>
          <a:noFill/>
          <a:ln>
            <a:noFill/>
          </a:ln>
        </p:spPr>
        <p:txBody>
          <a:bodyPr wrap="square" lIns="0" rIns="0" tIns="0" bIns="0" anchor="t">
            <a:noAutofit/>
          </a:bodyPr>
          <a:lstStyle/>
          <a:p>
            <a:pPr marL="0" marR="0" indent="0">
              <a:lnSpc>
                <a:spcPct val="125000"/>
              </a:lnSpc>
              <a:buNone/>
            </a:pPr>
            <a:r>
              <a:rPr lang="ko-KR" sz="2925" b="1">
                <a:solidFill>
                  <a:srgbClr val="7652C4"/>
                </a:solidFill>
                <a:latin typeface="Nanum Gothic"/>
                <a:ea typeface="Nanum Gothic"/>
                <a:cs typeface="Nanum Gothic"/>
              </a:rPr>
              <a:t>품질 확인</a:t>
            </a:r>
            <a:endParaRPr lang="ko-KR" sz="2925" b="1"/>
          </a:p>
        </p:txBody>
      </p:sp>
      <p:sp>
        <p:nvSpPr>
          <p:cNvPr id="6" name="Text 6"/>
          <p:cNvSpPr txBox="1"/>
          <p:nvPr/>
        </p:nvSpPr>
        <p:spPr>
          <a:xfrm>
            <a:off x="8315325" y="2228850"/>
            <a:ext cx="3162300" cy="552450"/>
          </a:xfrm>
          <a:prstGeom prst="rect">
            <a:avLst/>
          </a:prstGeom>
          <a:noFill/>
          <a:ln>
            <a:noFill/>
          </a:ln>
        </p:spPr>
        <p:txBody>
          <a:bodyPr wrap="square" lIns="0" rIns="0" tIns="0" bIns="0" anchor="t">
            <a:noAutofit/>
          </a:bodyPr>
          <a:lstStyle/>
          <a:p>
            <a:pPr marL="0" marR="0" indent="0">
              <a:lnSpc>
                <a:spcPct val="125000"/>
              </a:lnSpc>
              <a:buNone/>
            </a:pPr>
            <a:r>
              <a:rPr lang="ko-KR" sz="2925" b="1">
                <a:solidFill>
                  <a:srgbClr val="7652C4"/>
                </a:solidFill>
                <a:latin typeface="Nanum Gothic"/>
                <a:ea typeface="Nanum Gothic"/>
                <a:cs typeface="Nanum Gothic"/>
              </a:rPr>
              <a:t>조직 통제</a:t>
            </a:r>
            <a:endParaRPr lang="ko-KR" sz="2925" b="1"/>
          </a:p>
        </p:txBody>
      </p:sp>
      <p:sp>
        <p:nvSpPr>
          <p:cNvPr id="7" name="Text 7"/>
          <p:cNvSpPr txBox="1"/>
          <p:nvPr/>
        </p:nvSpPr>
        <p:spPr>
          <a:xfrm>
            <a:off x="809625" y="3152775"/>
            <a:ext cx="3162300" cy="1133475"/>
          </a:xfrm>
          <a:prstGeom prst="rect">
            <a:avLst/>
          </a:prstGeom>
          <a:noFill/>
          <a:ln>
            <a:noFill/>
          </a:ln>
        </p:spPr>
        <p:txBody>
          <a:bodyPr wrap="square" lIns="0" rIns="0" tIns="0" bIns="0" anchor="t">
            <a:noAutofit/>
          </a:bodyPr>
          <a:lstStyle/>
          <a:p>
            <a:pPr marL="0" marR="0" indent="0">
              <a:lnSpc>
                <a:spcPct val="125000"/>
              </a:lnSpc>
              <a:buNone/>
            </a:pPr>
            <a:r>
              <a:rPr lang="ko-KR" sz="2175" b="0">
                <a:solidFill>
                  <a:srgbClr val="172033"/>
                </a:solidFill>
                <a:latin typeface="Nanum Gothic"/>
                <a:ea typeface="Nanum Gothic"/>
                <a:cs typeface="Nanum Gothic"/>
              </a:rPr>
              <a:t>요청을 이해하고</a:t>
            </a:r>
            <a:endParaRPr lang="ko-KR" sz="2175" b="0"/>
          </a:p>
          <a:p>
            <a:pPr marL="0" marR="0" indent="0">
              <a:lnSpc>
                <a:spcPct val="125000"/>
              </a:lnSpc>
              <a:buNone/>
            </a:pPr>
            <a:r>
              <a:rPr lang="ko-KR" sz="2175" b="0">
                <a:solidFill>
                  <a:srgbClr val="172033"/>
                </a:solidFill>
                <a:latin typeface="Nanum Gothic"/>
                <a:ea typeface="Nanum Gothic"/>
                <a:cs typeface="Nanum Gothic"/>
              </a:rPr>
              <a:t>여러 파일을 함께 수정</a:t>
            </a:r>
            <a:endParaRPr lang="ko-KR" sz="2175" b="0"/>
          </a:p>
        </p:txBody>
      </p:sp>
      <p:sp>
        <p:nvSpPr>
          <p:cNvPr id="8" name="Text 8"/>
          <p:cNvSpPr txBox="1"/>
          <p:nvPr/>
        </p:nvSpPr>
        <p:spPr>
          <a:xfrm>
            <a:off x="4581525" y="3152775"/>
            <a:ext cx="3152775" cy="1133475"/>
          </a:xfrm>
          <a:prstGeom prst="rect">
            <a:avLst/>
          </a:prstGeom>
          <a:noFill/>
          <a:ln>
            <a:noFill/>
          </a:ln>
        </p:spPr>
        <p:txBody>
          <a:bodyPr wrap="square" lIns="0" rIns="0" tIns="0" bIns="0" anchor="t">
            <a:noAutofit/>
          </a:bodyPr>
          <a:lstStyle/>
          <a:p>
            <a:pPr marL="0" marR="0" indent="0">
              <a:lnSpc>
                <a:spcPct val="125000"/>
              </a:lnSpc>
              <a:buNone/>
            </a:pPr>
            <a:r>
              <a:rPr lang="ko-KR" sz="2175" b="0">
                <a:solidFill>
                  <a:srgbClr val="172033"/>
                </a:solidFill>
                <a:latin typeface="Nanum Gothic"/>
                <a:ea typeface="Nanum Gothic"/>
                <a:cs typeface="Nanum Gothic"/>
              </a:rPr>
              <a:t>테스트 실행과 리뷰로</a:t>
            </a:r>
            <a:endParaRPr lang="ko-KR" sz="2175" b="0"/>
          </a:p>
          <a:p>
            <a:pPr marL="0" marR="0" indent="0">
              <a:lnSpc>
                <a:spcPct val="125000"/>
              </a:lnSpc>
              <a:buNone/>
            </a:pPr>
            <a:r>
              <a:rPr lang="ko-KR" sz="2175" b="0">
                <a:solidFill>
                  <a:srgbClr val="172033"/>
                </a:solidFill>
                <a:latin typeface="Nanum Gothic"/>
                <a:ea typeface="Nanum Gothic"/>
                <a:cs typeface="Nanum Gothic"/>
              </a:rPr>
              <a:t>변경의 근거를 확인</a:t>
            </a:r>
            <a:endParaRPr lang="ko-KR" sz="2175" b="0"/>
          </a:p>
        </p:txBody>
      </p:sp>
      <p:sp>
        <p:nvSpPr>
          <p:cNvPr id="9" name="Text 9"/>
          <p:cNvSpPr txBox="1"/>
          <p:nvPr/>
        </p:nvSpPr>
        <p:spPr>
          <a:xfrm>
            <a:off x="8334375" y="3152775"/>
            <a:ext cx="3133725" cy="1133475"/>
          </a:xfrm>
          <a:prstGeom prst="rect">
            <a:avLst/>
          </a:prstGeom>
          <a:noFill/>
          <a:ln>
            <a:noFill/>
          </a:ln>
        </p:spPr>
        <p:txBody>
          <a:bodyPr wrap="square" lIns="0" rIns="0" tIns="0" bIns="0" anchor="t">
            <a:noAutofit/>
          </a:bodyPr>
          <a:lstStyle/>
          <a:p>
            <a:pPr marL="0" marR="0" indent="0">
              <a:lnSpc>
                <a:spcPct val="125000"/>
              </a:lnSpc>
              <a:buNone/>
            </a:pPr>
            <a:r>
              <a:rPr lang="ko-KR" sz="2175" b="0">
                <a:solidFill>
                  <a:srgbClr val="172033"/>
                </a:solidFill>
                <a:latin typeface="Nanum Gothic"/>
                <a:ea typeface="Nanum Gothic"/>
                <a:cs typeface="Nanum Gothic"/>
              </a:rPr>
              <a:t>범위와 실행 권한을</a:t>
            </a:r>
            <a:endParaRPr lang="ko-KR" sz="2175" b="0"/>
          </a:p>
          <a:p>
            <a:pPr marL="0" marR="0" indent="0">
              <a:lnSpc>
                <a:spcPct val="125000"/>
              </a:lnSpc>
              <a:buNone/>
            </a:pPr>
            <a:r>
              <a:rPr lang="ko-KR" sz="2175" b="0">
                <a:solidFill>
                  <a:srgbClr val="172033"/>
                </a:solidFill>
                <a:latin typeface="Nanum Gothic"/>
                <a:ea typeface="Nanum Gothic"/>
                <a:cs typeface="Nanum Gothic"/>
              </a:rPr>
              <a:t>사용자가 결정</a:t>
            </a:r>
            <a:endParaRPr lang="ko-KR" sz="2175" b="0"/>
          </a:p>
        </p:txBody>
      </p:sp>
      <p:cxnSp>
        <p:nvCxnSpPr>
          <p:cNvPr id="10" name="Handoff 10"/>
          <p:cNvCxnSpPr/>
          <p:nvPr/>
        </p:nvCxnSpPr>
        <p:spPr>
          <a:xfrm>
            <a:off x="790575" y="4838700"/>
            <a:ext cx="10591800" cy="0"/>
          </a:xfrm>
          <a:prstGeom prst="line">
            <a:avLst/>
          </a:prstGeom>
          <a:ln w="19050">
            <a:solidFill>
              <a:srgbClr val="D8DFEB"/>
            </a:solidFill>
          </a:ln>
        </p:spPr>
      </p:cxnSp>
      <p:sp>
        <p:nvSpPr>
          <p:cNvPr id="11" name="Text 11"/>
          <p:cNvSpPr txBox="1"/>
          <p:nvPr/>
        </p:nvSpPr>
        <p:spPr>
          <a:xfrm>
            <a:off x="800100" y="5257800"/>
            <a:ext cx="1971675" cy="409575"/>
          </a:xfrm>
          <a:prstGeom prst="rect">
            <a:avLst/>
          </a:prstGeom>
          <a:noFill/>
          <a:ln>
            <a:noFill/>
          </a:ln>
        </p:spPr>
        <p:txBody>
          <a:bodyPr wrap="square" lIns="0" rIns="0" tIns="0" bIns="0" anchor="t">
            <a:noAutofit/>
          </a:bodyPr>
          <a:lstStyle/>
          <a:p>
            <a:pPr marL="0" marR="0" indent="0">
              <a:lnSpc>
                <a:spcPct val="125000"/>
              </a:lnSpc>
              <a:buNone/>
            </a:pPr>
            <a:r>
              <a:rPr lang="ko-KR" sz="2025" b="0">
                <a:solidFill>
                  <a:srgbClr val="637085"/>
                </a:solidFill>
                <a:latin typeface="Nanum Gothic"/>
                <a:ea typeface="Nanum Gothic"/>
                <a:cs typeface="Nanum Gothic"/>
              </a:rPr>
              <a:t>기대 효과</a:t>
            </a:r>
            <a:endParaRPr lang="ko-KR" sz="2025" b="0"/>
          </a:p>
        </p:txBody>
      </p:sp>
      <p:sp>
        <p:nvSpPr>
          <p:cNvPr id="12" name="Text 12"/>
          <p:cNvSpPr txBox="1"/>
          <p:nvPr/>
        </p:nvSpPr>
        <p:spPr>
          <a:xfrm>
            <a:off x="800100" y="5781675"/>
            <a:ext cx="10620375" cy="514350"/>
          </a:xfrm>
          <a:prstGeom prst="rect">
            <a:avLst/>
          </a:prstGeom>
          <a:noFill/>
          <a:ln>
            <a:noFill/>
          </a:ln>
        </p:spPr>
        <p:txBody>
          <a:bodyPr wrap="square" lIns="0" rIns="0" tIns="0" bIns="0" anchor="t">
            <a:noAutofit/>
          </a:bodyPr>
          <a:lstStyle/>
          <a:p>
            <a:pPr marL="0" marR="0" indent="0">
              <a:lnSpc>
                <a:spcPct val="125000"/>
              </a:lnSpc>
              <a:buNone/>
            </a:pPr>
            <a:r>
              <a:rPr lang="ko-KR" sz="2250" b="1">
                <a:solidFill>
                  <a:srgbClr val="172033"/>
                </a:solidFill>
                <a:latin typeface="Nanum Gothic"/>
                <a:ea typeface="Nanum Gothic"/>
                <a:cs typeface="Nanum Gothic"/>
              </a:rPr>
              <a:t>수작업 연결은 줄이고, 개발자는 판단이 필요한 일에 집중</a:t>
            </a:r>
            <a:endParaRPr lang="ko-KR" sz="2250" b="1"/>
          </a:p>
        </p:txBody>
      </p:sp>
      <p:sp>
        <p:nvSpPr>
          <p:cNvPr id="13" name="Text 13"/>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A95A8"/>
                </a:solidFill>
                <a:latin typeface="Nanum Gothic"/>
                <a:ea typeface="Nanum Gothic"/>
                <a:cs typeface="Nanum Gothic"/>
              </a:rPr>
              <a:t>2</a:t>
            </a:r>
            <a:endParaRPr lang="ko-KR" sz="1050" b="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경영진의 요청: 고액 환불에는 승인과 이력">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rIns="0" tIns="0" bIns="0" anchor="t">
            <a:noAutofit/>
          </a:bodyPr>
          <a:lstStyle/>
          <a:p>
            <a:pPr marL="0" marR="0" indent="0">
              <a:lnSpc>
                <a:spcPct val="125000"/>
              </a:lnSpc>
              <a:buNone/>
            </a:pPr>
            <a:r>
              <a:rPr lang="ko-KR" sz="3225" b="1">
                <a:solidFill>
                  <a:srgbClr val="172033"/>
                </a:solidFill>
                <a:latin typeface="Nanum Gothic"/>
                <a:ea typeface="Nanum Gothic"/>
                <a:cs typeface="Nanum Gothic"/>
              </a:rPr>
              <a:t>경영진의 요청: 고액 환불에는 승인과 이력</a:t>
            </a:r>
            <a:endParaRPr lang="ko-KR" sz="3225" b="1"/>
          </a:p>
        </p:txBody>
      </p:sp>
      <p:sp>
        <p:nvSpPr>
          <p:cNvPr id="3" name="Text 3"/>
          <p:cNvSpPr txBox="1"/>
          <p:nvPr/>
        </p:nvSpPr>
        <p:spPr>
          <a:xfrm>
            <a:off x="781050" y="1724025"/>
            <a:ext cx="10620375" cy="1247775"/>
          </a:xfrm>
          <a:prstGeom prst="rect">
            <a:avLst/>
          </a:prstGeom>
          <a:noFill/>
          <a:ln>
            <a:noFill/>
          </a:ln>
        </p:spPr>
        <p:txBody>
          <a:bodyPr wrap="square" lIns="0" rIns="0" tIns="0" bIns="0" anchor="t">
            <a:noAutofit/>
          </a:bodyPr>
          <a:lstStyle/>
          <a:p>
            <a:pPr marL="0" marR="0" indent="0">
              <a:lnSpc>
                <a:spcPct val="125000"/>
              </a:lnSpc>
              <a:buNone/>
            </a:pPr>
            <a:r>
              <a:rPr lang="ko-KR" sz="2850" b="1">
                <a:solidFill>
                  <a:srgbClr val="7652C4"/>
                </a:solidFill>
                <a:latin typeface="Nanum Gothic"/>
                <a:ea typeface="Nanum Gothic"/>
                <a:cs typeface="Nanum Gothic"/>
              </a:rPr>
              <a:t>“100만 원 이상은 다른 담당자가 승인하고,</a:t>
            </a:r>
            <a:endParaRPr lang="ko-KR" sz="2850" b="1"/>
          </a:p>
          <a:p>
            <a:pPr marL="0" marR="0" indent="0">
              <a:lnSpc>
                <a:spcPct val="125000"/>
              </a:lnSpc>
              <a:buNone/>
            </a:pPr>
            <a:r>
              <a:rPr lang="ko-KR" sz="2850" b="1">
                <a:solidFill>
                  <a:srgbClr val="7652C4"/>
                </a:solidFill>
                <a:latin typeface="Nanum Gothic"/>
                <a:ea typeface="Nanum Gothic"/>
                <a:cs typeface="Nanum Gothic"/>
              </a:rPr>
              <a:t>소액 고객 대응은 지금처럼 유지해 주세요.”</a:t>
            </a:r>
            <a:endParaRPr lang="ko-KR" sz="2850" b="1"/>
          </a:p>
        </p:txBody>
      </p:sp>
      <p:pic>
        <p:nvPicPr>
          <p:cNvPr id="4" name="before-completed-row.png" descr="Actual local demo screenshot"/>
          <p:cNvPicPr>
            <a:picLocks noChangeAspect="1"/>
          </p:cNvPicPr>
          <p:nvPr/>
        </p:nvPicPr>
        <p:blipFill>
          <a:blip r:embed="rId3"/>
          <a:stretch>
            <a:fillRect/>
          </a:stretch>
        </p:blipFill>
        <p:spPr>
          <a:xfrm>
            <a:off x="742950" y="3631057"/>
            <a:ext cx="10715625" cy="653161"/>
          </a:xfrm>
          <a:prstGeom prst="rect">
            <a:avLst/>
          </a:prstGeom>
        </p:spPr>
      </p:pic>
      <p:sp>
        <p:nvSpPr>
          <p:cNvPr id="5" name="Text 5"/>
          <p:cNvSpPr txBox="1"/>
          <p:nvPr/>
        </p:nvSpPr>
        <p:spPr>
          <a:xfrm>
            <a:off x="790575" y="4962525"/>
            <a:ext cx="10591800" cy="542925"/>
          </a:xfrm>
          <a:prstGeom prst="rect">
            <a:avLst/>
          </a:prstGeom>
          <a:noFill/>
          <a:ln>
            <a:noFill/>
          </a:ln>
        </p:spPr>
        <p:txBody>
          <a:bodyPr wrap="square" lIns="0" rIns="0" tIns="0" bIns="0" anchor="t">
            <a:noAutofit/>
          </a:bodyPr>
          <a:lstStyle/>
          <a:p>
            <a:pPr marL="0" marR="0" indent="0">
              <a:lnSpc>
                <a:spcPct val="125000"/>
              </a:lnSpc>
              <a:buNone/>
            </a:pPr>
            <a:r>
              <a:rPr lang="ko-KR" sz="2400" b="1">
                <a:solidFill>
                  <a:srgbClr val="AD5B15"/>
                </a:solidFill>
                <a:latin typeface="Nanum Gothic"/>
                <a:ea typeface="Nanum Gothic"/>
                <a:cs typeface="Nanum Gothic"/>
              </a:rPr>
              <a:t>현재: 120만 원도 승인 없이 즉시 완료</a:t>
            </a:r>
            <a:endParaRPr lang="ko-KR" sz="2400" b="1"/>
          </a:p>
        </p:txBody>
      </p:sp>
      <p:sp>
        <p:nvSpPr>
          <p:cNvPr id="6" name="Text 6"/>
          <p:cNvSpPr txBox="1"/>
          <p:nvPr/>
        </p:nvSpPr>
        <p:spPr>
          <a:xfrm>
            <a:off x="800100" y="5810250"/>
            <a:ext cx="10601325" cy="495300"/>
          </a:xfrm>
          <a:prstGeom prst="rect">
            <a:avLst/>
          </a:prstGeom>
          <a:noFill/>
          <a:ln>
            <a:noFill/>
          </a:ln>
        </p:spPr>
        <p:txBody>
          <a:bodyPr wrap="square" lIns="0" rIns="0" tIns="0" bIns="0" anchor="t">
            <a:noAutofit/>
          </a:bodyPr>
          <a:lstStyle/>
          <a:p>
            <a:pPr marL="0" marR="0" indent="0">
              <a:lnSpc>
                <a:spcPct val="125000"/>
              </a:lnSpc>
              <a:buNone/>
            </a:pPr>
            <a:r>
              <a:rPr lang="ko-KR" sz="2100" b="0">
                <a:solidFill>
                  <a:srgbClr val="172033"/>
                </a:solidFill>
                <a:latin typeface="Nanum Gothic"/>
                <a:ea typeface="Nanum Gothic"/>
                <a:cs typeface="Nanum Gothic"/>
              </a:rPr>
              <a:t>바꿀 것: 금액 정책 · 역할 분리 · 감사 이력 · 기존 동작 유지</a:t>
            </a:r>
            <a:endParaRPr lang="ko-KR" sz="2100" b="0"/>
          </a:p>
        </p:txBody>
      </p:sp>
      <p:sp>
        <p:nvSpPr>
          <p:cNvPr id="7" name="Text 7"/>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A95A8"/>
                </a:solidFill>
                <a:latin typeface="Nanum Gothic"/>
                <a:ea typeface="Nanum Gothic"/>
                <a:cs typeface="Nanum Gothic"/>
              </a:rPr>
              <a:t>3</a:t>
            </a:r>
            <a:endParaRPr lang="ko-KR" sz="1050" b="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요청부터 검토까지 Copilot이 실행합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rIns="0" tIns="0" bIns="0" anchor="t">
            <a:noAutofit/>
          </a:bodyPr>
          <a:lstStyle/>
          <a:p>
            <a:pPr marL="0" marR="0" indent="0">
              <a:lnSpc>
                <a:spcPct val="125000"/>
              </a:lnSpc>
              <a:buNone/>
            </a:pPr>
            <a:r>
              <a:rPr lang="ko-KR" sz="3225" b="1">
                <a:solidFill>
                  <a:srgbClr val="172033"/>
                </a:solidFill>
                <a:latin typeface="Nanum Gothic"/>
                <a:ea typeface="Nanum Gothic"/>
                <a:cs typeface="Nanum Gothic"/>
              </a:rPr>
              <a:t>요청부터 검토까지 Copilot이 실행합니다</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637085"/>
                </a:solidFill>
                <a:latin typeface="Nanum Gothic"/>
                <a:ea typeface="Nanum Gothic"/>
                <a:cs typeface="Nanum Gothic"/>
              </a:rPr>
              <a:t>사용자는 일일이 코드를 지시하는 대신 목표와 판단 기준을 제시합니다</a:t>
            </a:r>
            <a:endParaRPr lang="ko-KR" sz="1875" b="0"/>
          </a:p>
        </p:txBody>
      </p:sp>
      <p:sp>
        <p:nvSpPr>
          <p:cNvPr id="4" name="Text 4"/>
          <p:cNvSpPr txBox="1"/>
          <p:nvPr/>
        </p:nvSpPr>
        <p:spPr>
          <a:xfrm>
            <a:off x="838200" y="2409825"/>
            <a:ext cx="1905000" cy="514350"/>
          </a:xfrm>
          <a:prstGeom prst="rect">
            <a:avLst/>
          </a:prstGeom>
          <a:noFill/>
          <a:ln>
            <a:noFill/>
          </a:ln>
        </p:spPr>
        <p:txBody>
          <a:bodyPr wrap="square" lIns="0" rIns="0" tIns="0" bIns="0" anchor="t">
            <a:noAutofit/>
          </a:bodyPr>
          <a:lstStyle/>
          <a:p>
            <a:pPr marL="0" marR="0" indent="0">
              <a:lnSpc>
                <a:spcPct val="125000"/>
              </a:lnSpc>
              <a:buNone/>
            </a:pPr>
            <a:r>
              <a:rPr lang="ko-KR" sz="2775" b="1">
                <a:solidFill>
                  <a:srgbClr val="7652C4"/>
                </a:solidFill>
                <a:latin typeface="Nanum Gothic"/>
                <a:ea typeface="Nanum Gothic"/>
                <a:cs typeface="Nanum Gothic"/>
              </a:rPr>
              <a:t>계획</a:t>
            </a:r>
            <a:endParaRPr lang="ko-KR" sz="2775" b="1"/>
          </a:p>
        </p:txBody>
      </p:sp>
      <p:cxnSp>
        <p:nvCxnSpPr>
          <p:cNvPr id="5" name="Handoff 5"/>
          <p:cNvCxnSpPr/>
          <p:nvPr/>
        </p:nvCxnSpPr>
        <p:spPr>
          <a:xfrm>
            <a:off x="2895600" y="2676525"/>
            <a:ext cx="485775" cy="0"/>
          </a:xfrm>
          <a:prstGeom prst="line">
            <a:avLst/>
          </a:prstGeom>
          <a:ln w="19050">
            <a:solidFill>
              <a:srgbClr val="7652C4"/>
            </a:solidFill>
            <a:tailEnd type="triangle" w="sm" len="sm"/>
          </a:ln>
        </p:spPr>
      </p:cxnSp>
      <p:sp>
        <p:nvSpPr>
          <p:cNvPr id="6" name="Text 6"/>
          <p:cNvSpPr txBox="1"/>
          <p:nvPr/>
        </p:nvSpPr>
        <p:spPr>
          <a:xfrm>
            <a:off x="3609975" y="2409825"/>
            <a:ext cx="1905000" cy="514350"/>
          </a:xfrm>
          <a:prstGeom prst="rect">
            <a:avLst/>
          </a:prstGeom>
          <a:noFill/>
          <a:ln>
            <a:noFill/>
          </a:ln>
        </p:spPr>
        <p:txBody>
          <a:bodyPr wrap="square" lIns="0" rIns="0" tIns="0" bIns="0" anchor="t">
            <a:noAutofit/>
          </a:bodyPr>
          <a:lstStyle/>
          <a:p>
            <a:pPr marL="0" marR="0" indent="0">
              <a:lnSpc>
                <a:spcPct val="125000"/>
              </a:lnSpc>
              <a:buNone/>
            </a:pPr>
            <a:r>
              <a:rPr lang="ko-KR" sz="2775" b="1">
                <a:solidFill>
                  <a:srgbClr val="7652C4"/>
                </a:solidFill>
                <a:latin typeface="Nanum Gothic"/>
                <a:ea typeface="Nanum Gothic"/>
                <a:cs typeface="Nanum Gothic"/>
              </a:rPr>
              <a:t>구현</a:t>
            </a:r>
            <a:endParaRPr lang="ko-KR" sz="2775" b="1"/>
          </a:p>
        </p:txBody>
      </p:sp>
      <p:cxnSp>
        <p:nvCxnSpPr>
          <p:cNvPr id="7" name="Handoff 7"/>
          <p:cNvCxnSpPr/>
          <p:nvPr/>
        </p:nvCxnSpPr>
        <p:spPr>
          <a:xfrm>
            <a:off x="5667375" y="2676525"/>
            <a:ext cx="485775" cy="0"/>
          </a:xfrm>
          <a:prstGeom prst="line">
            <a:avLst/>
          </a:prstGeom>
          <a:ln w="19050">
            <a:solidFill>
              <a:srgbClr val="7652C4"/>
            </a:solidFill>
            <a:tailEnd type="triangle" w="sm" len="sm"/>
          </a:ln>
        </p:spPr>
      </p:cxnSp>
      <p:sp>
        <p:nvSpPr>
          <p:cNvPr id="8" name="Text 8"/>
          <p:cNvSpPr txBox="1"/>
          <p:nvPr/>
        </p:nvSpPr>
        <p:spPr>
          <a:xfrm>
            <a:off x="6381750" y="2409825"/>
            <a:ext cx="1905000" cy="514350"/>
          </a:xfrm>
          <a:prstGeom prst="rect">
            <a:avLst/>
          </a:prstGeom>
          <a:noFill/>
          <a:ln>
            <a:noFill/>
          </a:ln>
        </p:spPr>
        <p:txBody>
          <a:bodyPr wrap="square" lIns="0" rIns="0" tIns="0" bIns="0" anchor="t">
            <a:noAutofit/>
          </a:bodyPr>
          <a:lstStyle/>
          <a:p>
            <a:pPr marL="0" marR="0" indent="0">
              <a:lnSpc>
                <a:spcPct val="125000"/>
              </a:lnSpc>
              <a:buNone/>
            </a:pPr>
            <a:r>
              <a:rPr lang="ko-KR" sz="2775" b="1">
                <a:solidFill>
                  <a:srgbClr val="7652C4"/>
                </a:solidFill>
                <a:latin typeface="Nanum Gothic"/>
                <a:ea typeface="Nanum Gothic"/>
                <a:cs typeface="Nanum Gothic"/>
              </a:rPr>
              <a:t>검증</a:t>
            </a:r>
            <a:endParaRPr lang="ko-KR" sz="2775" b="1"/>
          </a:p>
        </p:txBody>
      </p:sp>
      <p:cxnSp>
        <p:nvCxnSpPr>
          <p:cNvPr id="9" name="Handoff 9"/>
          <p:cNvCxnSpPr/>
          <p:nvPr/>
        </p:nvCxnSpPr>
        <p:spPr>
          <a:xfrm>
            <a:off x="8439150" y="2676525"/>
            <a:ext cx="485775" cy="0"/>
          </a:xfrm>
          <a:prstGeom prst="line">
            <a:avLst/>
          </a:prstGeom>
          <a:ln w="19050">
            <a:solidFill>
              <a:srgbClr val="7652C4"/>
            </a:solidFill>
            <a:tailEnd type="triangle" w="sm" len="sm"/>
          </a:ln>
        </p:spPr>
      </p:cxnSp>
      <p:sp>
        <p:nvSpPr>
          <p:cNvPr id="10" name="Text 10"/>
          <p:cNvSpPr txBox="1"/>
          <p:nvPr/>
        </p:nvSpPr>
        <p:spPr>
          <a:xfrm>
            <a:off x="9153525" y="2409825"/>
            <a:ext cx="1905000" cy="514350"/>
          </a:xfrm>
          <a:prstGeom prst="rect">
            <a:avLst/>
          </a:prstGeom>
          <a:noFill/>
          <a:ln>
            <a:noFill/>
          </a:ln>
        </p:spPr>
        <p:txBody>
          <a:bodyPr wrap="square" lIns="0" rIns="0" tIns="0" bIns="0" anchor="t">
            <a:noAutofit/>
          </a:bodyPr>
          <a:lstStyle/>
          <a:p>
            <a:pPr marL="0" marR="0" indent="0">
              <a:lnSpc>
                <a:spcPct val="125000"/>
              </a:lnSpc>
              <a:buNone/>
            </a:pPr>
            <a:r>
              <a:rPr lang="ko-KR" sz="2775" b="1">
                <a:solidFill>
                  <a:srgbClr val="7652C4"/>
                </a:solidFill>
                <a:latin typeface="Nanum Gothic"/>
                <a:ea typeface="Nanum Gothic"/>
                <a:cs typeface="Nanum Gothic"/>
              </a:rPr>
              <a:t>리뷰</a:t>
            </a:r>
            <a:endParaRPr lang="ko-KR" sz="2775" b="1"/>
          </a:p>
        </p:txBody>
      </p:sp>
      <p:sp>
        <p:nvSpPr>
          <p:cNvPr id="11" name="Text 11"/>
          <p:cNvSpPr txBox="1"/>
          <p:nvPr/>
        </p:nvSpPr>
        <p:spPr>
          <a:xfrm>
            <a:off x="838200" y="3276600"/>
            <a:ext cx="2333625" cy="1038225"/>
          </a:xfrm>
          <a:prstGeom prst="rect">
            <a:avLst/>
          </a:prstGeom>
          <a:noFill/>
          <a:ln>
            <a:noFill/>
          </a:ln>
        </p:spPr>
        <p:txBody>
          <a:bodyPr wrap="square" lIns="0" rIns="0" tIns="0" bIns="0" anchor="t">
            <a:noAutofit/>
          </a:bodyPr>
          <a:lstStyle/>
          <a:p>
            <a:pPr marL="0" marR="0" indent="0">
              <a:lnSpc>
                <a:spcPct val="125000"/>
              </a:lnSpc>
              <a:buNone/>
            </a:pPr>
            <a:r>
              <a:rPr lang="ko-KR" sz="2100" b="0">
                <a:solidFill>
                  <a:srgbClr val="637085"/>
                </a:solidFill>
                <a:latin typeface="Nanum Gothic"/>
                <a:ea typeface="Nanum Gothic"/>
                <a:cs typeface="Nanum Gothic"/>
              </a:rPr>
              <a:t>현재 코드 이해</a:t>
            </a:r>
            <a:endParaRPr lang="ko-KR" sz="2100" b="0"/>
          </a:p>
          <a:p>
            <a:pPr marL="0" marR="0" indent="0">
              <a:lnSpc>
                <a:spcPct val="125000"/>
              </a:lnSpc>
              <a:buNone/>
            </a:pPr>
            <a:r>
              <a:rPr lang="ko-KR" sz="2100" b="0">
                <a:solidFill>
                  <a:srgbClr val="637085"/>
                </a:solidFill>
                <a:latin typeface="Nanum Gothic"/>
                <a:ea typeface="Nanum Gothic"/>
                <a:cs typeface="Nanum Gothic"/>
              </a:rPr>
              <a:t>완료 기준 구체화</a:t>
            </a:r>
            <a:endParaRPr lang="ko-KR" sz="2100" b="0"/>
          </a:p>
        </p:txBody>
      </p:sp>
      <p:sp>
        <p:nvSpPr>
          <p:cNvPr id="12" name="Text 12"/>
          <p:cNvSpPr txBox="1"/>
          <p:nvPr/>
        </p:nvSpPr>
        <p:spPr>
          <a:xfrm>
            <a:off x="3609975" y="3276600"/>
            <a:ext cx="2333625" cy="1038225"/>
          </a:xfrm>
          <a:prstGeom prst="rect">
            <a:avLst/>
          </a:prstGeom>
          <a:noFill/>
          <a:ln>
            <a:noFill/>
          </a:ln>
        </p:spPr>
        <p:txBody>
          <a:bodyPr wrap="square" lIns="0" rIns="0" tIns="0" bIns="0" anchor="t">
            <a:noAutofit/>
          </a:bodyPr>
          <a:lstStyle/>
          <a:p>
            <a:pPr marL="0" marR="0" indent="0">
              <a:lnSpc>
                <a:spcPct val="125000"/>
              </a:lnSpc>
              <a:buNone/>
            </a:pPr>
            <a:r>
              <a:rPr lang="ko-KR" sz="2100" b="0">
                <a:solidFill>
                  <a:srgbClr val="637085"/>
                </a:solidFill>
                <a:latin typeface="Nanum Gothic"/>
                <a:ea typeface="Nanum Gothic"/>
                <a:cs typeface="Nanum Gothic"/>
              </a:rPr>
              <a:t>서버와 업무 화면</a:t>
            </a:r>
            <a:endParaRPr lang="ko-KR" sz="2100" b="0"/>
          </a:p>
          <a:p>
            <a:pPr marL="0" marR="0" indent="0">
              <a:lnSpc>
                <a:spcPct val="125000"/>
              </a:lnSpc>
              <a:buNone/>
            </a:pPr>
            <a:r>
              <a:rPr lang="ko-KR" sz="2100" b="0">
                <a:solidFill>
                  <a:srgbClr val="637085"/>
                </a:solidFill>
                <a:latin typeface="Nanum Gothic"/>
                <a:ea typeface="Nanum Gothic"/>
                <a:cs typeface="Nanum Gothic"/>
              </a:rPr>
              <a:t>테스트와 문서</a:t>
            </a:r>
            <a:endParaRPr lang="ko-KR" sz="2100" b="0"/>
          </a:p>
        </p:txBody>
      </p:sp>
      <p:sp>
        <p:nvSpPr>
          <p:cNvPr id="13" name="Text 13"/>
          <p:cNvSpPr txBox="1"/>
          <p:nvPr/>
        </p:nvSpPr>
        <p:spPr>
          <a:xfrm>
            <a:off x="6381750" y="3276600"/>
            <a:ext cx="2333625" cy="1038225"/>
          </a:xfrm>
          <a:prstGeom prst="rect">
            <a:avLst/>
          </a:prstGeom>
          <a:noFill/>
          <a:ln>
            <a:noFill/>
          </a:ln>
        </p:spPr>
        <p:txBody>
          <a:bodyPr wrap="square" lIns="0" rIns="0" tIns="0" bIns="0" anchor="t">
            <a:noAutofit/>
          </a:bodyPr>
          <a:lstStyle/>
          <a:p>
            <a:pPr marL="0" marR="0" indent="0">
              <a:lnSpc>
                <a:spcPct val="125000"/>
              </a:lnSpc>
              <a:buNone/>
            </a:pPr>
            <a:r>
              <a:rPr lang="ko-KR" sz="2100" b="0">
                <a:solidFill>
                  <a:srgbClr val="637085"/>
                </a:solidFill>
                <a:latin typeface="Nanum Gothic"/>
                <a:ea typeface="Nanum Gothic"/>
                <a:cs typeface="Nanum Gothic"/>
              </a:rPr>
              <a:t>로컬 테스트 실행</a:t>
            </a:r>
            <a:endParaRPr lang="ko-KR" sz="2100" b="0"/>
          </a:p>
          <a:p>
            <a:pPr marL="0" marR="0" indent="0">
              <a:lnSpc>
                <a:spcPct val="125000"/>
              </a:lnSpc>
              <a:buNone/>
            </a:pPr>
            <a:r>
              <a:rPr lang="ko-KR" sz="2100" b="0">
                <a:solidFill>
                  <a:srgbClr val="637085"/>
                </a:solidFill>
                <a:latin typeface="Nanum Gothic"/>
                <a:ea typeface="Nanum Gothic"/>
                <a:cs typeface="Nanum Gothic"/>
              </a:rPr>
              <a:t>실패 원인 보완</a:t>
            </a:r>
            <a:endParaRPr lang="ko-KR" sz="2100" b="0"/>
          </a:p>
        </p:txBody>
      </p:sp>
      <p:sp>
        <p:nvSpPr>
          <p:cNvPr id="14" name="Text 14"/>
          <p:cNvSpPr txBox="1"/>
          <p:nvPr/>
        </p:nvSpPr>
        <p:spPr>
          <a:xfrm>
            <a:off x="9153525" y="3276600"/>
            <a:ext cx="2324100" cy="1038225"/>
          </a:xfrm>
          <a:prstGeom prst="rect">
            <a:avLst/>
          </a:prstGeom>
          <a:noFill/>
          <a:ln>
            <a:noFill/>
          </a:ln>
        </p:spPr>
        <p:txBody>
          <a:bodyPr wrap="square" lIns="0" rIns="0" tIns="0" bIns="0" anchor="t">
            <a:noAutofit/>
          </a:bodyPr>
          <a:lstStyle/>
          <a:p>
            <a:pPr marL="0" marR="0" indent="0">
              <a:lnSpc>
                <a:spcPct val="125000"/>
              </a:lnSpc>
              <a:buNone/>
            </a:pPr>
            <a:r>
              <a:rPr lang="ko-KR" sz="2100" b="0">
                <a:solidFill>
                  <a:srgbClr val="637085"/>
                </a:solidFill>
                <a:latin typeface="Nanum Gothic"/>
                <a:ea typeface="Nanum Gothic"/>
                <a:cs typeface="Nanum Gothic"/>
              </a:rPr>
              <a:t>변경 내용 재검토</a:t>
            </a:r>
            <a:endParaRPr lang="ko-KR" sz="2100" b="0"/>
          </a:p>
          <a:p>
            <a:pPr marL="0" marR="0" indent="0">
              <a:lnSpc>
                <a:spcPct val="125000"/>
              </a:lnSpc>
              <a:buNone/>
            </a:pPr>
            <a:r>
              <a:rPr lang="ko-KR" sz="2100" b="0">
                <a:solidFill>
                  <a:srgbClr val="637085"/>
                </a:solidFill>
                <a:latin typeface="Nanum Gothic"/>
                <a:ea typeface="Nanum Gothic"/>
                <a:cs typeface="Nanum Gothic"/>
              </a:rPr>
              <a:t>남은 조건 정리</a:t>
            </a:r>
            <a:endParaRPr lang="ko-KR" sz="2100" b="0"/>
          </a:p>
        </p:txBody>
      </p:sp>
      <p:cxnSp>
        <p:nvCxnSpPr>
          <p:cNvPr id="15" name="Handoff 15"/>
          <p:cNvCxnSpPr/>
          <p:nvPr/>
        </p:nvCxnSpPr>
        <p:spPr>
          <a:xfrm>
            <a:off x="809625" y="4857750"/>
            <a:ext cx="10582275" cy="0"/>
          </a:xfrm>
          <a:prstGeom prst="line">
            <a:avLst/>
          </a:prstGeom>
          <a:ln w="19050">
            <a:solidFill>
              <a:srgbClr val="D8DFEB"/>
            </a:solidFill>
          </a:ln>
        </p:spPr>
      </p:cxnSp>
      <p:sp>
        <p:nvSpPr>
          <p:cNvPr id="16" name="Text 16"/>
          <p:cNvSpPr txBox="1"/>
          <p:nvPr/>
        </p:nvSpPr>
        <p:spPr>
          <a:xfrm>
            <a:off x="838200" y="5362575"/>
            <a:ext cx="5114925" cy="600075"/>
          </a:xfrm>
          <a:prstGeom prst="rect">
            <a:avLst/>
          </a:prstGeom>
          <a:noFill/>
          <a:ln>
            <a:noFill/>
          </a:ln>
        </p:spPr>
        <p:txBody>
          <a:bodyPr wrap="square" lIns="0" rIns="0" tIns="0" bIns="0" anchor="t">
            <a:noAutofit/>
          </a:bodyPr>
          <a:lstStyle/>
          <a:p>
            <a:pPr marL="0" marR="0" indent="0">
              <a:lnSpc>
                <a:spcPct val="125000"/>
              </a:lnSpc>
              <a:buNone/>
            </a:pPr>
            <a:r>
              <a:rPr lang="ko-KR" sz="2175" b="1">
                <a:solidFill>
                  <a:srgbClr val="19734A"/>
                </a:solidFill>
                <a:latin typeface="Nanum Gothic"/>
                <a:ea typeface="Nanum Gothic"/>
                <a:cs typeface="Nanum Gothic"/>
              </a:rPr>
              <a:t>사용자: 계획·실행 권한 승인</a:t>
            </a:r>
            <a:endParaRPr lang="ko-KR" sz="2175" b="1"/>
          </a:p>
        </p:txBody>
      </p:sp>
      <p:sp>
        <p:nvSpPr>
          <p:cNvPr id="17" name="Text 17"/>
          <p:cNvSpPr txBox="1"/>
          <p:nvPr/>
        </p:nvSpPr>
        <p:spPr>
          <a:xfrm>
            <a:off x="6381750" y="5362575"/>
            <a:ext cx="5086350" cy="600075"/>
          </a:xfrm>
          <a:prstGeom prst="rect">
            <a:avLst/>
          </a:prstGeom>
          <a:noFill/>
          <a:ln>
            <a:noFill/>
          </a:ln>
        </p:spPr>
        <p:txBody>
          <a:bodyPr wrap="square" lIns="0" rIns="0" tIns="0" bIns="0" anchor="t">
            <a:noAutofit/>
          </a:bodyPr>
          <a:lstStyle/>
          <a:p>
            <a:pPr marL="0" marR="0" indent="0">
              <a:lnSpc>
                <a:spcPct val="125000"/>
              </a:lnSpc>
              <a:buNone/>
            </a:pPr>
            <a:r>
              <a:rPr lang="ko-KR" sz="2175" b="1">
                <a:solidFill>
                  <a:srgbClr val="19734A"/>
                </a:solidFill>
                <a:latin typeface="Nanum Gothic"/>
                <a:ea typeface="Nanum Gothic"/>
                <a:cs typeface="Nanum Gothic"/>
              </a:rPr>
              <a:t>조직: 적용·출시 여부 결정</a:t>
            </a:r>
            <a:endParaRPr lang="ko-KR" sz="2175" b="1"/>
          </a:p>
        </p:txBody>
      </p:sp>
      <p:sp>
        <p:nvSpPr>
          <p:cNvPr id="18" name="Text 18"/>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A95A8"/>
                </a:solidFill>
                <a:latin typeface="Nanum Gothic"/>
                <a:ea typeface="Nanum Gothic"/>
                <a:cs typeface="Nanum Gothic"/>
              </a:rPr>
              <a:t>4</a:t>
            </a:r>
            <a:endParaRPr lang="ko-KR" sz="1050" b="0"/>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우리 저장소의 맥락에서 시작합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rIns="0" tIns="0" bIns="0" anchor="t">
            <a:noAutofit/>
          </a:bodyPr>
          <a:lstStyle/>
          <a:p>
            <a:pPr marL="0" marR="0" indent="0">
              <a:lnSpc>
                <a:spcPct val="125000"/>
              </a:lnSpc>
              <a:buNone/>
            </a:pPr>
            <a:r>
              <a:rPr lang="ko-KR" sz="3225" b="1">
                <a:solidFill>
                  <a:srgbClr val="172033"/>
                </a:solidFill>
                <a:latin typeface="Nanum Gothic"/>
                <a:ea typeface="Nanum Gothic"/>
                <a:cs typeface="Nanum Gothic"/>
              </a:rPr>
              <a:t>우리 저장소의 맥락에서 시작합니다</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637085"/>
                </a:solidFill>
                <a:latin typeface="Nanum Gothic"/>
                <a:ea typeface="Nanum Gothic"/>
                <a:cs typeface="Nanum Gothic"/>
              </a:rPr>
              <a:t>실제 Copilot CLI가 코드와 팀 지침을 읽고 계획을 제시합니다</a:t>
            </a:r>
            <a:endParaRPr lang="ko-KR" sz="1875" b="0"/>
          </a:p>
        </p:txBody>
      </p:sp>
      <p:pic>
        <p:nvPicPr>
          <p:cNvPr id="4" name="ghcp-plan.png" descr="Actual local demo screenshot"/>
          <p:cNvPicPr>
            <a:picLocks noChangeAspect="1"/>
          </p:cNvPicPr>
          <p:nvPr/>
        </p:nvPicPr>
        <p:blipFill>
          <a:blip r:embed="rId3"/>
          <a:stretch>
            <a:fillRect/>
          </a:stretch>
        </p:blipFill>
        <p:spPr>
          <a:xfrm>
            <a:off x="2368689" y="1971675"/>
            <a:ext cx="7454622" cy="3419475"/>
          </a:xfrm>
          <a:prstGeom prst="rect">
            <a:avLst/>
          </a:prstGeom>
        </p:spPr>
      </p:pic>
      <p:sp>
        <p:nvSpPr>
          <p:cNvPr id="5" name="Text 5"/>
          <p:cNvSpPr txBox="1"/>
          <p:nvPr/>
        </p:nvSpPr>
        <p:spPr>
          <a:xfrm>
            <a:off x="790575" y="5724525"/>
            <a:ext cx="10572750" cy="504825"/>
          </a:xfrm>
          <a:prstGeom prst="rect">
            <a:avLst/>
          </a:prstGeom>
          <a:noFill/>
          <a:ln>
            <a:noFill/>
          </a:ln>
        </p:spPr>
        <p:txBody>
          <a:bodyPr wrap="square" lIns="0" rIns="0" tIns="0" bIns="0" anchor="t">
            <a:noAutofit/>
          </a:bodyPr>
          <a:lstStyle/>
          <a:p>
            <a:pPr marL="0" marR="0" indent="0">
              <a:lnSpc>
                <a:spcPct val="125000"/>
              </a:lnSpc>
              <a:buNone/>
            </a:pPr>
            <a:r>
              <a:rPr lang="ko-KR" sz="2400" b="1">
                <a:solidFill>
                  <a:srgbClr val="7652C4"/>
                </a:solidFill>
                <a:latin typeface="Nanum Gothic"/>
                <a:ea typeface="Nanum Gothic"/>
                <a:cs typeface="Nanum Gothic"/>
              </a:rPr>
              <a:t>팀 지침 + 기존 코드 + 완료 기준</a:t>
            </a:r>
            <a:endParaRPr lang="ko-KR" sz="2400" b="1"/>
          </a:p>
        </p:txBody>
      </p:sp>
      <p:sp>
        <p:nvSpPr>
          <p:cNvPr id="6" name="Text 6"/>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A95A8"/>
                </a:solidFill>
                <a:latin typeface="Nanum Gothic"/>
                <a:ea typeface="Nanum Gothic"/>
                <a:cs typeface="Nanum Gothic"/>
              </a:rPr>
              <a:t>5</a:t>
            </a:r>
            <a:endParaRPr lang="ko-KR" sz="1050" b="0"/>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AI가 실행해도 결정권은 사용자에게">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rIns="0" tIns="0" bIns="0" anchor="t">
            <a:noAutofit/>
          </a:bodyPr>
          <a:lstStyle/>
          <a:p>
            <a:pPr marL="0" marR="0" indent="0">
              <a:lnSpc>
                <a:spcPct val="125000"/>
              </a:lnSpc>
              <a:buNone/>
            </a:pPr>
            <a:r>
              <a:rPr lang="ko-KR" sz="3225" b="1">
                <a:solidFill>
                  <a:srgbClr val="172033"/>
                </a:solidFill>
                <a:latin typeface="Nanum Gothic"/>
                <a:ea typeface="Nanum Gothic"/>
                <a:cs typeface="Nanum Gothic"/>
              </a:rPr>
              <a:t>AI가 실행해도 결정권은 사용자에게</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637085"/>
                </a:solidFill>
                <a:latin typeface="Nanum Gothic"/>
                <a:ea typeface="Nanum Gothic"/>
                <a:cs typeface="Nanum Gothic"/>
              </a:rPr>
              <a:t>Copilot이 제시한 변경과 명령을 확인하고 허용하거나 거부합니다</a:t>
            </a:r>
            <a:endParaRPr lang="ko-KR" sz="1875" b="0"/>
          </a:p>
        </p:txBody>
      </p:sp>
      <p:pic>
        <p:nvPicPr>
          <p:cNvPr id="4" name="ghcp-approval.png" descr="Actual local demo screenshot"/>
          <p:cNvPicPr>
            <a:picLocks noChangeAspect="1"/>
          </p:cNvPicPr>
          <p:nvPr/>
        </p:nvPicPr>
        <p:blipFill>
          <a:blip r:embed="rId3"/>
          <a:stretch>
            <a:fillRect/>
          </a:stretch>
        </p:blipFill>
        <p:spPr>
          <a:xfrm>
            <a:off x="2410219" y="1971675"/>
            <a:ext cx="7371562" cy="3381375"/>
          </a:xfrm>
          <a:prstGeom prst="rect">
            <a:avLst/>
          </a:prstGeom>
        </p:spPr>
      </p:pic>
      <p:sp>
        <p:nvSpPr>
          <p:cNvPr id="5" name="Text 5"/>
          <p:cNvSpPr txBox="1"/>
          <p:nvPr/>
        </p:nvSpPr>
        <p:spPr>
          <a:xfrm>
            <a:off x="790575" y="5638800"/>
            <a:ext cx="10582275" cy="457200"/>
          </a:xfrm>
          <a:prstGeom prst="rect">
            <a:avLst/>
          </a:prstGeom>
          <a:noFill/>
          <a:ln>
            <a:noFill/>
          </a:ln>
        </p:spPr>
        <p:txBody>
          <a:bodyPr wrap="square" lIns="0" rIns="0" tIns="0" bIns="0" anchor="t">
            <a:noAutofit/>
          </a:bodyPr>
          <a:lstStyle/>
          <a:p>
            <a:pPr marL="0" marR="0" indent="0">
              <a:lnSpc>
                <a:spcPct val="125000"/>
              </a:lnSpc>
              <a:buNone/>
            </a:pPr>
            <a:r>
              <a:rPr lang="ko-KR" sz="2325" b="1">
                <a:solidFill>
                  <a:srgbClr val="7652C4"/>
                </a:solidFill>
                <a:latin typeface="Nanum Gothic"/>
                <a:ea typeface="Nanum Gothic"/>
                <a:cs typeface="Nanum Gothic"/>
              </a:rPr>
              <a:t>계획 수락과 도구 실행 승인을 구분</a:t>
            </a:r>
            <a:endParaRPr lang="ko-KR" sz="2325" b="1"/>
          </a:p>
        </p:txBody>
      </p:sp>
      <p:sp>
        <p:nvSpPr>
          <p:cNvPr id="6" name="Text 6"/>
          <p:cNvSpPr txBox="1"/>
          <p:nvPr/>
        </p:nvSpPr>
        <p:spPr>
          <a:xfrm>
            <a:off x="800100" y="6200775"/>
            <a:ext cx="10572750" cy="285750"/>
          </a:xfrm>
          <a:prstGeom prst="rect">
            <a:avLst/>
          </a:prstGeom>
          <a:noFill/>
          <a:ln>
            <a:noFill/>
          </a:ln>
        </p:spPr>
        <p:txBody>
          <a:bodyPr wrap="square" lIns="0" rIns="0" tIns="0" bIns="0" anchor="t">
            <a:noAutofit/>
          </a:bodyPr>
          <a:lstStyle/>
          <a:p>
            <a:pPr marL="0" marR="0" indent="0">
              <a:lnSpc>
                <a:spcPct val="125000"/>
              </a:lnSpc>
              <a:buNone/>
            </a:pPr>
            <a:r>
              <a:rPr lang="ko-KR" sz="1425" b="0">
                <a:solidFill>
                  <a:srgbClr val="637085"/>
                </a:solidFill>
                <a:latin typeface="Nanum Gothic"/>
                <a:ea typeface="Nanum Gothic"/>
                <a:cs typeface="Nanum Gothic"/>
              </a:rPr>
              <a:t>실제 CLI 승인 UI · 영상의 선택 키는 시연 자동화이며 사람의 출시 승인이 아님</a:t>
            </a:r>
            <a:endParaRPr lang="ko-KR" sz="1425" b="0"/>
          </a:p>
        </p:txBody>
      </p:sp>
      <p:sp>
        <p:nvSpPr>
          <p:cNvPr id="7" name="Text 7"/>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A95A8"/>
                </a:solidFill>
                <a:latin typeface="Nanum Gothic"/>
                <a:ea typeface="Nanum Gothic"/>
                <a:cs typeface="Nanum Gothic"/>
              </a:rPr>
              <a:t>6</a:t>
            </a:r>
            <a:endParaRPr lang="ko-KR" sz="1050" b="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답변이 아니라 동작하는 변경을 만듭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rIns="0" tIns="0" bIns="0" anchor="t">
            <a:noAutofit/>
          </a:bodyPr>
          <a:lstStyle/>
          <a:p>
            <a:pPr marL="0" marR="0" indent="0">
              <a:lnSpc>
                <a:spcPct val="125000"/>
              </a:lnSpc>
              <a:buNone/>
            </a:pPr>
            <a:r>
              <a:rPr lang="ko-KR" sz="3225" b="1">
                <a:solidFill>
                  <a:srgbClr val="172033"/>
                </a:solidFill>
                <a:latin typeface="Nanum Gothic"/>
                <a:ea typeface="Nanum Gothic"/>
                <a:cs typeface="Nanum Gothic"/>
              </a:rPr>
              <a:t>답변이 아니라 동작하는 변경을 만듭니다</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637085"/>
                </a:solidFill>
                <a:latin typeface="Nanum Gothic"/>
                <a:ea typeface="Nanum Gothic"/>
                <a:cs typeface="Nanum Gothic"/>
              </a:rPr>
              <a:t>하나의 정책 요청이 제품의 여러 부분에 함께 반영됩니다</a:t>
            </a:r>
            <a:endParaRPr lang="ko-KR" sz="1875" b="0"/>
          </a:p>
        </p:txBody>
      </p:sp>
      <p:pic>
        <p:nvPicPr>
          <p:cNvPr id="4" name="ghcp-implementation.png" descr="Actual local demo screenshot"/>
          <p:cNvPicPr>
            <a:picLocks noChangeAspect="1"/>
          </p:cNvPicPr>
          <p:nvPr/>
        </p:nvPicPr>
        <p:blipFill>
          <a:blip r:embed="rId3"/>
          <a:stretch>
            <a:fillRect/>
          </a:stretch>
        </p:blipFill>
        <p:spPr>
          <a:xfrm>
            <a:off x="742950" y="2220016"/>
            <a:ext cx="6953250" cy="3189493"/>
          </a:xfrm>
          <a:prstGeom prst="rect">
            <a:avLst/>
          </a:prstGeom>
        </p:spPr>
      </p:pic>
      <p:sp>
        <p:nvSpPr>
          <p:cNvPr id="5" name="Text 5"/>
          <p:cNvSpPr txBox="1"/>
          <p:nvPr/>
        </p:nvSpPr>
        <p:spPr>
          <a:xfrm>
            <a:off x="8115300" y="2219325"/>
            <a:ext cx="3286125" cy="409575"/>
          </a:xfrm>
          <a:prstGeom prst="rect">
            <a:avLst/>
          </a:prstGeom>
          <a:noFill/>
          <a:ln>
            <a:noFill/>
          </a:ln>
        </p:spPr>
        <p:txBody>
          <a:bodyPr wrap="square" lIns="0" rIns="0" tIns="0" bIns="0" anchor="t">
            <a:noAutofit/>
          </a:bodyPr>
          <a:lstStyle/>
          <a:p>
            <a:pPr marL="0" marR="0" indent="0">
              <a:lnSpc>
                <a:spcPct val="125000"/>
              </a:lnSpc>
              <a:buNone/>
            </a:pPr>
            <a:r>
              <a:rPr lang="ko-KR" sz="2325" b="1">
                <a:solidFill>
                  <a:srgbClr val="7652C4"/>
                </a:solidFill>
                <a:latin typeface="Nanum Gothic"/>
                <a:ea typeface="Nanum Gothic"/>
                <a:cs typeface="Nanum Gothic"/>
              </a:rPr>
              <a:t>업무 규칙</a:t>
            </a:r>
            <a:endParaRPr lang="ko-KR" sz="2325" b="1"/>
          </a:p>
        </p:txBody>
      </p:sp>
      <p:sp>
        <p:nvSpPr>
          <p:cNvPr id="6" name="Text 6"/>
          <p:cNvSpPr txBox="1"/>
          <p:nvPr/>
        </p:nvSpPr>
        <p:spPr>
          <a:xfrm>
            <a:off x="8124825" y="2762250"/>
            <a:ext cx="3276600" cy="457200"/>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172033"/>
                </a:solidFill>
                <a:latin typeface="Nanum Gothic"/>
                <a:ea typeface="Nanum Gothic"/>
                <a:cs typeface="Nanum Gothic"/>
              </a:rPr>
              <a:t>서버의 승인·차단·이력</a:t>
            </a:r>
            <a:endParaRPr lang="ko-KR" sz="1875" b="0"/>
          </a:p>
        </p:txBody>
      </p:sp>
      <p:sp>
        <p:nvSpPr>
          <p:cNvPr id="7" name="Text 7"/>
          <p:cNvSpPr txBox="1"/>
          <p:nvPr/>
        </p:nvSpPr>
        <p:spPr>
          <a:xfrm>
            <a:off x="8115300" y="3419475"/>
            <a:ext cx="3286125" cy="409575"/>
          </a:xfrm>
          <a:prstGeom prst="rect">
            <a:avLst/>
          </a:prstGeom>
          <a:noFill/>
          <a:ln>
            <a:noFill/>
          </a:ln>
        </p:spPr>
        <p:txBody>
          <a:bodyPr wrap="square" lIns="0" rIns="0" tIns="0" bIns="0" anchor="t">
            <a:noAutofit/>
          </a:bodyPr>
          <a:lstStyle/>
          <a:p>
            <a:pPr marL="0" marR="0" indent="0">
              <a:lnSpc>
                <a:spcPct val="125000"/>
              </a:lnSpc>
              <a:buNone/>
            </a:pPr>
            <a:r>
              <a:rPr lang="ko-KR" sz="2325" b="1">
                <a:solidFill>
                  <a:srgbClr val="7652C4"/>
                </a:solidFill>
                <a:latin typeface="Nanum Gothic"/>
                <a:ea typeface="Nanum Gothic"/>
                <a:cs typeface="Nanum Gothic"/>
              </a:rPr>
              <a:t>사용자 경험</a:t>
            </a:r>
            <a:endParaRPr lang="ko-KR" sz="2325" b="1"/>
          </a:p>
        </p:txBody>
      </p:sp>
      <p:sp>
        <p:nvSpPr>
          <p:cNvPr id="8" name="Text 8"/>
          <p:cNvSpPr txBox="1"/>
          <p:nvPr/>
        </p:nvSpPr>
        <p:spPr>
          <a:xfrm>
            <a:off x="8124825" y="3962400"/>
            <a:ext cx="3276600" cy="457200"/>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172033"/>
                </a:solidFill>
                <a:latin typeface="Nanum Gothic"/>
                <a:ea typeface="Nanum Gothic"/>
                <a:cs typeface="Nanum Gothic"/>
              </a:rPr>
              <a:t>요청·승인·반려 화면</a:t>
            </a:r>
            <a:endParaRPr lang="ko-KR" sz="1875" b="0"/>
          </a:p>
        </p:txBody>
      </p:sp>
      <p:sp>
        <p:nvSpPr>
          <p:cNvPr id="9" name="Text 9"/>
          <p:cNvSpPr txBox="1"/>
          <p:nvPr/>
        </p:nvSpPr>
        <p:spPr>
          <a:xfrm>
            <a:off x="8115300" y="4667250"/>
            <a:ext cx="3286125" cy="552450"/>
          </a:xfrm>
          <a:prstGeom prst="rect">
            <a:avLst/>
          </a:prstGeom>
          <a:noFill/>
          <a:ln>
            <a:noFill/>
          </a:ln>
        </p:spPr>
        <p:txBody>
          <a:bodyPr wrap="square" lIns="0" rIns="0" tIns="0" bIns="0" anchor="t">
            <a:noAutofit/>
          </a:bodyPr>
          <a:lstStyle/>
          <a:p>
            <a:pPr marL="0" marR="0" indent="0">
              <a:lnSpc>
                <a:spcPct val="125000"/>
              </a:lnSpc>
              <a:buNone/>
            </a:pPr>
            <a:r>
              <a:rPr lang="ko-KR" sz="2325" b="1">
                <a:solidFill>
                  <a:srgbClr val="7652C4"/>
                </a:solidFill>
                <a:latin typeface="Nanum Gothic"/>
                <a:ea typeface="Nanum Gothic"/>
                <a:cs typeface="Nanum Gothic"/>
              </a:rPr>
              <a:t>테스트와 문서</a:t>
            </a:r>
            <a:endParaRPr lang="ko-KR" sz="2325" b="1"/>
          </a:p>
        </p:txBody>
      </p:sp>
      <p:sp>
        <p:nvSpPr>
          <p:cNvPr id="10" name="Text 10"/>
          <p:cNvSpPr txBox="1"/>
          <p:nvPr/>
        </p:nvSpPr>
        <p:spPr>
          <a:xfrm>
            <a:off x="790575" y="5924550"/>
            <a:ext cx="10582275" cy="428625"/>
          </a:xfrm>
          <a:prstGeom prst="rect">
            <a:avLst/>
          </a:prstGeom>
          <a:noFill/>
          <a:ln>
            <a:noFill/>
          </a:ln>
        </p:spPr>
        <p:txBody>
          <a:bodyPr wrap="square" lIns="0" rIns="0" tIns="0" bIns="0" anchor="t">
            <a:noAutofit/>
          </a:bodyPr>
          <a:lstStyle/>
          <a:p>
            <a:pPr marL="0" marR="0" indent="0">
              <a:lnSpc>
                <a:spcPct val="125000"/>
              </a:lnSpc>
              <a:buNone/>
            </a:pPr>
            <a:r>
              <a:rPr lang="ko-KR" sz="2025" b="0">
                <a:solidFill>
                  <a:srgbClr val="637085"/>
                </a:solidFill>
                <a:latin typeface="Nanum Gothic"/>
                <a:ea typeface="Nanum Gothic"/>
                <a:cs typeface="Nanum Gothic"/>
              </a:rPr>
              <a:t>6개 파일의 실제 변경 · 허용 범위 밖 변경 없음</a:t>
            </a:r>
            <a:endParaRPr lang="ko-KR" sz="2025" b="0"/>
          </a:p>
        </p:txBody>
      </p:sp>
      <p:sp>
        <p:nvSpPr>
          <p:cNvPr id="11" name="Text 11"/>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A95A8"/>
                </a:solidFill>
                <a:latin typeface="Nanum Gothic"/>
                <a:ea typeface="Nanum Gothic"/>
                <a:cs typeface="Nanum Gothic"/>
              </a:rPr>
              <a:t>7</a:t>
            </a:r>
            <a:endParaRPr lang="ko-KR" sz="1050" b="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업무 정책이 실제 화면에서 작동합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rIns="0" tIns="0" bIns="0" anchor="t">
            <a:noAutofit/>
          </a:bodyPr>
          <a:lstStyle/>
          <a:p>
            <a:pPr marL="0" marR="0" indent="0">
              <a:lnSpc>
                <a:spcPct val="125000"/>
              </a:lnSpc>
              <a:buNone/>
            </a:pPr>
            <a:r>
              <a:rPr lang="ko-KR" sz="3225" b="1">
                <a:solidFill>
                  <a:srgbClr val="172033"/>
                </a:solidFill>
                <a:latin typeface="Nanum Gothic"/>
                <a:ea typeface="Nanum Gothic"/>
                <a:cs typeface="Nanum Gothic"/>
              </a:rPr>
              <a:t>업무 정책이 실제 화면에서 작동합니다</a:t>
            </a:r>
            <a:endParaRPr lang="ko-KR" sz="3225" b="1"/>
          </a:p>
        </p:txBody>
      </p:sp>
      <p:sp>
        <p:nvSpPr>
          <p:cNvPr id="3" name="Text 3"/>
          <p:cNvSpPr txBox="1"/>
          <p:nvPr/>
        </p:nvSpPr>
        <p:spPr>
          <a:xfrm>
            <a:off x="781050" y="1885950"/>
            <a:ext cx="1533525" cy="447675"/>
          </a:xfrm>
          <a:prstGeom prst="rect">
            <a:avLst/>
          </a:prstGeom>
          <a:noFill/>
          <a:ln>
            <a:noFill/>
          </a:ln>
        </p:spPr>
        <p:txBody>
          <a:bodyPr wrap="square" lIns="0" rIns="0" tIns="0" bIns="0" anchor="t">
            <a:noAutofit/>
          </a:bodyPr>
          <a:lstStyle/>
          <a:p>
            <a:pPr marL="0" marR="0" indent="0">
              <a:lnSpc>
                <a:spcPct val="125000"/>
              </a:lnSpc>
              <a:buNone/>
            </a:pPr>
            <a:r>
              <a:rPr lang="ko-KR" sz="2175" b="1">
                <a:solidFill>
                  <a:srgbClr val="7652C4"/>
                </a:solidFill>
                <a:latin typeface="Nanum Gothic"/>
                <a:ea typeface="Nanum Gothic"/>
                <a:cs typeface="Nanum Gothic"/>
              </a:rPr>
              <a:t>요청</a:t>
            </a:r>
            <a:endParaRPr lang="ko-KR" sz="2175" b="1"/>
          </a:p>
        </p:txBody>
      </p:sp>
      <p:pic>
        <p:nvPicPr>
          <p:cNvPr id="4" name="after-pending-row.png" descr="Actual local demo screenshot"/>
          <p:cNvPicPr>
            <a:picLocks noChangeAspect="1"/>
          </p:cNvPicPr>
          <p:nvPr/>
        </p:nvPicPr>
        <p:blipFill>
          <a:blip r:embed="rId3"/>
          <a:stretch>
            <a:fillRect/>
          </a:stretch>
        </p:blipFill>
        <p:spPr>
          <a:xfrm>
            <a:off x="2428875" y="1941989"/>
            <a:ext cx="9020175" cy="573721"/>
          </a:xfrm>
          <a:prstGeom prst="rect">
            <a:avLst/>
          </a:prstGeom>
        </p:spPr>
      </p:pic>
      <p:sp>
        <p:nvSpPr>
          <p:cNvPr id="5" name="Text 5"/>
          <p:cNvSpPr txBox="1"/>
          <p:nvPr/>
        </p:nvSpPr>
        <p:spPr>
          <a:xfrm>
            <a:off x="781050" y="3190875"/>
            <a:ext cx="1533525" cy="447675"/>
          </a:xfrm>
          <a:prstGeom prst="rect">
            <a:avLst/>
          </a:prstGeom>
          <a:noFill/>
          <a:ln>
            <a:noFill/>
          </a:ln>
        </p:spPr>
        <p:txBody>
          <a:bodyPr wrap="square" lIns="0" rIns="0" tIns="0" bIns="0" anchor="t">
            <a:noAutofit/>
          </a:bodyPr>
          <a:lstStyle/>
          <a:p>
            <a:pPr marL="0" marR="0" indent="0">
              <a:lnSpc>
                <a:spcPct val="125000"/>
              </a:lnSpc>
              <a:buNone/>
            </a:pPr>
            <a:r>
              <a:rPr lang="ko-KR" sz="2175" b="1">
                <a:solidFill>
                  <a:srgbClr val="AD5B15"/>
                </a:solidFill>
                <a:latin typeface="Nanum Gothic"/>
                <a:ea typeface="Nanum Gothic"/>
                <a:cs typeface="Nanum Gothic"/>
              </a:rPr>
              <a:t>차단</a:t>
            </a:r>
            <a:endParaRPr lang="ko-KR" sz="2175" b="1"/>
          </a:p>
        </p:txBody>
      </p:sp>
      <p:pic>
        <p:nvPicPr>
          <p:cNvPr id="6" name="after-blocked-notice.png" descr="Actual local demo screenshot"/>
          <p:cNvPicPr>
            <a:picLocks noChangeAspect="1"/>
          </p:cNvPicPr>
          <p:nvPr/>
        </p:nvPicPr>
        <p:blipFill>
          <a:blip r:embed="rId4"/>
          <a:stretch>
            <a:fillRect/>
          </a:stretch>
        </p:blipFill>
        <p:spPr>
          <a:xfrm>
            <a:off x="2428875" y="3311206"/>
            <a:ext cx="9020175" cy="302263"/>
          </a:xfrm>
          <a:prstGeom prst="rect">
            <a:avLst/>
          </a:prstGeom>
        </p:spPr>
      </p:pic>
      <p:sp>
        <p:nvSpPr>
          <p:cNvPr id="7" name="Text 7"/>
          <p:cNvSpPr txBox="1"/>
          <p:nvPr/>
        </p:nvSpPr>
        <p:spPr>
          <a:xfrm>
            <a:off x="781050" y="4457700"/>
            <a:ext cx="1533525" cy="447675"/>
          </a:xfrm>
          <a:prstGeom prst="rect">
            <a:avLst/>
          </a:prstGeom>
          <a:noFill/>
          <a:ln>
            <a:noFill/>
          </a:ln>
        </p:spPr>
        <p:txBody>
          <a:bodyPr wrap="square" lIns="0" rIns="0" tIns="0" bIns="0" anchor="t">
            <a:noAutofit/>
          </a:bodyPr>
          <a:lstStyle/>
          <a:p>
            <a:pPr marL="0" marR="0" indent="0">
              <a:lnSpc>
                <a:spcPct val="125000"/>
              </a:lnSpc>
              <a:buNone/>
            </a:pPr>
            <a:r>
              <a:rPr lang="ko-KR" sz="2175" b="1">
                <a:solidFill>
                  <a:srgbClr val="19734A"/>
                </a:solidFill>
                <a:latin typeface="Nanum Gothic"/>
                <a:ea typeface="Nanum Gothic"/>
                <a:cs typeface="Nanum Gothic"/>
              </a:rPr>
              <a:t>승인</a:t>
            </a:r>
            <a:endParaRPr lang="ko-KR" sz="2175" b="1"/>
          </a:p>
        </p:txBody>
      </p:sp>
      <p:pic>
        <p:nvPicPr>
          <p:cNvPr id="8" name="after-approved-row.png" descr="Actual local demo screenshot"/>
          <p:cNvPicPr>
            <a:picLocks noChangeAspect="1"/>
          </p:cNvPicPr>
          <p:nvPr/>
        </p:nvPicPr>
        <p:blipFill>
          <a:blip r:embed="rId5"/>
          <a:stretch>
            <a:fillRect/>
          </a:stretch>
        </p:blipFill>
        <p:spPr>
          <a:xfrm>
            <a:off x="2428875" y="4506642"/>
            <a:ext cx="9020175" cy="549816"/>
          </a:xfrm>
          <a:prstGeom prst="rect">
            <a:avLst/>
          </a:prstGeom>
        </p:spPr>
      </p:pic>
      <p:sp>
        <p:nvSpPr>
          <p:cNvPr id="9" name="Text 9"/>
          <p:cNvSpPr txBox="1"/>
          <p:nvPr/>
        </p:nvSpPr>
        <p:spPr>
          <a:xfrm>
            <a:off x="800100" y="5743575"/>
            <a:ext cx="10582275" cy="590550"/>
          </a:xfrm>
          <a:prstGeom prst="rect">
            <a:avLst/>
          </a:prstGeom>
          <a:noFill/>
          <a:ln>
            <a:noFill/>
          </a:ln>
        </p:spPr>
        <p:txBody>
          <a:bodyPr wrap="square" lIns="0" rIns="0" tIns="0" bIns="0" anchor="t">
            <a:noAutofit/>
          </a:bodyPr>
          <a:lstStyle/>
          <a:p>
            <a:pPr marL="0" marR="0" indent="0">
              <a:lnSpc>
                <a:spcPct val="125000"/>
              </a:lnSpc>
              <a:buNone/>
            </a:pPr>
            <a:r>
              <a:rPr lang="ko-KR" sz="2175" b="0">
                <a:solidFill>
                  <a:srgbClr val="172033"/>
                </a:solidFill>
                <a:latin typeface="Nanum Gothic"/>
                <a:ea typeface="Nanum Gothic"/>
                <a:cs typeface="Nanum Gothic"/>
              </a:rPr>
              <a:t>120만 원은 승인 대기 → 자기 승인 차단 → 다른 담당자 승인</a:t>
            </a:r>
            <a:endParaRPr lang="ko-KR" sz="2175" b="0"/>
          </a:p>
        </p:txBody>
      </p:sp>
      <p:sp>
        <p:nvSpPr>
          <p:cNvPr id="10" name="Text 10"/>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A95A8"/>
                </a:solidFill>
                <a:latin typeface="Nanum Gothic"/>
                <a:ea typeface="Nanum Gothic"/>
                <a:cs typeface="Nanum Gothic"/>
              </a:rPr>
              <a:t>8</a:t>
            </a:r>
            <a:endParaRPr lang="ko-KR" sz="1050" b="0"/>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완료를 판단할 근거까지 남깁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rIns="0" tIns="0" bIns="0" anchor="t">
            <a:noAutofit/>
          </a:bodyPr>
          <a:lstStyle/>
          <a:p>
            <a:pPr marL="0" marR="0" indent="0">
              <a:lnSpc>
                <a:spcPct val="125000"/>
              </a:lnSpc>
              <a:buNone/>
            </a:pPr>
            <a:r>
              <a:rPr lang="ko-KR" sz="3225" b="1">
                <a:solidFill>
                  <a:srgbClr val="172033"/>
                </a:solidFill>
                <a:latin typeface="Nanum Gothic"/>
                <a:ea typeface="Nanum Gothic"/>
                <a:cs typeface="Nanum Gothic"/>
              </a:rPr>
              <a:t>완료를 판단할 근거까지 남깁니다</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637085"/>
                </a:solidFill>
                <a:latin typeface="Nanum Gothic"/>
                <a:ea typeface="Nanum Gothic"/>
                <a:cs typeface="Nanum Gothic"/>
              </a:rPr>
              <a:t>실행한 테스트와 별도 리뷰를 바탕으로 변경을 검토합니다</a:t>
            </a:r>
            <a:endParaRPr lang="ko-KR" sz="1875" b="0"/>
          </a:p>
        </p:txBody>
      </p:sp>
      <p:pic>
        <p:nvPicPr>
          <p:cNvPr id="4" name="ghcp-tests.png" descr="Actual local demo screenshot"/>
          <p:cNvPicPr>
            <a:picLocks noChangeAspect="1"/>
          </p:cNvPicPr>
          <p:nvPr/>
        </p:nvPicPr>
        <p:blipFill>
          <a:blip r:embed="rId3"/>
          <a:stretch>
            <a:fillRect/>
          </a:stretch>
        </p:blipFill>
        <p:spPr>
          <a:xfrm>
            <a:off x="742950" y="2093735"/>
            <a:ext cx="5219700" cy="2394304"/>
          </a:xfrm>
          <a:prstGeom prst="rect">
            <a:avLst/>
          </a:prstGeom>
        </p:spPr>
      </p:pic>
      <p:pic>
        <p:nvPicPr>
          <p:cNvPr id="5" name="ghcp-review.png" descr="Actual local demo screenshot"/>
          <p:cNvPicPr>
            <a:picLocks noChangeAspect="1"/>
          </p:cNvPicPr>
          <p:nvPr/>
        </p:nvPicPr>
        <p:blipFill>
          <a:blip r:embed="rId4"/>
          <a:stretch>
            <a:fillRect/>
          </a:stretch>
        </p:blipFill>
        <p:spPr>
          <a:xfrm>
            <a:off x="6238875" y="2095920"/>
            <a:ext cx="5210175" cy="2389935"/>
          </a:xfrm>
          <a:prstGeom prst="rect">
            <a:avLst/>
          </a:prstGeom>
        </p:spPr>
      </p:pic>
      <p:sp>
        <p:nvSpPr>
          <p:cNvPr id="6" name="Text 6"/>
          <p:cNvSpPr txBox="1"/>
          <p:nvPr/>
        </p:nvSpPr>
        <p:spPr>
          <a:xfrm>
            <a:off x="809625" y="4914900"/>
            <a:ext cx="3276600" cy="742950"/>
          </a:xfrm>
          <a:prstGeom prst="rect">
            <a:avLst/>
          </a:prstGeom>
          <a:noFill/>
          <a:ln>
            <a:noFill/>
          </a:ln>
        </p:spPr>
        <p:txBody>
          <a:bodyPr wrap="square" lIns="0" rIns="0" tIns="0" bIns="0" anchor="t">
            <a:noAutofit/>
          </a:bodyPr>
          <a:lstStyle/>
          <a:p>
            <a:pPr marL="0" marR="0" indent="0">
              <a:lnSpc>
                <a:spcPct val="125000"/>
              </a:lnSpc>
              <a:buNone/>
            </a:pPr>
            <a:r>
              <a:rPr lang="ko-KR" sz="4425" b="1">
                <a:solidFill>
                  <a:srgbClr val="19734A"/>
                </a:solidFill>
                <a:latin typeface="Nanum Gothic"/>
                <a:ea typeface="Nanum Gothic"/>
                <a:cs typeface="Nanum Gothic"/>
              </a:rPr>
              <a:t>12/12</a:t>
            </a:r>
            <a:endParaRPr lang="ko-KR" sz="4425" b="1"/>
          </a:p>
        </p:txBody>
      </p:sp>
      <p:sp>
        <p:nvSpPr>
          <p:cNvPr id="7" name="Text 7"/>
          <p:cNvSpPr txBox="1"/>
          <p:nvPr/>
        </p:nvSpPr>
        <p:spPr>
          <a:xfrm>
            <a:off x="4591050" y="4914900"/>
            <a:ext cx="3276600" cy="742950"/>
          </a:xfrm>
          <a:prstGeom prst="rect">
            <a:avLst/>
          </a:prstGeom>
          <a:noFill/>
          <a:ln>
            <a:noFill/>
          </a:ln>
        </p:spPr>
        <p:txBody>
          <a:bodyPr wrap="square" lIns="0" rIns="0" tIns="0" bIns="0" anchor="t">
            <a:noAutofit/>
          </a:bodyPr>
          <a:lstStyle/>
          <a:p>
            <a:pPr marL="0" marR="0" indent="0">
              <a:lnSpc>
                <a:spcPct val="125000"/>
              </a:lnSpc>
              <a:buNone/>
            </a:pPr>
            <a:r>
              <a:rPr lang="ko-KR" sz="4425" b="1">
                <a:solidFill>
                  <a:srgbClr val="19734A"/>
                </a:solidFill>
                <a:latin typeface="Nanum Gothic"/>
                <a:ea typeface="Nanum Gothic"/>
                <a:cs typeface="Nanum Gothic"/>
              </a:rPr>
              <a:t>20/20</a:t>
            </a:r>
            <a:endParaRPr lang="ko-KR" sz="4425" b="1"/>
          </a:p>
        </p:txBody>
      </p:sp>
      <p:sp>
        <p:nvSpPr>
          <p:cNvPr id="8" name="Text 8"/>
          <p:cNvSpPr txBox="1"/>
          <p:nvPr/>
        </p:nvSpPr>
        <p:spPr>
          <a:xfrm>
            <a:off x="8372475" y="5038725"/>
            <a:ext cx="3028950" cy="657225"/>
          </a:xfrm>
          <a:prstGeom prst="rect">
            <a:avLst/>
          </a:prstGeom>
          <a:noFill/>
          <a:ln>
            <a:noFill/>
          </a:ln>
        </p:spPr>
        <p:txBody>
          <a:bodyPr wrap="square" lIns="0" rIns="0" tIns="0" bIns="0" anchor="t">
            <a:noAutofit/>
          </a:bodyPr>
          <a:lstStyle/>
          <a:p>
            <a:pPr marL="0" marR="0" indent="0">
              <a:lnSpc>
                <a:spcPct val="125000"/>
              </a:lnSpc>
              <a:buNone/>
            </a:pPr>
            <a:r>
              <a:rPr lang="ko-KR" sz="3375" b="1">
                <a:solidFill>
                  <a:srgbClr val="7652C4"/>
                </a:solidFill>
                <a:latin typeface="Nanum Gothic"/>
                <a:ea typeface="Nanum Gothic"/>
                <a:cs typeface="Nanum Gothic"/>
              </a:rPr>
              <a:t>/review</a:t>
            </a:r>
            <a:endParaRPr lang="ko-KR" sz="3375" b="1"/>
          </a:p>
        </p:txBody>
      </p:sp>
      <p:sp>
        <p:nvSpPr>
          <p:cNvPr id="9" name="Text 9"/>
          <p:cNvSpPr txBox="1"/>
          <p:nvPr/>
        </p:nvSpPr>
        <p:spPr>
          <a:xfrm>
            <a:off x="819150" y="5886450"/>
            <a:ext cx="3257550" cy="371475"/>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637085"/>
                </a:solidFill>
                <a:latin typeface="Nanum Gothic"/>
                <a:ea typeface="Nanum Gothic"/>
                <a:cs typeface="Nanum Gothic"/>
              </a:rPr>
              <a:t>제품 회귀 테스트</a:t>
            </a:r>
            <a:endParaRPr lang="ko-KR" sz="1875" b="0"/>
          </a:p>
        </p:txBody>
      </p:sp>
      <p:sp>
        <p:nvSpPr>
          <p:cNvPr id="10" name="Text 10"/>
          <p:cNvSpPr txBox="1"/>
          <p:nvPr/>
        </p:nvSpPr>
        <p:spPr>
          <a:xfrm>
            <a:off x="4600575" y="5886450"/>
            <a:ext cx="3257550" cy="371475"/>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637085"/>
                </a:solidFill>
                <a:latin typeface="Nanum Gothic"/>
                <a:ea typeface="Nanum Gothic"/>
                <a:cs typeface="Nanum Gothic"/>
              </a:rPr>
              <a:t>독립 인수 테스트</a:t>
            </a:r>
            <a:endParaRPr lang="ko-KR" sz="1875" b="0"/>
          </a:p>
        </p:txBody>
      </p:sp>
      <p:sp>
        <p:nvSpPr>
          <p:cNvPr id="11" name="Text 11"/>
          <p:cNvSpPr txBox="1"/>
          <p:nvPr/>
        </p:nvSpPr>
        <p:spPr>
          <a:xfrm>
            <a:off x="8382000" y="5886450"/>
            <a:ext cx="3028950" cy="371475"/>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637085"/>
                </a:solidFill>
                <a:latin typeface="Nanum Gothic"/>
                <a:ea typeface="Nanum Gothic"/>
                <a:cs typeface="Nanum Gothic"/>
              </a:rPr>
              <a:t>변경 위험 재검토</a:t>
            </a:r>
            <a:endParaRPr lang="ko-KR" sz="1875" b="0"/>
          </a:p>
        </p:txBody>
      </p:sp>
      <p:sp>
        <p:nvSpPr>
          <p:cNvPr id="12" name="Text 12"/>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A95A8"/>
                </a:solidFill>
                <a:latin typeface="Nanum Gothic"/>
                <a:ea typeface="Nanum Gothic"/>
                <a:cs typeface="Nanum Gothic"/>
              </a:rPr>
              <a:t>9</a:t>
            </a:r>
            <a:endParaRPr lang="ko-KR" sz="1050" b="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이미 쓰는 GitHub를 팀의 AI 개발 기반으로">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rIns="0" tIns="0" bIns="0" anchor="t">
            <a:noAutofit/>
          </a:bodyPr>
          <a:lstStyle/>
          <a:p>
            <a:pPr marL="0" marR="0" indent="0">
              <a:lnSpc>
                <a:spcPct val="125000"/>
              </a:lnSpc>
              <a:buNone/>
            </a:pPr>
            <a:r>
              <a:rPr lang="ko-KR" sz="3225" b="1">
                <a:solidFill>
                  <a:srgbClr val="172033"/>
                </a:solidFill>
                <a:latin typeface="Nanum Gothic"/>
                <a:ea typeface="Nanum Gothic"/>
                <a:cs typeface="Nanum Gothic"/>
              </a:rPr>
              <a:t>이미 쓰는 GitHub를 팀의 AI 개발 기반으로</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637085"/>
                </a:solidFill>
                <a:latin typeface="Nanum Gothic"/>
                <a:ea typeface="Nanum Gothic"/>
                <a:cs typeface="Nanum Gothic"/>
              </a:rPr>
              <a:t>개인의 도구 사용을 넘어 팀의 기준과 개발 흐름에 연결합니다</a:t>
            </a:r>
            <a:endParaRPr lang="ko-KR" sz="1875" b="0"/>
          </a:p>
        </p:txBody>
      </p:sp>
      <p:sp>
        <p:nvSpPr>
          <p:cNvPr id="4" name="Text 4"/>
          <p:cNvSpPr txBox="1"/>
          <p:nvPr/>
        </p:nvSpPr>
        <p:spPr>
          <a:xfrm>
            <a:off x="800100" y="2190750"/>
            <a:ext cx="3810000" cy="438150"/>
          </a:xfrm>
          <a:prstGeom prst="rect">
            <a:avLst/>
          </a:prstGeom>
          <a:noFill/>
          <a:ln>
            <a:noFill/>
          </a:ln>
        </p:spPr>
        <p:txBody>
          <a:bodyPr wrap="square" lIns="0" rIns="0" tIns="0" bIns="0" anchor="t">
            <a:noAutofit/>
          </a:bodyPr>
          <a:lstStyle/>
          <a:p>
            <a:pPr marL="0" marR="0" indent="0">
              <a:lnSpc>
                <a:spcPct val="125000"/>
              </a:lnSpc>
              <a:buNone/>
            </a:pPr>
            <a:r>
              <a:rPr lang="ko-KR" sz="2400" b="1">
                <a:solidFill>
                  <a:srgbClr val="7652C4"/>
                </a:solidFill>
                <a:latin typeface="Nanum Gothic"/>
                <a:ea typeface="Nanum Gothic"/>
                <a:cs typeface="Nanum Gothic"/>
              </a:rPr>
              <a:t>팀의 개발 기준</a:t>
            </a:r>
            <a:endParaRPr lang="ko-KR" sz="2400" b="1"/>
          </a:p>
        </p:txBody>
      </p:sp>
      <p:sp>
        <p:nvSpPr>
          <p:cNvPr id="5" name="Text 5"/>
          <p:cNvSpPr txBox="1"/>
          <p:nvPr/>
        </p:nvSpPr>
        <p:spPr>
          <a:xfrm>
            <a:off x="4914900" y="2171700"/>
            <a:ext cx="6515100" cy="952500"/>
          </a:xfrm>
          <a:prstGeom prst="rect">
            <a:avLst/>
          </a:prstGeom>
          <a:noFill/>
          <a:ln>
            <a:noFill/>
          </a:ln>
        </p:spPr>
        <p:txBody>
          <a:bodyPr wrap="square" lIns="0" rIns="0" tIns="0" bIns="0" anchor="t">
            <a:noAutofit/>
          </a:bodyPr>
          <a:lstStyle/>
          <a:p>
            <a:pPr marL="0" marR="0" indent="0">
              <a:lnSpc>
                <a:spcPct val="125000"/>
              </a:lnSpc>
              <a:buNone/>
            </a:pPr>
            <a:r>
              <a:rPr lang="ko-KR" sz="2175" b="0">
                <a:solidFill>
                  <a:srgbClr val="172033"/>
                </a:solidFill>
                <a:latin typeface="Nanum Gothic"/>
                <a:ea typeface="Nanum Gothic"/>
                <a:cs typeface="Nanum Gothic"/>
              </a:rPr>
              <a:t>저장소 지침과 역할별 에이전트로</a:t>
            </a:r>
            <a:endParaRPr lang="ko-KR" sz="2175" b="0"/>
          </a:p>
          <a:p>
            <a:pPr marL="0" marR="0" indent="0">
              <a:lnSpc>
                <a:spcPct val="125000"/>
              </a:lnSpc>
              <a:buNone/>
            </a:pPr>
            <a:r>
              <a:rPr lang="ko-KR" sz="2175" b="0">
                <a:solidFill>
                  <a:srgbClr val="172033"/>
                </a:solidFill>
                <a:latin typeface="Nanum Gothic"/>
                <a:ea typeface="Nanum Gothic"/>
                <a:cs typeface="Nanum Gothic"/>
              </a:rPr>
              <a:t>반복되는 맥락과 작업 방식을 공유</a:t>
            </a:r>
            <a:endParaRPr lang="ko-KR" sz="2175" b="0"/>
          </a:p>
        </p:txBody>
      </p:sp>
      <p:cxnSp>
        <p:nvCxnSpPr>
          <p:cNvPr id="6" name="Handoff 6"/>
          <p:cNvCxnSpPr/>
          <p:nvPr/>
        </p:nvCxnSpPr>
        <p:spPr>
          <a:xfrm>
            <a:off x="790575" y="3390900"/>
            <a:ext cx="10610850" cy="0"/>
          </a:xfrm>
          <a:prstGeom prst="line">
            <a:avLst/>
          </a:prstGeom>
          <a:ln w="19050">
            <a:solidFill>
              <a:srgbClr val="D8DFEB"/>
            </a:solidFill>
          </a:ln>
        </p:spPr>
      </p:cxnSp>
      <p:sp>
        <p:nvSpPr>
          <p:cNvPr id="7" name="Text 7"/>
          <p:cNvSpPr txBox="1"/>
          <p:nvPr/>
        </p:nvSpPr>
        <p:spPr>
          <a:xfrm>
            <a:off x="800100" y="3705225"/>
            <a:ext cx="3810000" cy="438150"/>
          </a:xfrm>
          <a:prstGeom prst="rect">
            <a:avLst/>
          </a:prstGeom>
          <a:noFill/>
          <a:ln>
            <a:noFill/>
          </a:ln>
        </p:spPr>
        <p:txBody>
          <a:bodyPr wrap="square" lIns="0" rIns="0" tIns="0" bIns="0" anchor="t">
            <a:noAutofit/>
          </a:bodyPr>
          <a:lstStyle/>
          <a:p>
            <a:pPr marL="0" marR="0" indent="0">
              <a:lnSpc>
                <a:spcPct val="125000"/>
              </a:lnSpc>
              <a:buNone/>
            </a:pPr>
            <a:r>
              <a:rPr lang="ko-KR" sz="2400" b="1">
                <a:solidFill>
                  <a:srgbClr val="7652C4"/>
                </a:solidFill>
                <a:latin typeface="Nanum Gothic"/>
                <a:ea typeface="Nanum Gothic"/>
                <a:cs typeface="Nanum Gothic"/>
              </a:rPr>
              <a:t>조직의 관리 기준</a:t>
            </a:r>
            <a:endParaRPr lang="ko-KR" sz="2400" b="1"/>
          </a:p>
        </p:txBody>
      </p:sp>
      <p:sp>
        <p:nvSpPr>
          <p:cNvPr id="8" name="Text 8"/>
          <p:cNvSpPr txBox="1"/>
          <p:nvPr/>
        </p:nvSpPr>
        <p:spPr>
          <a:xfrm>
            <a:off x="4914900" y="3667125"/>
            <a:ext cx="6515100" cy="971550"/>
          </a:xfrm>
          <a:prstGeom prst="rect">
            <a:avLst/>
          </a:prstGeom>
          <a:noFill/>
          <a:ln>
            <a:noFill/>
          </a:ln>
        </p:spPr>
        <p:txBody>
          <a:bodyPr wrap="square" lIns="0" rIns="0" tIns="0" bIns="0" anchor="t">
            <a:noAutofit/>
          </a:bodyPr>
          <a:lstStyle/>
          <a:p>
            <a:pPr marL="0" marR="0" indent="0">
              <a:lnSpc>
                <a:spcPct val="125000"/>
              </a:lnSpc>
              <a:buNone/>
            </a:pPr>
            <a:r>
              <a:rPr lang="ko-KR" sz="2175" b="0">
                <a:solidFill>
                  <a:srgbClr val="172033"/>
                </a:solidFill>
                <a:latin typeface="Nanum Gothic"/>
                <a:ea typeface="Nanum Gothic"/>
                <a:cs typeface="Nanum Gothic"/>
              </a:rPr>
              <a:t>허용할 기능·모델을 조직 정책으로 관리</a:t>
            </a:r>
            <a:endParaRPr lang="ko-KR" sz="2175" b="0"/>
          </a:p>
          <a:p>
            <a:pPr marL="0" marR="0" indent="0">
              <a:lnSpc>
                <a:spcPct val="125000"/>
              </a:lnSpc>
              <a:buNone/>
            </a:pPr>
            <a:r>
              <a:rPr lang="ko-KR" sz="2175" b="0">
                <a:solidFill>
                  <a:srgbClr val="172033"/>
                </a:solidFill>
                <a:latin typeface="Nanum Gothic"/>
                <a:ea typeface="Nanum Gothic"/>
                <a:cs typeface="Nanum Gothic"/>
              </a:rPr>
              <a:t>제품·플랜별 적용 범위 확인</a:t>
            </a:r>
            <a:endParaRPr lang="ko-KR" sz="2175" b="0"/>
          </a:p>
        </p:txBody>
      </p:sp>
      <p:cxnSp>
        <p:nvCxnSpPr>
          <p:cNvPr id="9" name="Handoff 9"/>
          <p:cNvCxnSpPr/>
          <p:nvPr/>
        </p:nvCxnSpPr>
        <p:spPr>
          <a:xfrm>
            <a:off x="790575" y="4895850"/>
            <a:ext cx="10610850" cy="0"/>
          </a:xfrm>
          <a:prstGeom prst="line">
            <a:avLst/>
          </a:prstGeom>
          <a:ln w="19050">
            <a:solidFill>
              <a:srgbClr val="D8DFEB"/>
            </a:solidFill>
          </a:ln>
        </p:spPr>
      </p:cxnSp>
      <p:sp>
        <p:nvSpPr>
          <p:cNvPr id="10" name="Text 10"/>
          <p:cNvSpPr txBox="1"/>
          <p:nvPr/>
        </p:nvSpPr>
        <p:spPr>
          <a:xfrm>
            <a:off x="800100" y="5219700"/>
            <a:ext cx="3810000" cy="438150"/>
          </a:xfrm>
          <a:prstGeom prst="rect">
            <a:avLst/>
          </a:prstGeom>
          <a:noFill/>
          <a:ln>
            <a:noFill/>
          </a:ln>
        </p:spPr>
        <p:txBody>
          <a:bodyPr wrap="square" lIns="0" rIns="0" tIns="0" bIns="0" anchor="t">
            <a:noAutofit/>
          </a:bodyPr>
          <a:lstStyle/>
          <a:p>
            <a:pPr marL="0" marR="0" indent="0">
              <a:lnSpc>
                <a:spcPct val="125000"/>
              </a:lnSpc>
              <a:buNone/>
            </a:pPr>
            <a:r>
              <a:rPr lang="ko-KR" sz="2400" b="1">
                <a:solidFill>
                  <a:srgbClr val="7652C4"/>
                </a:solidFill>
                <a:latin typeface="Nanum Gothic"/>
                <a:ea typeface="Nanum Gothic"/>
                <a:cs typeface="Nanum Gothic"/>
              </a:rPr>
              <a:t>기존 개발 흐름</a:t>
            </a:r>
            <a:endParaRPr lang="ko-KR" sz="2400" b="1"/>
          </a:p>
        </p:txBody>
      </p:sp>
      <p:sp>
        <p:nvSpPr>
          <p:cNvPr id="11" name="Text 11"/>
          <p:cNvSpPr txBox="1"/>
          <p:nvPr/>
        </p:nvSpPr>
        <p:spPr>
          <a:xfrm>
            <a:off x="4914900" y="5191125"/>
            <a:ext cx="6515100" cy="1009650"/>
          </a:xfrm>
          <a:prstGeom prst="rect">
            <a:avLst/>
          </a:prstGeom>
          <a:noFill/>
          <a:ln>
            <a:noFill/>
          </a:ln>
        </p:spPr>
        <p:txBody>
          <a:bodyPr wrap="square" lIns="0" rIns="0" tIns="0" bIns="0" anchor="t">
            <a:noAutofit/>
          </a:bodyPr>
          <a:lstStyle/>
          <a:p>
            <a:pPr marL="0" marR="0" indent="0">
              <a:lnSpc>
                <a:spcPct val="125000"/>
              </a:lnSpc>
              <a:buNone/>
            </a:pPr>
            <a:r>
              <a:rPr lang="ko-KR" sz="2175" b="0">
                <a:solidFill>
                  <a:srgbClr val="172033"/>
                </a:solidFill>
                <a:latin typeface="Nanum Gothic"/>
                <a:ea typeface="Nanum Gothic"/>
                <a:cs typeface="Nanum Gothic"/>
              </a:rPr>
              <a:t>저장소·PR·리뷰·Actions로 연결 가능</a:t>
            </a:r>
            <a:endParaRPr lang="ko-KR" sz="2175" b="0"/>
          </a:p>
          <a:p>
            <a:pPr marL="0" marR="0" indent="0">
              <a:lnSpc>
                <a:spcPct val="125000"/>
              </a:lnSpc>
              <a:buNone/>
            </a:pPr>
            <a:r>
              <a:rPr lang="ko-KR" sz="2175" b="0">
                <a:solidFill>
                  <a:srgbClr val="172033"/>
                </a:solidFill>
                <a:latin typeface="Nanum Gothic"/>
                <a:ea typeface="Nanum Gothic"/>
                <a:cs typeface="Nanum Gothic"/>
              </a:rPr>
              <a:t>이번 시연은 로컬 구현·검증·리뷰까지</a:t>
            </a:r>
            <a:endParaRPr lang="ko-KR" sz="2175" b="0"/>
          </a:p>
        </p:txBody>
      </p:sp>
      <p:sp>
        <p:nvSpPr>
          <p:cNvPr id="12" name="Text 12"/>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A95A8"/>
                </a:solidFill>
                <a:latin typeface="Nanum Gothic"/>
                <a:ea typeface="Nanum Gothic"/>
                <a:cs typeface="Nanum Gothic"/>
              </a:rPr>
              <a:t>10</a:t>
            </a:r>
            <a:endParaRPr lang="ko-KR" sz="1050" b="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CXO의 질문에 실행 결과로 답합니다">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rIns="0" tIns="0" bIns="0" anchor="t">
            <a:noAutofit/>
          </a:bodyPr>
          <a:lstStyle/>
          <a:p>
            <a:pPr marL="0" marR="0" indent="0">
              <a:lnSpc>
                <a:spcPct val="125000"/>
              </a:lnSpc>
              <a:buNone/>
            </a:pPr>
            <a:r>
              <a:rPr lang="ko-KR" sz="3225" b="1">
                <a:solidFill>
                  <a:srgbClr val="172033"/>
                </a:solidFill>
                <a:latin typeface="Nanum Gothic"/>
                <a:ea typeface="Nanum Gothic"/>
                <a:cs typeface="Nanum Gothic"/>
              </a:rPr>
              <a:t>CXO의 질문에 실행 결과로 답합니다</a:t>
            </a:r>
            <a:endParaRPr lang="ko-KR" sz="3225" b="1"/>
          </a:p>
        </p:txBody>
      </p:sp>
      <p:graphicFrame>
        <p:nvGraphicFramePr>
          <p:cNvPr id="3" name="Concept comparison"/>
          <p:cNvGraphicFramePr/>
          <p:nvPr/>
        </p:nvGraphicFramePr>
        <p:xfrm>
          <a:off x="742950" y="1781175"/>
          <a:ext cx="10706100" cy="3714750"/>
        </p:xfrm>
        <a:graphic>
          <a:graphicData uri="http://schemas.openxmlformats.org/drawingml/2006/table">
            <a:tbl>
              <a:tblPr firstRow="1" bandRow="0"/>
              <a:tblGrid>
                <a:gridCol w="3333750"/>
                <a:gridCol w="3848100"/>
                <a:gridCol w="3524250"/>
              </a:tblGrid>
              <a:tr h="742950">
                <a:tc>
                  <a:txBody>
                    <a:bodyPr wrap="square"/>
                    <a:lstStyle/>
                    <a:p>
                      <a:pPr marL="0" marR="0" indent="0">
                        <a:lnSpc>
                          <a:spcPct val="125000"/>
                        </a:lnSpc>
                        <a:buNone/>
                      </a:pPr>
                      <a:r>
                        <a:rPr lang="ko-KR" sz="1875" b="1">
                          <a:solidFill>
                            <a:srgbClr val="FFFFFF"/>
                          </a:solidFill>
                          <a:latin typeface="Nanum Gothic"/>
                          <a:ea typeface="Nanum Gothic"/>
                          <a:cs typeface="Nanum Gothic"/>
                        </a:rPr>
                        <a:t>경영 관점</a:t>
                      </a:r>
                      <a:endParaRPr lang="ko-KR" sz="1875" b="1"/>
                    </a:p>
                  </a:txBody>
                  <a:tcPr marL="190500" marR="152400" marT="152400" marB="95250" anchor="ctr">
                    <a:solidFill>
                      <a:srgbClr val="584185"/>
                    </a:solidFill>
                  </a:tcPr>
                </a:tc>
                <a:tc>
                  <a:txBody>
                    <a:bodyPr wrap="square"/>
                    <a:lstStyle/>
                    <a:p>
                      <a:pPr marL="0" marR="0" indent="0">
                        <a:lnSpc>
                          <a:spcPct val="125000"/>
                        </a:lnSpc>
                        <a:buNone/>
                      </a:pPr>
                      <a:r>
                        <a:rPr lang="ko-KR" sz="1875" b="1">
                          <a:solidFill>
                            <a:srgbClr val="FFFFFF"/>
                          </a:solidFill>
                          <a:latin typeface="Nanum Gothic"/>
                          <a:ea typeface="Nanum Gothic"/>
                          <a:cs typeface="Nanum Gothic"/>
                        </a:rPr>
                        <a:t>GitHub Copilot의 역할</a:t>
                      </a:r>
                      <a:endParaRPr lang="ko-KR" sz="1875" b="1"/>
                    </a:p>
                  </a:txBody>
                  <a:tcPr marL="190500" marR="152400" marT="152400" marB="95250" anchor="ctr">
                    <a:solidFill>
                      <a:srgbClr val="584185"/>
                    </a:solidFill>
                  </a:tcPr>
                </a:tc>
                <a:tc>
                  <a:txBody>
                    <a:bodyPr wrap="square"/>
                    <a:lstStyle/>
                    <a:p>
                      <a:pPr marL="0" marR="0" indent="0">
                        <a:lnSpc>
                          <a:spcPct val="125000"/>
                        </a:lnSpc>
                        <a:buNone/>
                      </a:pPr>
                      <a:r>
                        <a:rPr lang="ko-KR" sz="1875" b="1">
                          <a:solidFill>
                            <a:srgbClr val="FFFFFF"/>
                          </a:solidFill>
                          <a:latin typeface="Nanum Gothic"/>
                          <a:ea typeface="Nanum Gothic"/>
                          <a:cs typeface="Nanum Gothic"/>
                        </a:rPr>
                        <a:t>이번에 확인한 근거</a:t>
                      </a:r>
                      <a:endParaRPr lang="ko-KR" sz="1875" b="1"/>
                    </a:p>
                  </a:txBody>
                  <a:tcPr marL="190500" marR="152400" marT="152400" marB="95250" anchor="ctr">
                    <a:solidFill>
                      <a:srgbClr val="584185"/>
                    </a:solidFill>
                  </a:tcPr>
                </a:tc>
              </a:tr>
              <a:tr h="742950">
                <a:tc>
                  <a:txBody>
                    <a:bodyPr wrap="square"/>
                    <a:lstStyle/>
                    <a:p>
                      <a:pPr marL="0" marR="0" indent="0">
                        <a:lnSpc>
                          <a:spcPct val="125000"/>
                        </a:lnSpc>
                        <a:buNone/>
                      </a:pPr>
                      <a:r>
                        <a:rPr lang="ko-KR" sz="1800" b="0">
                          <a:solidFill>
                            <a:srgbClr val="172033"/>
                          </a:solidFill>
                          <a:latin typeface="Nanum Gothic"/>
                          <a:ea typeface="Nanum Gothic"/>
                          <a:cs typeface="Nanum Gothic"/>
                        </a:rPr>
                        <a:t>변화에 대응하는 속도</a:t>
                      </a:r>
                      <a:endParaRPr lang="ko-KR" sz="1800" b="0"/>
                    </a:p>
                  </a:txBody>
                  <a:tcPr marL="190500" marR="152400" marT="152400" marB="95250" anchor="ctr">
                    <a:solidFill>
                      <a:srgbClr val="FFFFFF"/>
                    </a:solidFill>
                  </a:tcPr>
                </a:tc>
                <a:tc>
                  <a:txBody>
                    <a:bodyPr wrap="square"/>
                    <a:lstStyle/>
                    <a:p>
                      <a:pPr marL="0" marR="0" indent="0">
                        <a:lnSpc>
                          <a:spcPct val="125000"/>
                        </a:lnSpc>
                        <a:buNone/>
                      </a:pPr>
                      <a:r>
                        <a:rPr lang="ko-KR" sz="1800" b="0">
                          <a:solidFill>
                            <a:srgbClr val="172033"/>
                          </a:solidFill>
                          <a:latin typeface="Nanum Gothic"/>
                          <a:ea typeface="Nanum Gothic"/>
                          <a:cs typeface="Nanum Gothic"/>
                        </a:rPr>
                        <a:t>요청을 계획과 구현으로 연결</a:t>
                      </a:r>
                      <a:endParaRPr lang="ko-KR" sz="1800" b="0"/>
                    </a:p>
                  </a:txBody>
                  <a:tcPr marL="190500" marR="152400" marT="152400" marB="95250" anchor="ctr">
                    <a:solidFill>
                      <a:srgbClr val="FFFFFF"/>
                    </a:solidFill>
                  </a:tcPr>
                </a:tc>
                <a:tc>
                  <a:txBody>
                    <a:bodyPr wrap="square"/>
                    <a:lstStyle/>
                    <a:p>
                      <a:pPr marL="0" marR="0" indent="0">
                        <a:lnSpc>
                          <a:spcPct val="125000"/>
                        </a:lnSpc>
                        <a:buNone/>
                      </a:pPr>
                      <a:r>
                        <a:rPr lang="ko-KR" sz="1800" b="0">
                          <a:solidFill>
                            <a:srgbClr val="172033"/>
                          </a:solidFill>
                          <a:latin typeface="Nanum Gothic"/>
                          <a:ea typeface="Nanum Gothic"/>
                          <a:cs typeface="Nanum Gothic"/>
                        </a:rPr>
                        <a:t>여러 파일의 실제 변경</a:t>
                      </a:r>
                      <a:endParaRPr lang="ko-KR" sz="1800" b="0"/>
                    </a:p>
                  </a:txBody>
                  <a:tcPr marL="190500" marR="152400" marT="152400" marB="95250" anchor="ctr">
                    <a:solidFill>
                      <a:srgbClr val="FFFFFF"/>
                    </a:solidFill>
                  </a:tcPr>
                </a:tc>
              </a:tr>
              <a:tr h="742950">
                <a:tc>
                  <a:txBody>
                    <a:bodyPr wrap="square"/>
                    <a:lstStyle/>
                    <a:p>
                      <a:pPr marL="0" marR="0" indent="0">
                        <a:lnSpc>
                          <a:spcPct val="125000"/>
                        </a:lnSpc>
                        <a:buNone/>
                      </a:pPr>
                      <a:r>
                        <a:rPr lang="ko-KR" sz="1800" b="0">
                          <a:solidFill>
                            <a:srgbClr val="172033"/>
                          </a:solidFill>
                          <a:latin typeface="Nanum Gothic"/>
                          <a:ea typeface="Nanum Gothic"/>
                          <a:cs typeface="Nanum Gothic"/>
                        </a:rPr>
                        <a:t>변경 품질의 확인</a:t>
                      </a:r>
                      <a:endParaRPr lang="ko-KR" sz="1800" b="0"/>
                    </a:p>
                  </a:txBody>
                  <a:tcPr marL="190500" marR="152400" marT="152400" marB="95250" anchor="ctr">
                    <a:solidFill>
                      <a:srgbClr val="EEEAF7"/>
                    </a:solidFill>
                  </a:tcPr>
                </a:tc>
                <a:tc>
                  <a:txBody>
                    <a:bodyPr wrap="square"/>
                    <a:lstStyle/>
                    <a:p>
                      <a:pPr marL="0" marR="0" indent="0">
                        <a:lnSpc>
                          <a:spcPct val="125000"/>
                        </a:lnSpc>
                        <a:buNone/>
                      </a:pPr>
                      <a:r>
                        <a:rPr lang="ko-KR" sz="1800" b="0">
                          <a:solidFill>
                            <a:srgbClr val="172033"/>
                          </a:solidFill>
                          <a:latin typeface="Nanum Gothic"/>
                          <a:ea typeface="Nanum Gothic"/>
                          <a:cs typeface="Nanum Gothic"/>
                        </a:rPr>
                        <a:t>검증 실행과 리뷰 지원</a:t>
                      </a:r>
                      <a:endParaRPr lang="ko-KR" sz="1800" b="0"/>
                    </a:p>
                  </a:txBody>
                  <a:tcPr marL="190500" marR="152400" marT="152400" marB="95250" anchor="ctr">
                    <a:solidFill>
                      <a:srgbClr val="EEEAF7"/>
                    </a:solidFill>
                  </a:tcPr>
                </a:tc>
                <a:tc>
                  <a:txBody>
                    <a:bodyPr wrap="square"/>
                    <a:lstStyle/>
                    <a:p>
                      <a:pPr marL="0" marR="0" indent="0">
                        <a:lnSpc>
                          <a:spcPct val="125000"/>
                        </a:lnSpc>
                        <a:buNone/>
                      </a:pPr>
                      <a:r>
                        <a:rPr lang="ko-KR" sz="1800" b="0">
                          <a:solidFill>
                            <a:srgbClr val="172033"/>
                          </a:solidFill>
                          <a:latin typeface="Nanum Gothic"/>
                          <a:ea typeface="Nanum Gothic"/>
                          <a:cs typeface="Nanum Gothic"/>
                        </a:rPr>
                        <a:t>테스트 결과와 리뷰 기록</a:t>
                      </a:r>
                      <a:endParaRPr lang="ko-KR" sz="1800" b="0"/>
                    </a:p>
                  </a:txBody>
                  <a:tcPr marL="190500" marR="152400" marT="152400" marB="95250" anchor="ctr">
                    <a:solidFill>
                      <a:srgbClr val="EEEAF7"/>
                    </a:solidFill>
                  </a:tcPr>
                </a:tc>
              </a:tr>
              <a:tr h="742950">
                <a:tc>
                  <a:txBody>
                    <a:bodyPr wrap="square"/>
                    <a:lstStyle/>
                    <a:p>
                      <a:pPr marL="0" marR="0" indent="0">
                        <a:lnSpc>
                          <a:spcPct val="125000"/>
                        </a:lnSpc>
                        <a:buNone/>
                      </a:pPr>
                      <a:r>
                        <a:rPr lang="ko-KR" sz="1800" b="0">
                          <a:solidFill>
                            <a:srgbClr val="172033"/>
                          </a:solidFill>
                          <a:latin typeface="Nanum Gothic"/>
                          <a:ea typeface="Nanum Gothic"/>
                          <a:cs typeface="Nanum Gothic"/>
                        </a:rPr>
                        <a:t>실행의 통제 가능성</a:t>
                      </a:r>
                      <a:endParaRPr lang="ko-KR" sz="1800" b="0"/>
                    </a:p>
                  </a:txBody>
                  <a:tcPr marL="190500" marR="152400" marT="152400" marB="95250" anchor="ctr">
                    <a:solidFill>
                      <a:srgbClr val="FFFFFF"/>
                    </a:solidFill>
                  </a:tcPr>
                </a:tc>
                <a:tc>
                  <a:txBody>
                    <a:bodyPr wrap="square"/>
                    <a:lstStyle/>
                    <a:p>
                      <a:pPr marL="0" marR="0" indent="0">
                        <a:lnSpc>
                          <a:spcPct val="125000"/>
                        </a:lnSpc>
                        <a:buNone/>
                      </a:pPr>
                      <a:r>
                        <a:rPr lang="ko-KR" sz="1800" b="0">
                          <a:solidFill>
                            <a:srgbClr val="172033"/>
                          </a:solidFill>
                          <a:latin typeface="Nanum Gothic"/>
                          <a:ea typeface="Nanum Gothic"/>
                          <a:cs typeface="Nanum Gothic"/>
                        </a:rPr>
                        <a:t>도구 권한의 사용자 승인</a:t>
                      </a:r>
                      <a:endParaRPr lang="ko-KR" sz="1800" b="0"/>
                    </a:p>
                  </a:txBody>
                  <a:tcPr marL="190500" marR="152400" marT="152400" marB="95250" anchor="ctr">
                    <a:solidFill>
                      <a:srgbClr val="FFFFFF"/>
                    </a:solidFill>
                  </a:tcPr>
                </a:tc>
                <a:tc>
                  <a:txBody>
                    <a:bodyPr wrap="square"/>
                    <a:lstStyle/>
                    <a:p>
                      <a:pPr marL="0" marR="0" indent="0">
                        <a:lnSpc>
                          <a:spcPct val="125000"/>
                        </a:lnSpc>
                        <a:buNone/>
                      </a:pPr>
                      <a:r>
                        <a:rPr lang="ko-KR" sz="1800" b="0">
                          <a:solidFill>
                            <a:srgbClr val="172033"/>
                          </a:solidFill>
                          <a:latin typeface="Nanum Gothic"/>
                          <a:ea typeface="Nanum Gothic"/>
                          <a:cs typeface="Nanum Gothic"/>
                        </a:rPr>
                        <a:t>네이티브 승인 화면</a:t>
                      </a:r>
                      <a:endParaRPr lang="ko-KR" sz="1800" b="0"/>
                    </a:p>
                  </a:txBody>
                  <a:tcPr marL="190500" marR="152400" marT="152400" marB="95250" anchor="ctr">
                    <a:solidFill>
                      <a:srgbClr val="FFFFFF"/>
                    </a:solidFill>
                  </a:tcPr>
                </a:tc>
              </a:tr>
              <a:tr h="742950">
                <a:tc>
                  <a:txBody>
                    <a:bodyPr wrap="square"/>
                    <a:lstStyle/>
                    <a:p>
                      <a:pPr marL="0" marR="0" indent="0">
                        <a:lnSpc>
                          <a:spcPct val="125000"/>
                        </a:lnSpc>
                        <a:buNone/>
                      </a:pPr>
                      <a:r>
                        <a:rPr lang="ko-KR" sz="1800" b="0">
                          <a:solidFill>
                            <a:srgbClr val="172033"/>
                          </a:solidFill>
                          <a:latin typeface="Nanum Gothic"/>
                          <a:ea typeface="Nanum Gothic"/>
                          <a:cs typeface="Nanum Gothic"/>
                        </a:rPr>
                        <a:t>조직으로의 확장</a:t>
                      </a:r>
                      <a:endParaRPr lang="ko-KR" sz="1800" b="0"/>
                    </a:p>
                  </a:txBody>
                  <a:tcPr marL="190500" marR="152400" marT="152400" marB="95250" anchor="ctr">
                    <a:solidFill>
                      <a:srgbClr val="EEEAF7"/>
                    </a:solidFill>
                  </a:tcPr>
                </a:tc>
                <a:tc>
                  <a:txBody>
                    <a:bodyPr wrap="square"/>
                    <a:lstStyle/>
                    <a:p>
                      <a:pPr marL="0" marR="0" indent="0">
                        <a:lnSpc>
                          <a:spcPct val="125000"/>
                        </a:lnSpc>
                        <a:buNone/>
                      </a:pPr>
                      <a:r>
                        <a:rPr lang="ko-KR" sz="1800" b="0">
                          <a:solidFill>
                            <a:srgbClr val="172033"/>
                          </a:solidFill>
                          <a:latin typeface="Nanum Gothic"/>
                          <a:ea typeface="Nanum Gothic"/>
                          <a:cs typeface="Nanum Gothic"/>
                        </a:rPr>
                        <a:t>저장소 지침과 개발 흐름 활용</a:t>
                      </a:r>
                      <a:endParaRPr lang="ko-KR" sz="1800" b="0"/>
                    </a:p>
                  </a:txBody>
                  <a:tcPr marL="190500" marR="152400" marT="152400" marB="95250" anchor="ctr">
                    <a:solidFill>
                      <a:srgbClr val="EEEAF7"/>
                    </a:solidFill>
                  </a:tcPr>
                </a:tc>
                <a:tc>
                  <a:txBody>
                    <a:bodyPr wrap="square"/>
                    <a:lstStyle/>
                    <a:p>
                      <a:pPr marL="0" marR="0" indent="0">
                        <a:lnSpc>
                          <a:spcPct val="125000"/>
                        </a:lnSpc>
                        <a:buNone/>
                      </a:pPr>
                      <a:r>
                        <a:rPr lang="ko-KR" sz="1800" b="0">
                          <a:solidFill>
                            <a:srgbClr val="172033"/>
                          </a:solidFill>
                          <a:latin typeface="Nanum Gothic"/>
                          <a:ea typeface="Nanum Gothic"/>
                          <a:cs typeface="Nanum Gothic"/>
                        </a:rPr>
                        <a:t>재사용 가능한 실행 경로</a:t>
                      </a:r>
                      <a:endParaRPr lang="ko-KR" sz="1800" b="0"/>
                    </a:p>
                  </a:txBody>
                  <a:tcPr marL="190500" marR="152400" marT="152400" marB="95250" anchor="ctr">
                    <a:solidFill>
                      <a:srgbClr val="EEEAF7"/>
                    </a:solidFill>
                  </a:tcPr>
                </a:tc>
              </a:tr>
            </a:tbl>
          </a:graphicData>
        </a:graphic>
      </p:graphicFrame>
      <p:sp>
        <p:nvSpPr>
          <p:cNvPr id="4" name="Text 4"/>
          <p:cNvSpPr txBox="1"/>
          <p:nvPr/>
        </p:nvSpPr>
        <p:spPr>
          <a:xfrm>
            <a:off x="790575" y="5895975"/>
            <a:ext cx="10572750" cy="457200"/>
          </a:xfrm>
          <a:prstGeom prst="rect">
            <a:avLst/>
          </a:prstGeom>
          <a:noFill/>
          <a:ln>
            <a:noFill/>
          </a:ln>
        </p:spPr>
        <p:txBody>
          <a:bodyPr wrap="square" lIns="0" rIns="0" tIns="0" bIns="0" anchor="t">
            <a:noAutofit/>
          </a:bodyPr>
          <a:lstStyle/>
          <a:p>
            <a:pPr marL="0" marR="0" indent="0">
              <a:lnSpc>
                <a:spcPct val="125000"/>
              </a:lnSpc>
              <a:buNone/>
            </a:pPr>
            <a:r>
              <a:rPr lang="ko-KR" sz="2175" b="1">
                <a:solidFill>
                  <a:srgbClr val="7652C4"/>
                </a:solidFill>
                <a:latin typeface="Nanum Gothic"/>
                <a:ea typeface="Nanum Gothic"/>
                <a:cs typeface="Nanum Gothic"/>
              </a:rPr>
              <a:t>ROI는 가정하지 않고, 고객의 업무와 완료 기준으로 측정합니다</a:t>
            </a:r>
            <a:endParaRPr lang="ko-KR" sz="2175" b="1"/>
          </a:p>
        </p:txBody>
      </p:sp>
      <p:sp>
        <p:nvSpPr>
          <p:cNvPr id="5" name="Text 5"/>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A95A8"/>
                </a:solidFill>
                <a:latin typeface="Nanum Gothic"/>
                <a:ea typeface="Nanum Gothic"/>
                <a:cs typeface="Nanum Gothic"/>
              </a:rPr>
              <a:t>11</a:t>
            </a:r>
            <a:endParaRPr lang="ko-KR" sz="1050" b="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작은 파일럿으로 우리 조직의 효과를 확인">
    <p:bg>
      <p:bgPr>
        <a:solidFill>
          <a:srgbClr val="F7F8FC"/>
        </a:solidFill>
        <a:effectLst/>
      </p:bgPr>
    </p:bg>
    <p:spTree>
      <p:nvGrpSpPr>
        <p:cNvPr id="1" name=""/>
        <p:cNvGrpSpPr/>
        <p:nvPr/>
      </p:nvGrpSpPr>
      <p:grpSpPr>
        <a:xfrm>
          <a:off x="0" y="0"/>
          <a:ext cx="0" cy="0"/>
          <a:chOff x="0" y="0"/>
          <a:chExt cx="0" cy="0"/>
        </a:xfrm>
      </p:grpSpPr>
      <p:sp>
        <p:nvSpPr>
          <p:cNvPr id="2" name="Text 2"/>
          <p:cNvSpPr txBox="1"/>
          <p:nvPr/>
        </p:nvSpPr>
        <p:spPr>
          <a:xfrm>
            <a:off x="704850" y="523875"/>
            <a:ext cx="10782300" cy="723900"/>
          </a:xfrm>
          <a:prstGeom prst="rect">
            <a:avLst/>
          </a:prstGeom>
          <a:noFill/>
          <a:ln>
            <a:noFill/>
          </a:ln>
        </p:spPr>
        <p:txBody>
          <a:bodyPr wrap="square" lIns="0" rIns="0" tIns="0" bIns="0" anchor="t">
            <a:noAutofit/>
          </a:bodyPr>
          <a:lstStyle/>
          <a:p>
            <a:pPr marL="0" marR="0" indent="0">
              <a:lnSpc>
                <a:spcPct val="125000"/>
              </a:lnSpc>
              <a:buNone/>
            </a:pPr>
            <a:r>
              <a:rPr lang="ko-KR" sz="3225" b="1">
                <a:solidFill>
                  <a:srgbClr val="172033"/>
                </a:solidFill>
                <a:latin typeface="Nanum Gothic"/>
                <a:ea typeface="Nanum Gothic"/>
                <a:cs typeface="Nanum Gothic"/>
              </a:rPr>
              <a:t>작은 파일럿으로 우리 조직의 효과를 확인</a:t>
            </a:r>
            <a:endParaRPr lang="ko-KR" sz="3225" b="1"/>
          </a:p>
        </p:txBody>
      </p:sp>
      <p:sp>
        <p:nvSpPr>
          <p:cNvPr id="3" name="Text 3"/>
          <p:cNvSpPr txBox="1"/>
          <p:nvPr/>
        </p:nvSpPr>
        <p:spPr>
          <a:xfrm>
            <a:off x="723900" y="1333500"/>
            <a:ext cx="10744200" cy="561975"/>
          </a:xfrm>
          <a:prstGeom prst="rect">
            <a:avLst/>
          </a:prstGeom>
          <a:noFill/>
          <a:ln>
            <a:noFill/>
          </a:ln>
        </p:spPr>
        <p:txBody>
          <a:bodyPr wrap="square" lIns="0" rIns="0" tIns="0" bIns="0" anchor="t">
            <a:noAutofit/>
          </a:bodyPr>
          <a:lstStyle/>
          <a:p>
            <a:pPr marL="0" marR="0" indent="0">
              <a:lnSpc>
                <a:spcPct val="125000"/>
              </a:lnSpc>
              <a:buNone/>
            </a:pPr>
            <a:r>
              <a:rPr lang="ko-KR" sz="1875" b="0">
                <a:solidFill>
                  <a:srgbClr val="637085"/>
                </a:solidFill>
                <a:latin typeface="Nanum Gothic"/>
                <a:ea typeface="Nanum Gothic"/>
                <a:cs typeface="Nanum Gothic"/>
              </a:rPr>
              <a:t>제안: 되돌릴 수 있는 내부 업무 한 가지부터 시작합니다</a:t>
            </a:r>
            <a:endParaRPr lang="ko-KR" sz="1875" b="0"/>
          </a:p>
        </p:txBody>
      </p:sp>
      <p:sp>
        <p:nvSpPr>
          <p:cNvPr id="4" name="Text 4"/>
          <p:cNvSpPr txBox="1"/>
          <p:nvPr/>
        </p:nvSpPr>
        <p:spPr>
          <a:xfrm>
            <a:off x="790575" y="2305050"/>
            <a:ext cx="3238500" cy="466725"/>
          </a:xfrm>
          <a:prstGeom prst="rect">
            <a:avLst/>
          </a:prstGeom>
          <a:noFill/>
          <a:ln>
            <a:noFill/>
          </a:ln>
        </p:spPr>
        <p:txBody>
          <a:bodyPr wrap="square" lIns="0" rIns="0" tIns="0" bIns="0" anchor="t">
            <a:noAutofit/>
          </a:bodyPr>
          <a:lstStyle/>
          <a:p>
            <a:pPr marL="0" marR="0" indent="0">
              <a:lnSpc>
                <a:spcPct val="125000"/>
              </a:lnSpc>
              <a:buNone/>
            </a:pPr>
            <a:r>
              <a:rPr lang="ko-KR" sz="2625" b="1">
                <a:solidFill>
                  <a:srgbClr val="7652C4"/>
                </a:solidFill>
                <a:latin typeface="Nanum Gothic"/>
                <a:ea typeface="Nanum Gothic"/>
                <a:cs typeface="Nanum Gothic"/>
              </a:rPr>
              <a:t>업무 선정</a:t>
            </a:r>
            <a:endParaRPr lang="ko-KR" sz="2625" b="1"/>
          </a:p>
        </p:txBody>
      </p:sp>
      <p:sp>
        <p:nvSpPr>
          <p:cNvPr id="5" name="Text 5"/>
          <p:cNvSpPr txBox="1"/>
          <p:nvPr/>
        </p:nvSpPr>
        <p:spPr>
          <a:xfrm>
            <a:off x="4543425" y="2305050"/>
            <a:ext cx="3238500" cy="466725"/>
          </a:xfrm>
          <a:prstGeom prst="rect">
            <a:avLst/>
          </a:prstGeom>
          <a:noFill/>
          <a:ln>
            <a:noFill/>
          </a:ln>
        </p:spPr>
        <p:txBody>
          <a:bodyPr wrap="square" lIns="0" rIns="0" tIns="0" bIns="0" anchor="t">
            <a:noAutofit/>
          </a:bodyPr>
          <a:lstStyle/>
          <a:p>
            <a:pPr marL="0" marR="0" indent="0">
              <a:lnSpc>
                <a:spcPct val="125000"/>
              </a:lnSpc>
              <a:buNone/>
            </a:pPr>
            <a:r>
              <a:rPr lang="ko-KR" sz="2625" b="1">
                <a:solidFill>
                  <a:srgbClr val="7652C4"/>
                </a:solidFill>
                <a:latin typeface="Nanum Gothic"/>
                <a:ea typeface="Nanum Gothic"/>
                <a:cs typeface="Nanum Gothic"/>
              </a:rPr>
              <a:t>기준 합의</a:t>
            </a:r>
            <a:endParaRPr lang="ko-KR" sz="2625" b="1"/>
          </a:p>
        </p:txBody>
      </p:sp>
      <p:sp>
        <p:nvSpPr>
          <p:cNvPr id="6" name="Text 6"/>
          <p:cNvSpPr txBox="1"/>
          <p:nvPr/>
        </p:nvSpPr>
        <p:spPr>
          <a:xfrm>
            <a:off x="8296275" y="2305050"/>
            <a:ext cx="3181350" cy="466725"/>
          </a:xfrm>
          <a:prstGeom prst="rect">
            <a:avLst/>
          </a:prstGeom>
          <a:noFill/>
          <a:ln>
            <a:noFill/>
          </a:ln>
        </p:spPr>
        <p:txBody>
          <a:bodyPr wrap="square" lIns="0" rIns="0" tIns="0" bIns="0" anchor="t">
            <a:noAutofit/>
          </a:bodyPr>
          <a:lstStyle/>
          <a:p>
            <a:pPr marL="0" marR="0" indent="0">
              <a:lnSpc>
                <a:spcPct val="125000"/>
              </a:lnSpc>
              <a:buNone/>
            </a:pPr>
            <a:r>
              <a:rPr lang="ko-KR" sz="2625" b="1">
                <a:solidFill>
                  <a:srgbClr val="7652C4"/>
                </a:solidFill>
                <a:latin typeface="Nanum Gothic"/>
                <a:ea typeface="Nanum Gothic"/>
                <a:cs typeface="Nanum Gothic"/>
              </a:rPr>
              <a:t>효과 측정</a:t>
            </a:r>
            <a:endParaRPr lang="ko-KR" sz="2625" b="1"/>
          </a:p>
        </p:txBody>
      </p:sp>
      <p:sp>
        <p:nvSpPr>
          <p:cNvPr id="7" name="Text 7"/>
          <p:cNvSpPr txBox="1"/>
          <p:nvPr/>
        </p:nvSpPr>
        <p:spPr>
          <a:xfrm>
            <a:off x="809625" y="3133725"/>
            <a:ext cx="3238500" cy="1095375"/>
          </a:xfrm>
          <a:prstGeom prst="rect">
            <a:avLst/>
          </a:prstGeom>
          <a:noFill/>
          <a:ln>
            <a:noFill/>
          </a:ln>
        </p:spPr>
        <p:txBody>
          <a:bodyPr wrap="square" lIns="0" rIns="0" tIns="0" bIns="0" anchor="t">
            <a:noAutofit/>
          </a:bodyPr>
          <a:lstStyle/>
          <a:p>
            <a:pPr marL="0" marR="0" indent="0">
              <a:lnSpc>
                <a:spcPct val="125000"/>
              </a:lnSpc>
              <a:buNone/>
            </a:pPr>
            <a:r>
              <a:rPr lang="ko-KR" sz="2175" b="0">
                <a:solidFill>
                  <a:srgbClr val="172033"/>
                </a:solidFill>
                <a:latin typeface="Nanum Gothic"/>
                <a:ea typeface="Nanum Gothic"/>
                <a:cs typeface="Nanum Gothic"/>
              </a:rPr>
              <a:t>승인 분기·운영 화면</a:t>
            </a:r>
            <a:endParaRPr lang="ko-KR" sz="2175" b="0"/>
          </a:p>
          <a:p>
            <a:pPr marL="0" marR="0" indent="0">
              <a:lnSpc>
                <a:spcPct val="125000"/>
              </a:lnSpc>
              <a:buNone/>
            </a:pPr>
            <a:r>
              <a:rPr lang="ko-KR" sz="2175" b="0">
                <a:solidFill>
                  <a:srgbClr val="172033"/>
                </a:solidFill>
                <a:latin typeface="Nanum Gothic"/>
                <a:ea typeface="Nanum Gothic"/>
                <a:cs typeface="Nanum Gothic"/>
              </a:rPr>
              <a:t>회귀 테스트 보강</a:t>
            </a:r>
            <a:endParaRPr lang="ko-KR" sz="2175" b="0"/>
          </a:p>
        </p:txBody>
      </p:sp>
      <p:sp>
        <p:nvSpPr>
          <p:cNvPr id="8" name="Text 8"/>
          <p:cNvSpPr txBox="1"/>
          <p:nvPr/>
        </p:nvSpPr>
        <p:spPr>
          <a:xfrm>
            <a:off x="4562475" y="3133725"/>
            <a:ext cx="3238500" cy="1095375"/>
          </a:xfrm>
          <a:prstGeom prst="rect">
            <a:avLst/>
          </a:prstGeom>
          <a:noFill/>
          <a:ln>
            <a:noFill/>
          </a:ln>
        </p:spPr>
        <p:txBody>
          <a:bodyPr wrap="square" lIns="0" rIns="0" tIns="0" bIns="0" anchor="t">
            <a:noAutofit/>
          </a:bodyPr>
          <a:lstStyle/>
          <a:p>
            <a:pPr marL="0" marR="0" indent="0">
              <a:lnSpc>
                <a:spcPct val="125000"/>
              </a:lnSpc>
              <a:buNone/>
            </a:pPr>
            <a:r>
              <a:rPr lang="ko-KR" sz="2175" b="0">
                <a:solidFill>
                  <a:srgbClr val="172033"/>
                </a:solidFill>
                <a:latin typeface="Nanum Gothic"/>
                <a:ea typeface="Nanum Gothic"/>
                <a:cs typeface="Nanum Gothic"/>
              </a:rPr>
              <a:t>수정 범위·승인 지점</a:t>
            </a:r>
            <a:endParaRPr lang="ko-KR" sz="2175" b="0"/>
          </a:p>
          <a:p>
            <a:pPr marL="0" marR="0" indent="0">
              <a:lnSpc>
                <a:spcPct val="125000"/>
              </a:lnSpc>
              <a:buNone/>
            </a:pPr>
            <a:r>
              <a:rPr lang="ko-KR" sz="2175" b="0">
                <a:solidFill>
                  <a:srgbClr val="172033"/>
                </a:solidFill>
                <a:latin typeface="Nanum Gothic"/>
                <a:ea typeface="Nanum Gothic"/>
                <a:cs typeface="Nanum Gothic"/>
              </a:rPr>
              <a:t>인수 테스트·복구 경로</a:t>
            </a:r>
            <a:endParaRPr lang="ko-KR" sz="2175" b="0"/>
          </a:p>
        </p:txBody>
      </p:sp>
      <p:sp>
        <p:nvSpPr>
          <p:cNvPr id="9" name="Text 9"/>
          <p:cNvSpPr txBox="1"/>
          <p:nvPr/>
        </p:nvSpPr>
        <p:spPr>
          <a:xfrm>
            <a:off x="8315325" y="3133725"/>
            <a:ext cx="3162300" cy="1095375"/>
          </a:xfrm>
          <a:prstGeom prst="rect">
            <a:avLst/>
          </a:prstGeom>
          <a:noFill/>
          <a:ln>
            <a:noFill/>
          </a:ln>
        </p:spPr>
        <p:txBody>
          <a:bodyPr wrap="square" lIns="0" rIns="0" tIns="0" bIns="0" anchor="t">
            <a:noAutofit/>
          </a:bodyPr>
          <a:lstStyle/>
          <a:p>
            <a:pPr marL="0" marR="0" indent="0">
              <a:lnSpc>
                <a:spcPct val="125000"/>
              </a:lnSpc>
              <a:buNone/>
            </a:pPr>
            <a:r>
              <a:rPr lang="ko-KR" sz="2175" b="0">
                <a:solidFill>
                  <a:srgbClr val="172033"/>
                </a:solidFill>
                <a:latin typeface="Nanum Gothic"/>
                <a:ea typeface="Nanum Gothic"/>
                <a:cs typeface="Nanum Gothic"/>
              </a:rPr>
              <a:t>완료시간·재작업</a:t>
            </a:r>
            <a:endParaRPr lang="ko-KR" sz="2175" b="0"/>
          </a:p>
          <a:p>
            <a:pPr marL="0" marR="0" indent="0">
              <a:lnSpc>
                <a:spcPct val="125000"/>
              </a:lnSpc>
              <a:buNone/>
            </a:pPr>
            <a:r>
              <a:rPr lang="ko-KR" sz="2175" b="0">
                <a:solidFill>
                  <a:srgbClr val="172033"/>
                </a:solidFill>
                <a:latin typeface="Nanum Gothic"/>
                <a:ea typeface="Nanum Gothic"/>
                <a:cs typeface="Nanum Gothic"/>
              </a:rPr>
              <a:t>리뷰 시간·통제 준수</a:t>
            </a:r>
            <a:endParaRPr lang="ko-KR" sz="2175" b="0"/>
          </a:p>
        </p:txBody>
      </p:sp>
      <p:cxnSp>
        <p:nvCxnSpPr>
          <p:cNvPr id="10" name="Handoff 10"/>
          <p:cNvCxnSpPr/>
          <p:nvPr/>
        </p:nvCxnSpPr>
        <p:spPr>
          <a:xfrm>
            <a:off x="790575" y="4743450"/>
            <a:ext cx="10601325" cy="0"/>
          </a:xfrm>
          <a:prstGeom prst="line">
            <a:avLst/>
          </a:prstGeom>
          <a:ln w="19050">
            <a:solidFill>
              <a:srgbClr val="D8DFEB"/>
            </a:solidFill>
          </a:ln>
        </p:spPr>
      </p:cxnSp>
      <p:sp>
        <p:nvSpPr>
          <p:cNvPr id="11" name="Text 11"/>
          <p:cNvSpPr txBox="1"/>
          <p:nvPr/>
        </p:nvSpPr>
        <p:spPr>
          <a:xfrm>
            <a:off x="800100" y="5267325"/>
            <a:ext cx="10629900" cy="762000"/>
          </a:xfrm>
          <a:prstGeom prst="rect">
            <a:avLst/>
          </a:prstGeom>
          <a:noFill/>
          <a:ln>
            <a:noFill/>
          </a:ln>
        </p:spPr>
        <p:txBody>
          <a:bodyPr wrap="square" lIns="0" rIns="0" tIns="0" bIns="0" anchor="t">
            <a:noAutofit/>
          </a:bodyPr>
          <a:lstStyle/>
          <a:p>
            <a:pPr marL="0" marR="0" indent="0">
              <a:lnSpc>
                <a:spcPct val="125000"/>
              </a:lnSpc>
              <a:buNone/>
            </a:pPr>
            <a:r>
              <a:rPr lang="ko-KR" sz="2400" b="1">
                <a:solidFill>
                  <a:srgbClr val="172033"/>
                </a:solidFill>
                <a:latin typeface="Nanum Gothic"/>
                <a:ea typeface="Nanum Gothic"/>
                <a:cs typeface="Nanum Gothic"/>
              </a:rPr>
              <a:t>같은 완료 기준으로 전후 비교 → 효과가 확인된 업무부터 확대</a:t>
            </a:r>
            <a:endParaRPr lang="ko-KR" sz="2400" b="1"/>
          </a:p>
        </p:txBody>
      </p:sp>
      <p:sp>
        <p:nvSpPr>
          <p:cNvPr id="12" name="Text 12"/>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A95A8"/>
                </a:solidFill>
                <a:latin typeface="Nanum Gothic"/>
                <a:ea typeface="Nanum Gothic"/>
                <a:cs typeface="Nanum Gothic"/>
              </a:rPr>
              <a:t>12</a:t>
            </a:r>
            <a:endParaRPr lang="ko-KR" sz="1050" b="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실행은 Copilot이, 기준과 결정은 조직이">
    <p:bg>
      <p:bgPr>
        <a:solidFill>
          <a:srgbClr val="101523"/>
        </a:solidFill>
        <a:effectLst/>
      </p:bgPr>
    </p:bg>
    <p:spTree>
      <p:nvGrpSpPr>
        <p:cNvPr id="1" name=""/>
        <p:cNvGrpSpPr/>
        <p:nvPr/>
      </p:nvGrpSpPr>
      <p:grpSpPr>
        <a:xfrm>
          <a:off x="0" y="0"/>
          <a:ext cx="0" cy="0"/>
          <a:chOff x="0" y="0"/>
          <a:chExt cx="0" cy="0"/>
        </a:xfrm>
      </p:grpSpPr>
      <p:sp>
        <p:nvSpPr>
          <p:cNvPr id="2" name="Text 2"/>
          <p:cNvSpPr txBox="1"/>
          <p:nvPr/>
        </p:nvSpPr>
        <p:spPr>
          <a:xfrm>
            <a:off x="762000" y="857250"/>
            <a:ext cx="10525125" cy="790575"/>
          </a:xfrm>
          <a:prstGeom prst="rect">
            <a:avLst/>
          </a:prstGeom>
          <a:noFill/>
          <a:ln>
            <a:noFill/>
          </a:ln>
        </p:spPr>
        <p:txBody>
          <a:bodyPr wrap="square" lIns="0" rIns="0" tIns="0" bIns="0" anchor="t">
            <a:noAutofit/>
          </a:bodyPr>
          <a:lstStyle/>
          <a:p>
            <a:pPr marL="0" marR="0" indent="0">
              <a:lnSpc>
                <a:spcPct val="125000"/>
              </a:lnSpc>
              <a:buNone/>
            </a:pPr>
            <a:r>
              <a:rPr lang="ko-KR" sz="4275" b="1">
                <a:solidFill>
                  <a:srgbClr val="FFFFFF"/>
                </a:solidFill>
                <a:latin typeface="Nanum Gothic"/>
                <a:ea typeface="Nanum Gothic"/>
                <a:cs typeface="Nanum Gothic"/>
              </a:rPr>
              <a:t>GitHub Copilot</a:t>
            </a:r>
            <a:endParaRPr lang="ko-KR" sz="4275" b="1"/>
          </a:p>
        </p:txBody>
      </p:sp>
      <p:sp>
        <p:nvSpPr>
          <p:cNvPr id="3" name="Text 3"/>
          <p:cNvSpPr txBox="1"/>
          <p:nvPr/>
        </p:nvSpPr>
        <p:spPr>
          <a:xfrm>
            <a:off x="762000" y="2266950"/>
            <a:ext cx="10610850" cy="1790700"/>
          </a:xfrm>
          <a:prstGeom prst="rect">
            <a:avLst/>
          </a:prstGeom>
          <a:noFill/>
          <a:ln>
            <a:noFill/>
          </a:ln>
        </p:spPr>
        <p:txBody>
          <a:bodyPr wrap="square" lIns="0" rIns="0" tIns="0" bIns="0" anchor="t">
            <a:noAutofit/>
          </a:bodyPr>
          <a:lstStyle/>
          <a:p>
            <a:pPr marL="0" marR="0" indent="0">
              <a:lnSpc>
                <a:spcPct val="125000"/>
              </a:lnSpc>
              <a:buNone/>
            </a:pPr>
            <a:r>
              <a:rPr lang="ko-KR" sz="4725" b="1">
                <a:solidFill>
                  <a:srgbClr val="FFFFFF"/>
                </a:solidFill>
                <a:latin typeface="Nanum Gothic"/>
                <a:ea typeface="Nanum Gothic"/>
                <a:cs typeface="Nanum Gothic"/>
              </a:rPr>
              <a:t>실행은 Copilot이</a:t>
            </a:r>
            <a:endParaRPr lang="ko-KR" sz="4725" b="1"/>
          </a:p>
          <a:p>
            <a:pPr marL="0" marR="0" indent="0">
              <a:lnSpc>
                <a:spcPct val="125000"/>
              </a:lnSpc>
              <a:buNone/>
            </a:pPr>
            <a:r>
              <a:rPr lang="ko-KR" sz="4725" b="1">
                <a:solidFill>
                  <a:srgbClr val="FFFFFF"/>
                </a:solidFill>
                <a:latin typeface="Nanum Gothic"/>
                <a:ea typeface="Nanum Gothic"/>
                <a:cs typeface="Nanum Gothic"/>
              </a:rPr>
              <a:t>기준과 결정은 조직이</a:t>
            </a:r>
            <a:endParaRPr lang="ko-KR" sz="4725" b="1"/>
          </a:p>
        </p:txBody>
      </p:sp>
      <p:sp>
        <p:nvSpPr>
          <p:cNvPr id="4" name="Text 4"/>
          <p:cNvSpPr txBox="1"/>
          <p:nvPr/>
        </p:nvSpPr>
        <p:spPr>
          <a:xfrm>
            <a:off x="809625" y="4714875"/>
            <a:ext cx="10525125" cy="1133475"/>
          </a:xfrm>
          <a:prstGeom prst="rect">
            <a:avLst/>
          </a:prstGeom>
          <a:noFill/>
          <a:ln>
            <a:noFill/>
          </a:ln>
        </p:spPr>
        <p:txBody>
          <a:bodyPr wrap="square" lIns="0" rIns="0" tIns="0" bIns="0" anchor="t">
            <a:noAutofit/>
          </a:bodyPr>
          <a:lstStyle/>
          <a:p>
            <a:pPr marL="0" marR="0" indent="0">
              <a:lnSpc>
                <a:spcPct val="125000"/>
              </a:lnSpc>
              <a:buNone/>
            </a:pPr>
            <a:r>
              <a:rPr lang="ko-KR" sz="2700" b="0">
                <a:solidFill>
                  <a:srgbClr val="D7C3FF"/>
                </a:solidFill>
                <a:latin typeface="Nanum Gothic"/>
                <a:ea typeface="Nanum Gothic"/>
                <a:cs typeface="Nanum Gothic"/>
              </a:rPr>
              <a:t>개발 실행력을 높이고</a:t>
            </a:r>
            <a:endParaRPr lang="ko-KR" sz="2700" b="0"/>
          </a:p>
          <a:p>
            <a:pPr marL="0" marR="0" indent="0">
              <a:lnSpc>
                <a:spcPct val="125000"/>
              </a:lnSpc>
              <a:buNone/>
            </a:pPr>
            <a:r>
              <a:rPr lang="ko-KR" sz="2700" b="0">
                <a:solidFill>
                  <a:srgbClr val="D7C3FF"/>
                </a:solidFill>
                <a:latin typeface="Nanum Gothic"/>
                <a:ea typeface="Nanum Gothic"/>
                <a:cs typeface="Nanum Gothic"/>
              </a:rPr>
              <a:t>검토와 승인 지점은 유지합니다</a:t>
            </a:r>
            <a:endParaRPr lang="ko-KR" sz="2700" b="0"/>
          </a:p>
        </p:txBody>
      </p:sp>
      <p:sp>
        <p:nvSpPr>
          <p:cNvPr id="5" name="Text 5"/>
          <p:cNvSpPr txBox="1"/>
          <p:nvPr/>
        </p:nvSpPr>
        <p:spPr>
          <a:xfrm>
            <a:off x="11430000" y="6505575"/>
            <a:ext cx="342900" cy="209550"/>
          </a:xfrm>
          <a:prstGeom prst="rect">
            <a:avLst/>
          </a:prstGeom>
          <a:noFill/>
          <a:ln>
            <a:noFill/>
          </a:ln>
        </p:spPr>
        <p:txBody>
          <a:bodyPr wrap="square" lIns="0" rIns="0" tIns="0" bIns="0" anchor="t">
            <a:noAutofit/>
          </a:bodyPr>
          <a:lstStyle/>
          <a:p>
            <a:pPr marL="0" marR="0" indent="0">
              <a:lnSpc>
                <a:spcPct val="125000"/>
              </a:lnSpc>
              <a:buNone/>
            </a:pPr>
            <a:r>
              <a:rPr lang="ko-KR" sz="1050" b="0">
                <a:solidFill>
                  <a:srgbClr val="8994A9"/>
                </a:solidFill>
                <a:latin typeface="Nanum Gothic"/>
                <a:ea typeface="Nanum Gothic"/>
                <a:cs typeface="Nanum Gothic"/>
              </a:rPr>
              <a:t>13</a:t>
            </a:r>
            <a:endParaRPr lang="ko-KR" sz="1050" b="0"/>
          </a:p>
        </p:txBody>
      </p:sp>
    </p:spTree>
  </p:cSld>
  <p:clrMapOvr>
    <a:masterClrMapping/>
  </p:clrMapOvr>
</p:sld>
</file>

<file path=ppt/theme/theme1.xml><?xml version="1.0" encoding="utf-8"?>
<a:theme xmlns:a="http://schemas.openxmlformats.org/drawingml/2006/main" name="Executive Copilot">
  <a:themeElements>
    <a:clrScheme name="Executive">
      <a:dk1>
        <a:srgbClr val="172033"/>
      </a:dk1>
      <a:lt1>
        <a:srgbClr val="FFFFFF"/>
      </a:lt1>
      <a:dk2>
        <a:srgbClr val="101523"/>
      </a:dk2>
      <a:lt2>
        <a:srgbClr val="F7F8FC"/>
      </a:lt2>
      <a:accent1>
        <a:srgbClr val="7652C4"/>
      </a:accent1>
      <a:accent2>
        <a:srgbClr val="19734A"/>
      </a:accent2>
      <a:accent3>
        <a:srgbClr val="AD5B15"/>
      </a:accent3>
      <a:accent4>
        <a:srgbClr val="637085"/>
      </a:accent4>
      <a:accent5>
        <a:srgbClr val="C9B6F2"/>
      </a:accent5>
      <a:accent6>
        <a:srgbClr val="E8F3EC"/>
      </a:accent6>
      <a:hlink>
        <a:srgbClr val="7652C4"/>
      </a:hlink>
      <a:folHlink>
        <a:srgbClr val="584185"/>
      </a:folHlink>
    </a:clrScheme>
    <a:fontScheme name="Korean">
      <a:majorFont>
        <a:latin typeface="Nanum Gothic"/>
        <a:ea typeface="Nanum Gothic"/>
        <a:cs typeface="Nanum Gothic"/>
      </a:majorFont>
      <a:minorFont>
        <a:latin typeface="Nanum Gothic"/>
        <a:ea typeface="Nanum Gothic"/>
        <a:cs typeface="Nanum Gothic"/>
      </a:minorFont>
    </a:fontScheme>
    <a:fmtScheme name="Simple">
      <a:fillStyleLst>
        <a:solidFill>
          <a:schemeClr val="phClr"/>
        </a:solidFill>
        <a:solidFill>
          <a:schemeClr val="phClr"/>
        </a:solidFill>
        <a:solidFill>
          <a:schemeClr val="phClr"/>
        </a:solidFill>
      </a:fillStyleLst>
      <a:lnStyleLst>
        <a:ln w="9525" cap="flat" cmpd="sng" algn="ctr">
          <a:solidFill>
            <a:schemeClr val="phClr"/>
          </a:solidFill>
          <a:prstDash val="solid"/>
          <a:miter lim="800000"/>
          <a:headEnd type="none"/>
          <a:tailEnd type="none"/>
        </a:ln>
        <a:ln w="19050" cap="flat" cmpd="sng" algn="ctr">
          <a:solidFill>
            <a:schemeClr val="phClr"/>
          </a:solidFill>
          <a:prstDash val="solid"/>
          <a:miter lim="800000"/>
          <a:headEnd type="none"/>
          <a:tailEnd type="none"/>
        </a:ln>
        <a:ln w="28575" cap="flat" cmpd="sng" algn="ctr">
          <a:solidFill>
            <a:schemeClr val="phClr"/>
          </a:solidFill>
          <a:prstDash val="solid"/>
          <a:miter lim="800000"/>
          <a:headEnd type="none"/>
          <a:tailEnd type="none"/>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Application>Native PresentationML</Application>
  <PresentationFormat>On-screen Show (16:9)</PresentationFormat>
  <Slides>13</Slides>
  <Notes>13</Notes>
</Properties>
</file>

<file path=docProps/core.xml><?xml version="1.0" encoding="utf-8"?>
<cp:coreProperties xmlns:cp="http://schemas.openxmlformats.org/package/2006/metadata/core-properties" xmlns:dc="http://purl.org/dc/elements/1.1/">
  <dc:title>GitHub Copilot: Agentic Development in Action</dc:title>
  <dc:subject>CXO demo: refund approval and audit</dc:subject>
  <dc:creator>GitHub Copilot</dc:creator>
</cp:coreProperties>
</file>
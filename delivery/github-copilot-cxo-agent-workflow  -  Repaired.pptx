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66"/>
    <p:restoredTop sz="94604"/>
  </p:normalViewPr>
  <p:slideViewPr>
    <p:cSldViewPr snapToGrid="0">
      <p:cViewPr varScale="1">
        <p:scale>
          <a:sx n="144" d="100"/>
          <a:sy n="144" d="100"/>
        </p:scale>
        <p:origin x="216"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대상은 CXO 고객이다. 기능 목록이 아니라 사업 정책을 실제 동작하는 제품 변경으로 연결하는 능력을 보여 준다. 질문: '정책이 바뀌었을 때, 서비스는 얼마나 빠르고 검토 가능하게 바뀔 수 있을까요?' 실제 GitHub Copilot CLI 프로세스의 원본 PTY 출력을 터미널에 전달해 실시간 녹화했다. 재구성한 CLI 모형이 아니다. 합성 데이터이며 영상의 5분은 개발 소요 시간이 아니다. 출처: https://docs.github.com/en/copilot/concepts/agents/copilot-cli/about-copilot-cli; demo/copilot-evidence/manifest.json.</a:t>
            </a:r>
            <a:endParaRPr lang="ko-KR" sz="1200" b="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소개 1/5. GitHub Copilot은 개발자가 소프트웨어를 이해·작성·출시하도록 돕는 AI assistant다. 자동 완성과 대화형 도움에 더해, 목표를 받고 여러 단계의 작업을 수행하는 에이전트 기능을 제공한다. 모델, 서피스, 모드, 에이전트 기능은 서로 다른 축이다. 특정 모델 하나나 Microsoft 365 Copilot/Copilot Studio와 같은 제품이라고 설명하지 않는다. 사용 가능 기능은 플랜, 클라이언트와 조직 정책에 따라 다르다. 2026-09-26 공식 문서 확인. 출처: https://docs.github.com/en/copilot/get-started/about-github-copilot.</a:t>
            </a:r>
            <a:endParaRPr lang="ko-KR"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소개 2/5. IDE, GitHub.com, 터미널, 데스크톱 앱, 모바일을 구분한다. IDE에는 VS Code, Visual Studio, JetBrains IDEs, Xcode 등이 있지만 모든 기능을 동일하게 제공하는 것은 아니다. GitHub Copilot app은 CLI 기반의 에이전트 중심 데스크톱 앱으로 병렬 세션과 GitHub 작업을 조율한다. Mobile은 코드 질문·저장소 탐색·PR 확인을 소개하며 로컬 코드 실행 환경이라고 말하지 않는다. 이번 데모에서 실제 보여 주는 서피스는 Copilot CLI다. 2026-09-26 확인. 출처: https://docs.github.com/en/copilot/how-tos/chat-with-copilot/chat-in-ide; https://docs.github.com/en/copilot/concepts/agents/copilot-cli/about-copilot-cli; https://docs.github.com/en/copilot/concepts/agents/github-copilot-app; https://docs.github.com/en/copilot/how-tos/chat-with-copilot/chat-in-mobile; https://docs.github.com/en/copilot/concepts/agents/cloud-agent/about-cloud-agent.</a:t>
            </a:r>
            <a:endParaRPr lang="ko-KR" sz="1200" b="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소개 3/5. IDE의 대표 모드 Ask·Plan·Agent와 선택 파일 중심의 Edit를 소개한다. 현재 VS Code/JetBrains 모드 선택기와 별도 Copilot Edits 지원은 IDE 및 버전에 따라 다르므로 네 가지가 모든 환경에 항상 표시된다고 주장하지 않는다. CLI와 Copilot app은 Interactive·Plan·Autopilot 세션 모드를 제공한다. CLI의 -p는 비대화형 호출 방식으로, 별도의 에이전트 역할이나 서피스가 아니다. Autopilot은 다음 단계를 자동으로 이어가는 방식이지 Cloud agent로 원격 위임하는 기능이 아니다. 모드와 권한은 별도이며, 제한된 권한에서 승인이 필요한 행동은 거부될 수 있다. 전체 권한을 권장하는 데모가 아니다. 2026-09-26 확인. 출처: https://docs.github.com/en/copilot/how-tos/chat-with-copilot/chat-in-ide; https://docs.github.com/en/copilot/concepts/agents/github-copilot-app; https://docs.github.com/en/copilot/concepts/agents/copilot-cli/autopilot; https://docs.github.com/en/copilot/how-tos/copilot-cli/use-copilot-cli/allowing-tools.</a:t>
            </a:r>
            <a:endParaRPr lang="ko-KR" sz="1200" b="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소개 4/5. Cloud agent는 GitHub Actions 기반 원격 개발 환경에서 조사·계획·코드 변경을 진행하고 PR로 검토를 요청할 수 있다. 로컬 IDE Agent mode와 같은 실행 위치가 아니다. Copilot code review는 PR·코드 검토 제품이며 CLI /review는 터미널의 별도 검토 에이전트 경로다. 둘 다 사람의 병합·출시 승인을 대체하지 않는다. Subagents는 작업을 분리하고 CLI /fleet은 독립 부분을 병렬로 맡기는 기능이다. 네 기능을 모두 이번 영상에서 실행한 것은 아니며 기존 영상은 CLI 계획·구현·로컬 테스트·리뷰·실행 승인을 보여 준다. Cloud agent·PR 리뷰·/fleet은 제품 소개 범위다. 2026-09-26 확인. 출처: https://docs.github.com/en/copilot/how-tos/chat-with-copilot/chat-in-ide; https://docs.github.com/en/copilot/concepts/agents/cloud-agent/about-cloud-agent; https://docs.github.com/en/copilot/concepts/agents/code-review; https://docs.github.com/en/copilot/how-tos/copilot-cli/use-copilot-cli/agentic-code-review; https://docs.github.com/en/copilot/how-tos/copilot-cli/use-copilot-cli/speed-up-task-completion.</a:t>
            </a:r>
            <a:endParaRPr lang="ko-KR" sz="1200" b="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소개 5/5. Custom instructions는 팀의 기준, Custom agents는 역할·지침·도구를 묶은 프로필, Agent skills는 작업에 맞춰 불러오는 지침·스크립트·리소스, MCP는 데이터와 도구 연결 규약이다. GitHub Agentic Workflows는 자연어로 정의한 저장소 자동화를 GitHub Actions에서 실행하는 별도 기능으로 2026-09-26 기준 Public preview다. Copilot을 실행 엔진으로 사용할 수 있으며 일정·이벤트, 권한, 허용 출력은 사람이 정의한다. 확장 기능을 설치만 하면 보안 통제가 보장된다고 설명하지 않는다. 이번 데모는 저장소 지침과 기본 CLI 도구를 사용하며 MCP·Skills·Agentic Workflows 연동을 실행한 데모가 아니다. 출처: https://docs.github.com/en/copilot/how-tos/copilot-cli/customize-copilot/add-custom-instructions; https://docs.github.com/en/copilot/concepts/agents/cloud-agent/about-custom-agents; https://docs.github.com/en/copilot/concepts/agents/about-agent-skills; https://docs.github.com/en/copilot/concepts/context/mcp; https://docs.github.com/en/copilot/concepts/agents/about-github-agentic-workflows.</a:t>
            </a:r>
            <a:endParaRPr lang="ko-KR" sz="1200" b="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세 가지 가치는 이번 데모가 보여 주는 능력에 연결한다. 실제 시간 절감률이나 ROI는 측정하지 않았으므로 수치로 주장하지 않는다. '수작업 연결 감소'는 기능에 따른 기대 효과이며 고객 파일럿에서 검증할 가설이다. 출처: https://docs.github.com/en/copilot/concepts/agents/copilot-cli/about-copilot-cli, https://docs.github.com/en/copilot/how-tos/copilot-cli/use-copilot-cli/agentic-code-review, https://docs.github.com/en/copilot/how-tos/copilot-cli/use-copilot-cli/allowing-tools.</a:t>
            </a:r>
            <a:endParaRPr lang="ko-KR" sz="1200" b="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사업 시나리오는 합성 환불 운영 앱이다. 실제 결제나 고객 데이터가 없다. 현재 앱의 고액 처리 상태를 보여 준 뒤 정책 요청을 Copilot에 전달한다. 완성 기준과 허용 파일은 request.md 및 .github/copilot-instructions.md로 정의한다. 대기 금액을 절감액이나 예방 손실로 표현하지 않는다. 출처: demo/request.md, demo/starter.</a:t>
            </a:r>
            <a:endParaRPr lang="ko-KR" sz="1200" b="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실제 Copilot /plan, 허용 파일 수정, 명령 실행, /review로 이어진다. 전용 CLI 리뷰 에이전트는 주 작업의 변경을 다시 검사한다. 이 데모를 A2A 프로토콜이나 병렬 에이전트 전체 자동화 시연이라고 확대하지 않는다. 네이티브 승인 대화상자에 대한 시연용 입력과 실제 사람의 출시 승인을 구분한다. 출처: https://docs.github.com/en/copilot/concepts/agents/copilot-cli/about-copilot-cli, https://docs.github.com/en/copilot/how-tos/copilot-cli/use-copilot-cli/agentic-code-review; demo/copilot-evidence/terminal.cast.</a:t>
            </a:r>
            <a:endParaRPr lang="ko-KR" sz="1200" b="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계획 생성 전 제품 파일은 변경하지 않았다. .github/copilot-instructions.md에 수정 범위와 검증 명령을 저장해 반복 설명을 줄인다. 실제 기록 모델 설정: auto, GitHub Copilot CLI 1.0.88.. 제품 가치는 특정 모델 하나가 아니라 저장소·도구·권한을 연결하는 GitHub Copilot 작업 흐름이다. 출처: https://docs.github.com/en/copilot/how-tos/copilot-cli/customize-copilot/add-custom-instructions; demo/copilot-evidence/plan-ready.txt, invocation.json.</a:t>
            </a:r>
            <a:endParaRPr lang="ko-KR" sz="1200" b="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모든 도구를 자동 허용하는 --yolo, --allow-all, assisted approval을 사용하지 않는다. 원본 실행과 실제 승인 UI를 녹화했고 선택 키는 demo-automation으로 기록했다. 직접 발표할 때는 발표자가 동일 UI에서 명령을 읽고 일회성 Yes 또는 No를 선택한다. 도구 필터와 승인 정책을 OS 샌드박스 보장으로 표현하지 않는다. 출처: https://docs.github.com/en/copilot/how-tos/copilot-cli/use-copilot-cli/allowing-tools; demo/copilot-evidence/terminal-inputs.jsonl.</a:t>
            </a:r>
            <a:endParaRPr lang="ko-KR" sz="1200" b="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기록된 변경 파일은 README.md, public/app.mjs, public/index.html, public/styles.css, src/refunds.mjs, test/refunds.test.mjs이다. 테스트와 README를 포함한 코드가 실제 바뀌었고 snapshot과 독립 검증으로 범위를 확인했다. 원본 diff: demo/copilot-evidence/change.diff. 사진은 Copilot의 실제 출력이다. 허용 파일 이외의 인수 테스트, fixture, HTTP 서버, 패키지는 바꾸지 않는다.</a:t>
            </a:r>
            <a:endParaRPr lang="ko-KR" sz="1200" b="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이번 Copilot이 만든 작업 공간을 실제 로컬 서버로 실행한 브라우저 화면이다. process 202, 자기 승인 403, 다른 승인자 200과 감사 이력을 확인했다. 소액 35,000원 처리와 1,000,000원 경계 반려도 실행한다. 시연용 역할 선택은 운영 인증이 아니다. 실제 결제와 영구 저장은 별도 작업이다.</a:t>
            </a:r>
            <a:endParaRPr lang="ko-KR" sz="1200" b="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수치는 실제 결과에서 생성했다. 제품 12/12, 독립 인수 20/20, git diff --check exit=0. CLI와 별도로 동일 소스에 검증을 다시 실행했다. 테스트·AI 리뷰 통과가 운영 인증이나 사람의 출시 승인을 대신하지 않는다. 출처: demo/copilot-evidence/03-verification.json, 03-tests.log, review-result.txt; https://docs.github.com/en/copilot/how-tos/copilot-cli/use-copilot-cli/agentic-code-review.</a:t>
            </a:r>
            <a:endParaRPr lang="ko-KR" sz="1200" b="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이번에 실제 보여 준 것은 저장소 지침, CLI 실행 승인, 로컬 구현·검증·리뷰다. PR 생성, GitHub Actions 실행과 배포는 시연하지 않았다. 확장 가능한 GitHub 흐름으로 구분해 설명한다. 조직·엔터프라이즈 Copilot 정책은 Business/Enterprise 및 기능별 지원 범위를 확인해야 한다. CLI는 일부 MCP 정책 미지원 등 한계가 있으므로 모든 정책이 모든 표면에 동일하게 적용된다고 말하지 않는다. 출처: https://docs.github.com/en/copilot/how-tos/copilot-cli/customize-copilot/add-custom-instructions, https://docs.github.com/en/copilot/concepts/agents/copilot-cli/about-copilot-cli, https://docs.github.com/en/copilot/concepts/enterprise/policies.</a:t>
            </a:r>
            <a:endParaRPr lang="ko-KR" sz="1200" b="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경영 효과와 기술 증거를 연결하는 정리 슬라이드다. 시연의 속도·효과는 실측 조직 성과가 아니다. 고객별 파일럿에서 동일한 품질과 완료 기준으로 비교한다. 녹화 편집 길이, 대기 금액, 통과한 테스트 수를 생산성 비율·절감액·보안 보증으로 바꾸어 표현하지 않는다.</a:t>
            </a:r>
            <a:endParaRPr lang="ko-KR" sz="1200" b="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파일럿 지표는 제안이며 이번 데모의 측정 결과가 아니다. 리드타임 단축만 보지 말고 재작업, 검토 부담과 통제 준수를 함께 확인한다. 실제 인증, 결제, 영구 감사 저장과 운영 출시 심사는 별도 범위다. 자동화된 시연 입력은 인간의 출시 승인으로 인정하지 않으며 데모 출시 상태는 HOLD다.</a:t>
            </a:r>
            <a:endParaRPr lang="ko-KR" sz="1200" b="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a:spLocks noGrp="1"/>
          </p:cNvSpPr>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Gothic"/>
                <a:ea typeface="NanumGothic"/>
                <a:cs typeface="NanumGothic"/>
              </a:rPr>
              <a:t>고객에게 남길 결론: GitHub Copilot은 코드를 설명하는 도구에 그치지 않고 업무 요청을 실제 변경과 검토 근거로 연결한다. 사용자는 목표·권한·출시 판단을 유지한다. 보여 주지 않은 원격 PR·Actions·배포나 측정하지 않은 ROI를 약속하지 않는다. 다음 고객 대화는 파일럿 후보 업무 한 가지와 성공 기준의 선택에 집중한다.</a:t>
            </a:r>
            <a:endParaRPr lang="ko-KR" sz="1200"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GitHub Copilot: 비즈니스 요청을 제품 변경으로">
    <p:bg>
      <p:bgPr>
        <a:solidFill>
          <a:srgbClr val="101523"/>
        </a:solidFill>
        <a:effectLst/>
      </p:bgPr>
    </p:bg>
    <p:spTree>
      <p:nvGrpSpPr>
        <p:cNvPr id="1" name=""/>
        <p:cNvGrpSpPr/>
        <p:nvPr/>
      </p:nvGrpSpPr>
      <p:grpSpPr>
        <a:xfrm>
          <a:off x="0" y="0"/>
          <a:ext cx="0" cy="0"/>
          <a:chOff x="0" y="0"/>
          <a:chExt cx="0" cy="0"/>
        </a:xfrm>
      </p:grpSpPr>
      <p:sp>
        <p:nvSpPr>
          <p:cNvPr id="2" name="Text 2"/>
          <p:cNvSpPr txBox="1"/>
          <p:nvPr/>
        </p:nvSpPr>
        <p:spPr>
          <a:xfrm>
            <a:off x="742950" y="771525"/>
            <a:ext cx="10572750" cy="847725"/>
          </a:xfrm>
          <a:prstGeom prst="rect">
            <a:avLst/>
          </a:prstGeom>
          <a:noFill/>
          <a:ln>
            <a:noFill/>
          </a:ln>
        </p:spPr>
        <p:txBody>
          <a:bodyPr wrap="square" lIns="0" tIns="0" rIns="0" bIns="0" anchor="t">
            <a:noAutofit/>
          </a:bodyPr>
          <a:lstStyle/>
          <a:p>
            <a:pPr marL="0" marR="0" indent="0">
              <a:lnSpc>
                <a:spcPct val="125000"/>
              </a:lnSpc>
              <a:buNone/>
            </a:pPr>
            <a:r>
              <a:rPr lang="ko-KR" sz="4650" b="1">
                <a:solidFill>
                  <a:srgbClr val="FFFFFF"/>
                </a:solidFill>
                <a:latin typeface="NanumGothic"/>
                <a:ea typeface="NanumGothic"/>
                <a:cs typeface="NanumGothic"/>
              </a:rPr>
              <a:t>GitHub Copilot</a:t>
            </a:r>
            <a:endParaRPr lang="ko-KR" sz="4650" b="1"/>
          </a:p>
        </p:txBody>
      </p:sp>
      <p:sp>
        <p:nvSpPr>
          <p:cNvPr id="3" name="Text 3"/>
          <p:cNvSpPr txBox="1"/>
          <p:nvPr/>
        </p:nvSpPr>
        <p:spPr>
          <a:xfrm>
            <a:off x="742950" y="2181225"/>
            <a:ext cx="10668000" cy="1857375"/>
          </a:xfrm>
          <a:prstGeom prst="rect">
            <a:avLst/>
          </a:prstGeom>
          <a:noFill/>
          <a:ln>
            <a:noFill/>
          </a:ln>
        </p:spPr>
        <p:txBody>
          <a:bodyPr wrap="square" lIns="0" tIns="0" rIns="0" bIns="0" anchor="t">
            <a:noAutofit/>
          </a:bodyPr>
          <a:lstStyle/>
          <a:p>
            <a:pPr marL="0" marR="0" indent="0">
              <a:lnSpc>
                <a:spcPct val="125000"/>
              </a:lnSpc>
              <a:buNone/>
            </a:pPr>
            <a:r>
              <a:rPr lang="ko-KR" sz="4575" b="1">
                <a:solidFill>
                  <a:srgbClr val="FFFFFF"/>
                </a:solidFill>
                <a:latin typeface="NanumGothic"/>
                <a:ea typeface="NanumGothic"/>
                <a:cs typeface="NanumGothic"/>
              </a:rPr>
              <a:t>비즈니스 요청을</a:t>
            </a:r>
            <a:endParaRPr lang="ko-KR" sz="4575" b="1"/>
          </a:p>
          <a:p>
            <a:pPr marL="0" marR="0" indent="0">
              <a:lnSpc>
                <a:spcPct val="125000"/>
              </a:lnSpc>
              <a:buNone/>
            </a:pPr>
            <a:r>
              <a:rPr lang="ko-KR" sz="4575" b="1">
                <a:solidFill>
                  <a:srgbClr val="FFFFFF"/>
                </a:solidFill>
                <a:latin typeface="NanumGothic"/>
                <a:ea typeface="NanumGothic"/>
                <a:cs typeface="NanumGothic"/>
              </a:rPr>
              <a:t>검증 가능한 제품 변경으로</a:t>
            </a:r>
            <a:endParaRPr lang="ko-KR" sz="4575" b="1"/>
          </a:p>
        </p:txBody>
      </p:sp>
      <p:sp>
        <p:nvSpPr>
          <p:cNvPr id="4" name="Text 4"/>
          <p:cNvSpPr txBox="1"/>
          <p:nvPr/>
        </p:nvSpPr>
        <p:spPr>
          <a:xfrm>
            <a:off x="790575" y="4733925"/>
            <a:ext cx="10515600" cy="600075"/>
          </a:xfrm>
          <a:prstGeom prst="rect">
            <a:avLst/>
          </a:prstGeom>
          <a:noFill/>
          <a:ln>
            <a:noFill/>
          </a:ln>
        </p:spPr>
        <p:txBody>
          <a:bodyPr wrap="square" lIns="0" tIns="0" rIns="0" bIns="0" anchor="t">
            <a:noAutofit/>
          </a:bodyPr>
          <a:lstStyle/>
          <a:p>
            <a:pPr marL="0" marR="0" indent="0">
              <a:lnSpc>
                <a:spcPct val="125000"/>
              </a:lnSpc>
              <a:buNone/>
            </a:pPr>
            <a:r>
              <a:rPr lang="ko-KR" sz="2625" b="0">
                <a:solidFill>
                  <a:srgbClr val="D7C3FF"/>
                </a:solidFill>
                <a:latin typeface="NanumGothic"/>
                <a:ea typeface="NanumGothic"/>
                <a:cs typeface="NanumGothic"/>
              </a:rPr>
              <a:t>개발 실행력 · 검토 근거 · 조직의 통제권</a:t>
            </a:r>
            <a:endParaRPr lang="ko-KR" sz="2625" b="0"/>
          </a:p>
        </p:txBody>
      </p:sp>
      <p:sp>
        <p:nvSpPr>
          <p:cNvPr id="5" name="Text 5"/>
          <p:cNvSpPr txBox="1"/>
          <p:nvPr/>
        </p:nvSpPr>
        <p:spPr>
          <a:xfrm>
            <a:off x="800100" y="5895975"/>
            <a:ext cx="10572750" cy="333375"/>
          </a:xfrm>
          <a:prstGeom prst="rect">
            <a:avLst/>
          </a:prstGeom>
          <a:noFill/>
          <a:ln>
            <a:noFill/>
          </a:ln>
        </p:spPr>
        <p:txBody>
          <a:bodyPr wrap="square" lIns="0" tIns="0" rIns="0" bIns="0" anchor="t">
            <a:noAutofit/>
          </a:bodyPr>
          <a:lstStyle/>
          <a:p>
            <a:pPr marL="0" marR="0" indent="0">
              <a:lnSpc>
                <a:spcPct val="125000"/>
              </a:lnSpc>
              <a:buNone/>
            </a:pPr>
            <a:r>
              <a:rPr lang="ko-KR" sz="1725" b="0">
                <a:solidFill>
                  <a:srgbClr val="BAC4D4"/>
                </a:solidFill>
                <a:latin typeface="NanumGothic"/>
                <a:ea typeface="NanumGothic"/>
                <a:cs typeface="NanumGothic"/>
              </a:rPr>
              <a:t>CXO BRIEFING  |  실제 Copilot CLI 에이전트 데모</a:t>
            </a:r>
            <a:endParaRPr lang="ko-KR" sz="1725" b="0"/>
          </a:p>
        </p:txBody>
      </p:sp>
      <p:sp>
        <p:nvSpPr>
          <p:cNvPr id="6" name="Text 6"/>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994A9"/>
                </a:solidFill>
                <a:latin typeface="NanumGothic"/>
                <a:ea typeface="NanumGothic"/>
                <a:cs typeface="NanumGothic"/>
              </a:rPr>
              <a:t>1</a:t>
            </a:r>
            <a:endParaRPr lang="ko-KR" sz="1050"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GitHub Copilot은 무엇인가">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GitHub Copilot은 무엇인가</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코드를 이해하고 작성하며, 검토와 작업 실행까지 돕는 AI 개발 도우미</a:t>
            </a:r>
            <a:endParaRPr lang="ko-KR" sz="1875" b="0"/>
          </a:p>
        </p:txBody>
      </p:sp>
      <p:sp>
        <p:nvSpPr>
          <p:cNvPr id="4" name="Text 4"/>
          <p:cNvSpPr txBox="1"/>
          <p:nvPr/>
        </p:nvSpPr>
        <p:spPr>
          <a:xfrm>
            <a:off x="790575" y="2276475"/>
            <a:ext cx="3238500" cy="552450"/>
          </a:xfrm>
          <a:prstGeom prst="rect">
            <a:avLst/>
          </a:prstGeom>
          <a:noFill/>
          <a:ln>
            <a:noFill/>
          </a:ln>
        </p:spPr>
        <p:txBody>
          <a:bodyPr wrap="square" lIns="0" tIns="0" rIns="0" bIns="0" anchor="t">
            <a:noAutofit/>
          </a:bodyPr>
          <a:lstStyle/>
          <a:p>
            <a:pPr marL="0" marR="0" indent="0">
              <a:lnSpc>
                <a:spcPct val="125000"/>
              </a:lnSpc>
              <a:buNone/>
            </a:pPr>
            <a:r>
              <a:rPr lang="ko-KR" sz="2625" b="1">
                <a:solidFill>
                  <a:srgbClr val="7652C4"/>
                </a:solidFill>
                <a:latin typeface="NanumGothic"/>
                <a:ea typeface="NanumGothic"/>
                <a:cs typeface="NanumGothic"/>
              </a:rPr>
              <a:t>작성·이해 지원</a:t>
            </a:r>
            <a:endParaRPr lang="ko-KR" sz="2625" b="1"/>
          </a:p>
        </p:txBody>
      </p:sp>
      <p:sp>
        <p:nvSpPr>
          <p:cNvPr id="5" name="Text 5"/>
          <p:cNvSpPr txBox="1"/>
          <p:nvPr/>
        </p:nvSpPr>
        <p:spPr>
          <a:xfrm>
            <a:off x="809625" y="3200400"/>
            <a:ext cx="3238500" cy="1409700"/>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172033"/>
                </a:solidFill>
                <a:latin typeface="NanumGothic"/>
                <a:ea typeface="NanumGothic"/>
                <a:cs typeface="NanumGothic"/>
              </a:rPr>
              <a:t>코드 자동 완성</a:t>
            </a:r>
            <a:endParaRPr lang="ko-KR" sz="2100" b="0"/>
          </a:p>
          <a:p>
            <a:pPr marL="0" marR="0" indent="0">
              <a:lnSpc>
                <a:spcPct val="125000"/>
              </a:lnSpc>
              <a:buNone/>
            </a:pPr>
            <a:r>
              <a:rPr lang="ko-KR" sz="2100" b="0">
                <a:solidFill>
                  <a:srgbClr val="172033"/>
                </a:solidFill>
                <a:latin typeface="NanumGothic"/>
                <a:ea typeface="NanumGothic"/>
                <a:cs typeface="NanumGothic"/>
              </a:rPr>
              <a:t>코드베이스 질문·설명</a:t>
            </a:r>
            <a:endParaRPr lang="ko-KR" sz="2100" b="0"/>
          </a:p>
          <a:p>
            <a:pPr marL="0" marR="0" indent="0">
              <a:lnSpc>
                <a:spcPct val="125000"/>
              </a:lnSpc>
              <a:buNone/>
            </a:pPr>
            <a:r>
              <a:rPr lang="ko-KR" sz="2100" b="0">
                <a:solidFill>
                  <a:srgbClr val="172033"/>
                </a:solidFill>
                <a:latin typeface="NanumGothic"/>
                <a:ea typeface="NanumGothic"/>
                <a:cs typeface="NanumGothic"/>
              </a:rPr>
              <a:t>수정 방향과 코드 제안</a:t>
            </a:r>
            <a:endParaRPr lang="ko-KR" sz="2100" b="0"/>
          </a:p>
        </p:txBody>
      </p:sp>
      <p:sp>
        <p:nvSpPr>
          <p:cNvPr id="6" name="Text 6"/>
          <p:cNvSpPr txBox="1"/>
          <p:nvPr/>
        </p:nvSpPr>
        <p:spPr>
          <a:xfrm>
            <a:off x="4543425" y="2276475"/>
            <a:ext cx="3238500" cy="552450"/>
          </a:xfrm>
          <a:prstGeom prst="rect">
            <a:avLst/>
          </a:prstGeom>
          <a:noFill/>
          <a:ln>
            <a:noFill/>
          </a:ln>
        </p:spPr>
        <p:txBody>
          <a:bodyPr wrap="square" lIns="0" tIns="0" rIns="0" bIns="0" anchor="t">
            <a:noAutofit/>
          </a:bodyPr>
          <a:lstStyle/>
          <a:p>
            <a:pPr marL="0" marR="0" indent="0">
              <a:lnSpc>
                <a:spcPct val="125000"/>
              </a:lnSpc>
              <a:buNone/>
            </a:pPr>
            <a:r>
              <a:rPr lang="ko-KR" sz="2625" b="1">
                <a:solidFill>
                  <a:srgbClr val="7652C4"/>
                </a:solidFill>
                <a:latin typeface="NanumGothic"/>
                <a:ea typeface="NanumGothic"/>
                <a:cs typeface="NanumGothic"/>
              </a:rPr>
              <a:t>에이전트 실행</a:t>
            </a:r>
            <a:endParaRPr lang="ko-KR" sz="2625" b="1"/>
          </a:p>
        </p:txBody>
      </p:sp>
      <p:sp>
        <p:nvSpPr>
          <p:cNvPr id="7" name="Text 7"/>
          <p:cNvSpPr txBox="1"/>
          <p:nvPr/>
        </p:nvSpPr>
        <p:spPr>
          <a:xfrm>
            <a:off x="4562475" y="3200400"/>
            <a:ext cx="3238500" cy="1409700"/>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172033"/>
                </a:solidFill>
                <a:latin typeface="NanumGothic"/>
                <a:ea typeface="NanumGothic"/>
                <a:cs typeface="NanumGothic"/>
              </a:rPr>
              <a:t>목표와 요구사항을 받아</a:t>
            </a:r>
            <a:endParaRPr lang="ko-KR" sz="2100" b="0"/>
          </a:p>
          <a:p>
            <a:pPr marL="0" marR="0" indent="0">
              <a:lnSpc>
                <a:spcPct val="125000"/>
              </a:lnSpc>
              <a:buNone/>
            </a:pPr>
            <a:r>
              <a:rPr lang="ko-KR" sz="2100" b="0">
                <a:solidFill>
                  <a:srgbClr val="172033"/>
                </a:solidFill>
                <a:latin typeface="NanumGothic"/>
                <a:ea typeface="NanumGothic"/>
                <a:cs typeface="NanumGothic"/>
              </a:rPr>
              <a:t>계획·파일 수정·테스트</a:t>
            </a:r>
            <a:endParaRPr lang="ko-KR" sz="2100" b="0"/>
          </a:p>
          <a:p>
            <a:pPr marL="0" marR="0" indent="0">
              <a:lnSpc>
                <a:spcPct val="125000"/>
              </a:lnSpc>
              <a:buNone/>
            </a:pPr>
            <a:r>
              <a:rPr lang="ko-KR" sz="2100" b="0">
                <a:solidFill>
                  <a:srgbClr val="172033"/>
                </a:solidFill>
                <a:latin typeface="NanumGothic"/>
                <a:ea typeface="NanumGothic"/>
                <a:cs typeface="NanumGothic"/>
              </a:rPr>
              <a:t>리뷰까지 작업을 수행</a:t>
            </a:r>
            <a:endParaRPr lang="ko-KR" sz="2100" b="0"/>
          </a:p>
        </p:txBody>
      </p:sp>
      <p:sp>
        <p:nvSpPr>
          <p:cNvPr id="8" name="Text 8"/>
          <p:cNvSpPr txBox="1"/>
          <p:nvPr/>
        </p:nvSpPr>
        <p:spPr>
          <a:xfrm>
            <a:off x="8296275" y="2276475"/>
            <a:ext cx="3181350" cy="552450"/>
          </a:xfrm>
          <a:prstGeom prst="rect">
            <a:avLst/>
          </a:prstGeom>
          <a:noFill/>
          <a:ln>
            <a:noFill/>
          </a:ln>
        </p:spPr>
        <p:txBody>
          <a:bodyPr wrap="square" lIns="0" tIns="0" rIns="0" bIns="0" anchor="t">
            <a:noAutofit/>
          </a:bodyPr>
          <a:lstStyle/>
          <a:p>
            <a:pPr marL="0" marR="0" indent="0">
              <a:lnSpc>
                <a:spcPct val="125000"/>
              </a:lnSpc>
              <a:buNone/>
            </a:pPr>
            <a:r>
              <a:rPr lang="ko-KR" sz="2550" b="1">
                <a:solidFill>
                  <a:srgbClr val="7652C4"/>
                </a:solidFill>
                <a:latin typeface="NanumGothic"/>
                <a:ea typeface="NanumGothic"/>
                <a:cs typeface="NanumGothic"/>
              </a:rPr>
              <a:t>GitHub 맥락 활용</a:t>
            </a:r>
            <a:endParaRPr lang="ko-KR" sz="2550" b="1"/>
          </a:p>
        </p:txBody>
      </p:sp>
      <p:sp>
        <p:nvSpPr>
          <p:cNvPr id="9" name="Text 9"/>
          <p:cNvSpPr txBox="1"/>
          <p:nvPr/>
        </p:nvSpPr>
        <p:spPr>
          <a:xfrm>
            <a:off x="8315325" y="3200400"/>
            <a:ext cx="3162300" cy="1409700"/>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172033"/>
                </a:solidFill>
                <a:latin typeface="NanumGothic"/>
                <a:ea typeface="NanumGothic"/>
                <a:cs typeface="NanumGothic"/>
              </a:rPr>
              <a:t>저장소·코드 이력</a:t>
            </a:r>
            <a:endParaRPr lang="ko-KR" sz="2100" b="0"/>
          </a:p>
          <a:p>
            <a:pPr marL="0" marR="0" indent="0">
              <a:lnSpc>
                <a:spcPct val="125000"/>
              </a:lnSpc>
              <a:buNone/>
            </a:pPr>
            <a:r>
              <a:rPr lang="ko-KR" sz="2100" b="0">
                <a:solidFill>
                  <a:srgbClr val="172033"/>
                </a:solidFill>
                <a:latin typeface="NanumGothic"/>
                <a:ea typeface="NanumGothic"/>
                <a:cs typeface="NanumGothic"/>
              </a:rPr>
              <a:t>이슈·Pull Request</a:t>
            </a:r>
            <a:endParaRPr lang="ko-KR" sz="2100" b="0"/>
          </a:p>
          <a:p>
            <a:pPr marL="0" marR="0" indent="0">
              <a:lnSpc>
                <a:spcPct val="125000"/>
              </a:lnSpc>
              <a:buNone/>
            </a:pPr>
            <a:r>
              <a:rPr lang="ko-KR" sz="2100" b="0">
                <a:solidFill>
                  <a:srgbClr val="172033"/>
                </a:solidFill>
                <a:latin typeface="NanumGothic"/>
                <a:ea typeface="NanumGothic"/>
                <a:cs typeface="NanumGothic"/>
              </a:rPr>
              <a:t>팀의 지침과 도구 연결</a:t>
            </a:r>
            <a:endParaRPr lang="ko-KR" sz="2100" b="0"/>
          </a:p>
        </p:txBody>
      </p:sp>
      <p:cxnSp>
        <p:nvCxnSpPr>
          <p:cNvPr id="10" name="Handoff 10"/>
          <p:cNvCxnSpPr/>
          <p:nvPr/>
        </p:nvCxnSpPr>
        <p:spPr>
          <a:xfrm>
            <a:off x="790575" y="5095875"/>
            <a:ext cx="10601325" cy="0"/>
          </a:xfrm>
          <a:prstGeom prst="line">
            <a:avLst/>
          </a:prstGeom>
          <a:ln w="19050">
            <a:solidFill>
              <a:srgbClr val="D8DFEB"/>
            </a:solidFill>
          </a:ln>
        </p:spPr>
      </p:cxnSp>
      <p:sp>
        <p:nvSpPr>
          <p:cNvPr id="11" name="Text 11"/>
          <p:cNvSpPr txBox="1"/>
          <p:nvPr/>
        </p:nvSpPr>
        <p:spPr>
          <a:xfrm>
            <a:off x="800100" y="5476875"/>
            <a:ext cx="10629900" cy="50482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72033"/>
                </a:solidFill>
                <a:latin typeface="NanumGothic"/>
                <a:ea typeface="NanumGothic"/>
                <a:cs typeface="NanumGothic"/>
              </a:rPr>
              <a:t>특정 모델 하나가 아니라, 개발 도구와 작업 흐름을 연결하는 제품</a:t>
            </a:r>
            <a:endParaRPr lang="ko-KR" sz="2175" b="1"/>
          </a:p>
        </p:txBody>
      </p:sp>
      <p:sp>
        <p:nvSpPr>
          <p:cNvPr id="12" name="Text 12"/>
          <p:cNvSpPr txBox="1"/>
          <p:nvPr/>
        </p:nvSpPr>
        <p:spPr>
          <a:xfrm>
            <a:off x="809625" y="6134100"/>
            <a:ext cx="10563225" cy="323850"/>
          </a:xfrm>
          <a:prstGeom prst="rect">
            <a:avLst/>
          </a:prstGeom>
          <a:noFill/>
          <a:ln>
            <a:noFill/>
          </a:ln>
        </p:spPr>
        <p:txBody>
          <a:bodyPr wrap="square" lIns="0" tIns="0" rIns="0" bIns="0" anchor="t">
            <a:noAutofit/>
          </a:bodyPr>
          <a:lstStyle/>
          <a:p>
            <a:pPr marL="0" marR="0" indent="0">
              <a:lnSpc>
                <a:spcPct val="125000"/>
              </a:lnSpc>
              <a:buNone/>
            </a:pPr>
            <a:r>
              <a:rPr lang="ko-KR" sz="1725" b="0">
                <a:solidFill>
                  <a:srgbClr val="637085"/>
                </a:solidFill>
                <a:latin typeface="NanumGothic"/>
                <a:ea typeface="NanumGothic"/>
                <a:cs typeface="NanumGothic"/>
              </a:rPr>
              <a:t>결과 검토와 병합·출시 판단은 사람이 유지합니다</a:t>
            </a:r>
            <a:endParaRPr lang="ko-KR" sz="1725" b="0"/>
          </a:p>
        </p:txBody>
      </p:sp>
      <p:sp>
        <p:nvSpPr>
          <p:cNvPr id="13" name="Text 13"/>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2</a:t>
            </a:r>
            <a:endParaRPr lang="ko-KR" sz="1050" b="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어디서 사용하는가: 주요 서피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어디서 사용하는가: 주요 서피스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서피스는 Copilot을 사용하는 화면·도구를 뜻합니다</a:t>
            </a:r>
            <a:endParaRPr lang="ko-KR" sz="1875" b="0"/>
          </a:p>
        </p:txBody>
      </p:sp>
      <p:graphicFrame>
        <p:nvGraphicFramePr>
          <p:cNvPr id="4" name="Concept comparison"/>
          <p:cNvGraphicFramePr/>
          <p:nvPr/>
        </p:nvGraphicFramePr>
        <p:xfrm>
          <a:off x="742950" y="2057400"/>
          <a:ext cx="10706100" cy="3771900"/>
        </p:xfrm>
        <a:graphic>
          <a:graphicData uri="http://schemas.openxmlformats.org/drawingml/2006/table">
            <a:tbl>
              <a:tblPr firstRow="1"/>
              <a:tblGrid>
                <a:gridCol w="314325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tblGrid>
              <a:tr h="628650">
                <a:tc>
                  <a:txBody>
                    <a:bodyPr/>
                    <a:lstStyle/>
                    <a:p>
                      <a:pPr marL="0" marR="0" indent="0">
                        <a:lnSpc>
                          <a:spcPct val="125000"/>
                        </a:lnSpc>
                        <a:buNone/>
                      </a:pPr>
                      <a:r>
                        <a:rPr lang="ko-KR" sz="1875" b="1">
                          <a:solidFill>
                            <a:srgbClr val="FFFFFF"/>
                          </a:solidFill>
                          <a:latin typeface="NanumGothic"/>
                          <a:ea typeface="NanumGothic"/>
                          <a:cs typeface="NanumGothic"/>
                        </a:rPr>
                        <a:t>서피스</a:t>
                      </a:r>
                      <a:endParaRPr lang="ko-KR" sz="1875" b="1"/>
                    </a:p>
                  </a:txBody>
                  <a:tcPr marL="190500" marR="152400" marT="152400" marB="95250" anchor="ctr">
                    <a:solidFill>
                      <a:srgbClr val="584185"/>
                    </a:solidFill>
                  </a:tcPr>
                </a:tc>
                <a:tc>
                  <a:txBody>
                    <a:bodyPr/>
                    <a:lstStyle/>
                    <a:p>
                      <a:pPr marL="0" marR="0" indent="0">
                        <a:lnSpc>
                          <a:spcPct val="125000"/>
                        </a:lnSpc>
                        <a:buNone/>
                      </a:pPr>
                      <a:r>
                        <a:rPr lang="ko-KR" sz="1875" b="1">
                          <a:solidFill>
                            <a:srgbClr val="FFFFFF"/>
                          </a:solidFill>
                          <a:latin typeface="NanumGothic"/>
                          <a:ea typeface="NanumGothic"/>
                          <a:cs typeface="NanumGothic"/>
                        </a:rPr>
                        <a:t>사용하는 자리</a:t>
                      </a:r>
                      <a:endParaRPr lang="ko-KR" sz="1875" b="1"/>
                    </a:p>
                  </a:txBody>
                  <a:tcPr marL="190500" marR="152400" marT="152400" marB="95250" anchor="ctr">
                    <a:solidFill>
                      <a:srgbClr val="584185"/>
                    </a:solidFill>
                  </a:tcPr>
                </a:tc>
                <a:tc>
                  <a:txBody>
                    <a:bodyPr/>
                    <a:lstStyle/>
                    <a:p>
                      <a:pPr marL="0" marR="0" indent="0">
                        <a:lnSpc>
                          <a:spcPct val="125000"/>
                        </a:lnSpc>
                        <a:buNone/>
                      </a:pPr>
                      <a:r>
                        <a:rPr lang="ko-KR" sz="1875" b="1">
                          <a:solidFill>
                            <a:srgbClr val="FFFFFF"/>
                          </a:solidFill>
                          <a:latin typeface="NanumGothic"/>
                          <a:ea typeface="NanumGothic"/>
                          <a:cs typeface="NanumGothic"/>
                        </a:rPr>
                        <a:t>대표적인 활용</a:t>
                      </a:r>
                      <a:endParaRPr lang="ko-KR" sz="1875" b="1"/>
                    </a:p>
                  </a:txBody>
                  <a:tcPr marL="190500" marR="152400" marT="152400" marB="95250" anchor="ctr">
                    <a:solidFill>
                      <a:srgbClr val="584185"/>
                    </a:solidFill>
                  </a:tcPr>
                </a:tc>
                <a:extLst>
                  <a:ext uri="{0D108BD9-81ED-4DB2-BD59-A6C34878D82A}">
                    <a16:rowId xmlns:a16="http://schemas.microsoft.com/office/drawing/2014/main" val="10000"/>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IDE</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VS Code·JetBrains 등</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코드 완성·대화·로컬 에이전트</a:t>
                      </a:r>
                      <a:endParaRPr lang="ko-KR" sz="1800" b="0"/>
                    </a:p>
                  </a:txBody>
                  <a:tcPr marL="190500" marR="152400" marT="152400" marB="95250" anchor="ctr">
                    <a:solidFill>
                      <a:srgbClr val="FFFFFF"/>
                    </a:solidFill>
                  </a:tcPr>
                </a:tc>
                <a:extLst>
                  <a:ext uri="{0D108BD9-81ED-4DB2-BD59-A6C34878D82A}">
                    <a16:rowId xmlns:a16="http://schemas.microsoft.com/office/drawing/2014/main" val="10001"/>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GitHub.com</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저장소 협업</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Chat·클라우드 위임·PR 리뷰</a:t>
                      </a:r>
                      <a:endParaRPr lang="ko-KR" sz="1800" b="0"/>
                    </a:p>
                  </a:txBody>
                  <a:tcPr marL="190500" marR="152400" marT="152400" marB="95250" anchor="ctr">
                    <a:solidFill>
                      <a:srgbClr val="EEEAF7"/>
                    </a:solidFill>
                  </a:tcPr>
                </a:tc>
                <a:extLst>
                  <a:ext uri="{0D108BD9-81ED-4DB2-BD59-A6C34878D82A}">
                    <a16:rowId xmlns:a16="http://schemas.microsoft.com/office/drawing/2014/main" val="10002"/>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Copilot CLI</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터미널</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코드 수정·명령·테스트 실행</a:t>
                      </a:r>
                      <a:endParaRPr lang="ko-KR" sz="1800" b="0"/>
                    </a:p>
                  </a:txBody>
                  <a:tcPr marL="190500" marR="152400" marT="152400" marB="95250" anchor="ctr">
                    <a:solidFill>
                      <a:srgbClr val="FFFFFF"/>
                    </a:solidFill>
                  </a:tcPr>
                </a:tc>
                <a:extLst>
                  <a:ext uri="{0D108BD9-81ED-4DB2-BD59-A6C34878D82A}">
                    <a16:rowId xmlns:a16="http://schemas.microsoft.com/office/drawing/2014/main" val="10003"/>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GitHub Copilot app</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데스크톱 작업 공간</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여러 에이전트 세션·이슈·PR 관리</a:t>
                      </a:r>
                      <a:endParaRPr lang="ko-KR" sz="1800" b="0"/>
                    </a:p>
                  </a:txBody>
                  <a:tcPr marL="190500" marR="152400" marT="152400" marB="95250" anchor="ctr">
                    <a:solidFill>
                      <a:srgbClr val="EEEAF7"/>
                    </a:solidFill>
                  </a:tcPr>
                </a:tc>
                <a:extLst>
                  <a:ext uri="{0D108BD9-81ED-4DB2-BD59-A6C34878D82A}">
                    <a16:rowId xmlns:a16="http://schemas.microsoft.com/office/drawing/2014/main" val="10004"/>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GitHub Mobile</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이동 중 확인</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코드 질문·저장소·PR 확인</a:t>
                      </a:r>
                      <a:endParaRPr lang="ko-KR" sz="1800" b="0"/>
                    </a:p>
                  </a:txBody>
                  <a:tcPr marL="190500" marR="152400" marT="152400" marB="95250" anchor="ctr">
                    <a:solidFill>
                      <a:srgbClr val="FFFFFF"/>
                    </a:solidFill>
                  </a:tcPr>
                </a:tc>
                <a:extLst>
                  <a:ext uri="{0D108BD9-81ED-4DB2-BD59-A6C34878D82A}">
                    <a16:rowId xmlns:a16="http://schemas.microsoft.com/office/drawing/2014/main" val="10005"/>
                  </a:ext>
                </a:extLst>
              </a:tr>
            </a:tbl>
          </a:graphicData>
        </a:graphic>
      </p:graphicFrame>
      <p:sp>
        <p:nvSpPr>
          <p:cNvPr id="5" name="Text 5"/>
          <p:cNvSpPr txBox="1"/>
          <p:nvPr/>
        </p:nvSpPr>
        <p:spPr>
          <a:xfrm>
            <a:off x="790575" y="6086475"/>
            <a:ext cx="10629900" cy="381000"/>
          </a:xfrm>
          <a:prstGeom prst="rect">
            <a:avLst/>
          </a:prstGeom>
          <a:noFill/>
          <a:ln>
            <a:noFill/>
          </a:ln>
        </p:spPr>
        <p:txBody>
          <a:bodyPr wrap="square" lIns="0" tIns="0" rIns="0" bIns="0" anchor="t">
            <a:noAutofit/>
          </a:bodyPr>
          <a:lstStyle/>
          <a:p>
            <a:pPr marL="0" marR="0" indent="0">
              <a:lnSpc>
                <a:spcPct val="125000"/>
              </a:lnSpc>
              <a:buNone/>
            </a:pPr>
            <a:r>
              <a:rPr lang="ko-KR" sz="1575" b="0">
                <a:solidFill>
                  <a:srgbClr val="637085"/>
                </a:solidFill>
                <a:latin typeface="NanumGothic"/>
                <a:ea typeface="NanumGothic"/>
                <a:cs typeface="NanumGothic"/>
              </a:rPr>
              <a:t>서피스마다 지원 기능이 다릅니다 · 플랜·IDE 버전·조직 정책에 따라 사용 범위 확인</a:t>
            </a:r>
            <a:endParaRPr lang="ko-KR" sz="1575" b="0"/>
          </a:p>
        </p:txBody>
      </p:sp>
      <p:sp>
        <p:nvSpPr>
          <p:cNvPr id="6" name="Text 6"/>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3</a:t>
            </a:r>
            <a:endParaRPr lang="ko-KR" sz="1050" b="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작업에 맞춰 모드와 자율성을 선택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작업에 맞춰 모드와 자율성을 선택합니다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서피스는 ‘어디서’, 모드는 ‘어떻게 함께 일하는가’의 차이입니다</a:t>
            </a:r>
            <a:endParaRPr lang="ko-KR" sz="1875" b="0"/>
          </a:p>
        </p:txBody>
      </p:sp>
      <p:sp>
        <p:nvSpPr>
          <p:cNvPr id="4" name="Text 4"/>
          <p:cNvSpPr txBox="1"/>
          <p:nvPr/>
        </p:nvSpPr>
        <p:spPr>
          <a:xfrm>
            <a:off x="790575" y="2124075"/>
            <a:ext cx="5114925" cy="457200"/>
          </a:xfrm>
          <a:prstGeom prst="rect">
            <a:avLst/>
          </a:prstGeom>
          <a:noFill/>
          <a:ln>
            <a:noFill/>
          </a:ln>
        </p:spPr>
        <p:txBody>
          <a:bodyPr wrap="square" lIns="0" tIns="0" rIns="0" bIns="0" anchor="t">
            <a:noAutofit/>
          </a:bodyPr>
          <a:lstStyle/>
          <a:p>
            <a:pPr marL="0" marR="0" indent="0">
              <a:lnSpc>
                <a:spcPct val="125000"/>
              </a:lnSpc>
              <a:buNone/>
            </a:pPr>
            <a:r>
              <a:rPr lang="ko-KR" sz="2325" b="1">
                <a:solidFill>
                  <a:srgbClr val="7652C4"/>
                </a:solidFill>
                <a:latin typeface="NanumGothic"/>
                <a:ea typeface="NanumGothic"/>
                <a:cs typeface="NanumGothic"/>
              </a:rPr>
              <a:t>IDE의 주요 모드</a:t>
            </a:r>
            <a:endParaRPr lang="ko-KR" sz="2325" b="1"/>
          </a:p>
        </p:txBody>
      </p:sp>
      <p:sp>
        <p:nvSpPr>
          <p:cNvPr id="5" name="Text 5"/>
          <p:cNvSpPr txBox="1"/>
          <p:nvPr/>
        </p:nvSpPr>
        <p:spPr>
          <a:xfrm>
            <a:off x="6419850" y="2124075"/>
            <a:ext cx="5029200" cy="457200"/>
          </a:xfrm>
          <a:prstGeom prst="rect">
            <a:avLst/>
          </a:prstGeom>
          <a:noFill/>
          <a:ln>
            <a:noFill/>
          </a:ln>
        </p:spPr>
        <p:txBody>
          <a:bodyPr wrap="square" lIns="0" tIns="0" rIns="0" bIns="0" anchor="t">
            <a:noAutofit/>
          </a:bodyPr>
          <a:lstStyle/>
          <a:p>
            <a:pPr marL="0" marR="0" indent="0">
              <a:lnSpc>
                <a:spcPct val="125000"/>
              </a:lnSpc>
              <a:buNone/>
            </a:pPr>
            <a:r>
              <a:rPr lang="ko-KR" sz="2325" b="1">
                <a:solidFill>
                  <a:srgbClr val="7652C4"/>
                </a:solidFill>
                <a:latin typeface="NanumGothic"/>
                <a:ea typeface="NanumGothic"/>
                <a:cs typeface="NanumGothic"/>
              </a:rPr>
              <a:t>CLI · Copilot app</a:t>
            </a:r>
            <a:endParaRPr lang="ko-KR" sz="2325" b="1"/>
          </a:p>
        </p:txBody>
      </p:sp>
      <p:sp>
        <p:nvSpPr>
          <p:cNvPr id="6" name="Text 6"/>
          <p:cNvSpPr txBox="1"/>
          <p:nvPr/>
        </p:nvSpPr>
        <p:spPr>
          <a:xfrm>
            <a:off x="809625" y="2771775"/>
            <a:ext cx="1504950" cy="4095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72033"/>
                </a:solidFill>
                <a:latin typeface="NanumGothic"/>
                <a:ea typeface="NanumGothic"/>
                <a:cs typeface="NanumGothic"/>
              </a:rPr>
              <a:t>Ask</a:t>
            </a:r>
            <a:endParaRPr lang="ko-KR" sz="2175" b="1"/>
          </a:p>
        </p:txBody>
      </p:sp>
      <p:sp>
        <p:nvSpPr>
          <p:cNvPr id="7" name="Text 7"/>
          <p:cNvSpPr txBox="1"/>
          <p:nvPr/>
        </p:nvSpPr>
        <p:spPr>
          <a:xfrm>
            <a:off x="2409825" y="2771775"/>
            <a:ext cx="3476625" cy="65722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172033"/>
                </a:solidFill>
                <a:latin typeface="NanumGothic"/>
                <a:ea typeface="NanumGothic"/>
                <a:cs typeface="NanumGothic"/>
              </a:rPr>
              <a:t>질문·설명·코드 제안</a:t>
            </a:r>
            <a:endParaRPr lang="ko-KR" sz="1875" b="0"/>
          </a:p>
          <a:p>
            <a:pPr marL="0" marR="0" indent="0">
              <a:lnSpc>
                <a:spcPct val="125000"/>
              </a:lnSpc>
              <a:buNone/>
            </a:pPr>
            <a:r>
              <a:rPr lang="ko-KR" sz="1875" b="0">
                <a:solidFill>
                  <a:srgbClr val="172033"/>
                </a:solidFill>
                <a:latin typeface="NanumGothic"/>
                <a:ea typeface="NanumGothic"/>
                <a:cs typeface="NanumGothic"/>
              </a:rPr>
              <a:t>결과를 보고 직접 판단</a:t>
            </a:r>
            <a:endParaRPr lang="ko-KR" sz="1875" b="0"/>
          </a:p>
        </p:txBody>
      </p:sp>
      <p:sp>
        <p:nvSpPr>
          <p:cNvPr id="8" name="Text 8"/>
          <p:cNvSpPr txBox="1"/>
          <p:nvPr/>
        </p:nvSpPr>
        <p:spPr>
          <a:xfrm>
            <a:off x="809625" y="3524250"/>
            <a:ext cx="1504950" cy="4095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72033"/>
                </a:solidFill>
                <a:latin typeface="NanumGothic"/>
                <a:ea typeface="NanumGothic"/>
                <a:cs typeface="NanumGothic"/>
              </a:rPr>
              <a:t>Edit*</a:t>
            </a:r>
            <a:endParaRPr lang="ko-KR" sz="2175" b="1"/>
          </a:p>
        </p:txBody>
      </p:sp>
      <p:sp>
        <p:nvSpPr>
          <p:cNvPr id="9" name="Text 9"/>
          <p:cNvSpPr txBox="1"/>
          <p:nvPr/>
        </p:nvSpPr>
        <p:spPr>
          <a:xfrm>
            <a:off x="2409825" y="3524250"/>
            <a:ext cx="3476625" cy="65722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172033"/>
                </a:solidFill>
                <a:latin typeface="NanumGothic"/>
                <a:ea typeface="NanumGothic"/>
                <a:cs typeface="NanumGothic"/>
              </a:rPr>
              <a:t>선택한 파일을 중심으로 수정</a:t>
            </a:r>
            <a:endParaRPr lang="ko-KR" sz="1875" b="0"/>
          </a:p>
          <a:p>
            <a:pPr marL="0" marR="0" indent="0">
              <a:lnSpc>
                <a:spcPct val="125000"/>
              </a:lnSpc>
              <a:buNone/>
            </a:pPr>
            <a:r>
              <a:rPr lang="ko-KR" sz="1875" b="0">
                <a:solidFill>
                  <a:srgbClr val="172033"/>
                </a:solidFill>
                <a:latin typeface="NanumGothic"/>
                <a:ea typeface="NanumGothic"/>
                <a:cs typeface="NanumGothic"/>
              </a:rPr>
              <a:t>제안한 변경을 수락·거부</a:t>
            </a:r>
            <a:endParaRPr lang="ko-KR" sz="1875" b="0"/>
          </a:p>
        </p:txBody>
      </p:sp>
      <p:sp>
        <p:nvSpPr>
          <p:cNvPr id="10" name="Text 10"/>
          <p:cNvSpPr txBox="1"/>
          <p:nvPr/>
        </p:nvSpPr>
        <p:spPr>
          <a:xfrm>
            <a:off x="809625" y="4276725"/>
            <a:ext cx="1504950" cy="4095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72033"/>
                </a:solidFill>
                <a:latin typeface="NanumGothic"/>
                <a:ea typeface="NanumGothic"/>
                <a:cs typeface="NanumGothic"/>
              </a:rPr>
              <a:t>Plan</a:t>
            </a:r>
            <a:endParaRPr lang="ko-KR" sz="2175" b="1"/>
          </a:p>
        </p:txBody>
      </p:sp>
      <p:sp>
        <p:nvSpPr>
          <p:cNvPr id="11" name="Text 11"/>
          <p:cNvSpPr txBox="1"/>
          <p:nvPr/>
        </p:nvSpPr>
        <p:spPr>
          <a:xfrm>
            <a:off x="2409825" y="4276725"/>
            <a:ext cx="3476625" cy="65722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172033"/>
                </a:solidFill>
                <a:latin typeface="NanumGothic"/>
                <a:ea typeface="NanumGothic"/>
                <a:cs typeface="NanumGothic"/>
              </a:rPr>
              <a:t>요구사항·구현 계획을 정리</a:t>
            </a:r>
            <a:endParaRPr lang="ko-KR" sz="1875" b="0"/>
          </a:p>
          <a:p>
            <a:pPr marL="0" marR="0" indent="0">
              <a:lnSpc>
                <a:spcPct val="125000"/>
              </a:lnSpc>
              <a:buNone/>
            </a:pPr>
            <a:r>
              <a:rPr lang="ko-KR" sz="1875" b="0">
                <a:solidFill>
                  <a:srgbClr val="172033"/>
                </a:solidFill>
                <a:latin typeface="NanumGothic"/>
                <a:ea typeface="NanumGothic"/>
                <a:cs typeface="NanumGothic"/>
              </a:rPr>
              <a:t>확인 후 구현 단계로 전환</a:t>
            </a:r>
            <a:endParaRPr lang="ko-KR" sz="1875" b="0"/>
          </a:p>
        </p:txBody>
      </p:sp>
      <p:sp>
        <p:nvSpPr>
          <p:cNvPr id="12" name="Text 12"/>
          <p:cNvSpPr txBox="1"/>
          <p:nvPr/>
        </p:nvSpPr>
        <p:spPr>
          <a:xfrm>
            <a:off x="809625" y="5029200"/>
            <a:ext cx="1504950" cy="4095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72033"/>
                </a:solidFill>
                <a:latin typeface="NanumGothic"/>
                <a:ea typeface="NanumGothic"/>
                <a:cs typeface="NanumGothic"/>
              </a:rPr>
              <a:t>Agent</a:t>
            </a:r>
            <a:endParaRPr lang="ko-KR" sz="2175" b="1"/>
          </a:p>
        </p:txBody>
      </p:sp>
      <p:sp>
        <p:nvSpPr>
          <p:cNvPr id="13" name="Text 13"/>
          <p:cNvSpPr txBox="1"/>
          <p:nvPr/>
        </p:nvSpPr>
        <p:spPr>
          <a:xfrm>
            <a:off x="2409825" y="5029200"/>
            <a:ext cx="3476625" cy="65722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172033"/>
                </a:solidFill>
                <a:latin typeface="NanumGothic"/>
                <a:ea typeface="NanumGothic"/>
                <a:cs typeface="NanumGothic"/>
              </a:rPr>
              <a:t>필요한 파일·도구를 선택</a:t>
            </a:r>
            <a:endParaRPr lang="ko-KR" sz="1875" b="0"/>
          </a:p>
          <a:p>
            <a:pPr marL="0" marR="0" indent="0">
              <a:lnSpc>
                <a:spcPct val="125000"/>
              </a:lnSpc>
              <a:buNone/>
            </a:pPr>
            <a:r>
              <a:rPr lang="ko-KR" sz="1875" b="0">
                <a:solidFill>
                  <a:srgbClr val="172033"/>
                </a:solidFill>
                <a:latin typeface="NanumGothic"/>
                <a:ea typeface="NanumGothic"/>
                <a:cs typeface="NanumGothic"/>
              </a:rPr>
              <a:t>수정·실행·검증을 반복</a:t>
            </a:r>
            <a:endParaRPr lang="ko-KR" sz="1875" b="0"/>
          </a:p>
        </p:txBody>
      </p:sp>
      <p:sp>
        <p:nvSpPr>
          <p:cNvPr id="14" name="Text 14"/>
          <p:cNvSpPr txBox="1"/>
          <p:nvPr/>
        </p:nvSpPr>
        <p:spPr>
          <a:xfrm>
            <a:off x="6438900" y="2771775"/>
            <a:ext cx="1885950" cy="409575"/>
          </a:xfrm>
          <a:prstGeom prst="rect">
            <a:avLst/>
          </a:prstGeom>
          <a:noFill/>
          <a:ln>
            <a:noFill/>
          </a:ln>
        </p:spPr>
        <p:txBody>
          <a:bodyPr wrap="square" lIns="0" tIns="0" rIns="0" bIns="0" anchor="t">
            <a:noAutofit/>
          </a:bodyPr>
          <a:lstStyle/>
          <a:p>
            <a:pPr marL="0" marR="0" indent="0">
              <a:lnSpc>
                <a:spcPct val="125000"/>
              </a:lnSpc>
              <a:buNone/>
            </a:pPr>
            <a:r>
              <a:rPr lang="ko-KR" sz="2025" b="1">
                <a:solidFill>
                  <a:srgbClr val="172033"/>
                </a:solidFill>
                <a:latin typeface="NanumGothic"/>
                <a:ea typeface="NanumGothic"/>
                <a:cs typeface="NanumGothic"/>
              </a:rPr>
              <a:t>Interactive</a:t>
            </a:r>
            <a:endParaRPr lang="ko-KR" sz="2025" b="1"/>
          </a:p>
        </p:txBody>
      </p:sp>
      <p:sp>
        <p:nvSpPr>
          <p:cNvPr id="15" name="Text 15"/>
          <p:cNvSpPr txBox="1"/>
          <p:nvPr/>
        </p:nvSpPr>
        <p:spPr>
          <a:xfrm>
            <a:off x="8420100" y="2771775"/>
            <a:ext cx="3048000" cy="657225"/>
          </a:xfrm>
          <a:prstGeom prst="rect">
            <a:avLst/>
          </a:prstGeom>
          <a:noFill/>
          <a:ln>
            <a:noFill/>
          </a:ln>
        </p:spPr>
        <p:txBody>
          <a:bodyPr wrap="square" lIns="0" tIns="0" rIns="0" bIns="0" anchor="t">
            <a:noAutofit/>
          </a:bodyPr>
          <a:lstStyle/>
          <a:p>
            <a:pPr marL="0" marR="0" indent="0">
              <a:lnSpc>
                <a:spcPct val="125000"/>
              </a:lnSpc>
              <a:buNone/>
            </a:pPr>
            <a:r>
              <a:rPr lang="ko-KR" sz="1800" b="0">
                <a:solidFill>
                  <a:srgbClr val="172033"/>
                </a:solidFill>
                <a:latin typeface="NanumGothic"/>
                <a:ea typeface="NanumGothic"/>
                <a:cs typeface="NanumGothic"/>
              </a:rPr>
              <a:t>대화하며 작업을 진행</a:t>
            </a:r>
            <a:endParaRPr lang="ko-KR" sz="1800" b="0"/>
          </a:p>
          <a:p>
            <a:pPr marL="0" marR="0" indent="0">
              <a:lnSpc>
                <a:spcPct val="125000"/>
              </a:lnSpc>
              <a:buNone/>
            </a:pPr>
            <a:r>
              <a:rPr lang="ko-KR" sz="1800" b="0">
                <a:solidFill>
                  <a:srgbClr val="172033"/>
                </a:solidFill>
                <a:latin typeface="NanumGothic"/>
                <a:ea typeface="NanumGothic"/>
                <a:cs typeface="NanumGothic"/>
              </a:rPr>
              <a:t>필요한 지점에서 방향 조정</a:t>
            </a:r>
            <a:endParaRPr lang="ko-KR" sz="1800" b="0"/>
          </a:p>
        </p:txBody>
      </p:sp>
      <p:sp>
        <p:nvSpPr>
          <p:cNvPr id="16" name="Text 16"/>
          <p:cNvSpPr txBox="1"/>
          <p:nvPr/>
        </p:nvSpPr>
        <p:spPr>
          <a:xfrm>
            <a:off x="6438900" y="3810000"/>
            <a:ext cx="1885950" cy="4095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72033"/>
                </a:solidFill>
                <a:latin typeface="NanumGothic"/>
                <a:ea typeface="NanumGothic"/>
                <a:cs typeface="NanumGothic"/>
              </a:rPr>
              <a:t>Plan</a:t>
            </a:r>
            <a:endParaRPr lang="ko-KR" sz="2175" b="1"/>
          </a:p>
        </p:txBody>
      </p:sp>
      <p:sp>
        <p:nvSpPr>
          <p:cNvPr id="17" name="Text 17"/>
          <p:cNvSpPr txBox="1"/>
          <p:nvPr/>
        </p:nvSpPr>
        <p:spPr>
          <a:xfrm>
            <a:off x="8420100" y="3810000"/>
            <a:ext cx="3048000" cy="657225"/>
          </a:xfrm>
          <a:prstGeom prst="rect">
            <a:avLst/>
          </a:prstGeom>
          <a:noFill/>
          <a:ln>
            <a:noFill/>
          </a:ln>
        </p:spPr>
        <p:txBody>
          <a:bodyPr wrap="square" lIns="0" tIns="0" rIns="0" bIns="0" anchor="t">
            <a:noAutofit/>
          </a:bodyPr>
          <a:lstStyle/>
          <a:p>
            <a:pPr marL="0" marR="0" indent="0">
              <a:lnSpc>
                <a:spcPct val="125000"/>
              </a:lnSpc>
              <a:buNone/>
            </a:pPr>
            <a:r>
              <a:rPr lang="ko-KR" sz="1800" b="0">
                <a:solidFill>
                  <a:srgbClr val="172033"/>
                </a:solidFill>
                <a:latin typeface="NanumGothic"/>
                <a:ea typeface="NanumGothic"/>
                <a:cs typeface="NanumGothic"/>
              </a:rPr>
              <a:t>계획을 먼저 검토</a:t>
            </a:r>
            <a:endParaRPr lang="ko-KR" sz="1800" b="0"/>
          </a:p>
          <a:p>
            <a:pPr marL="0" marR="0" indent="0">
              <a:lnSpc>
                <a:spcPct val="125000"/>
              </a:lnSpc>
              <a:buNone/>
            </a:pPr>
            <a:r>
              <a:rPr lang="ko-KR" sz="1800" b="0">
                <a:solidFill>
                  <a:srgbClr val="172033"/>
                </a:solidFill>
                <a:latin typeface="NanumGothic"/>
                <a:ea typeface="NanumGothic"/>
                <a:cs typeface="NanumGothic"/>
              </a:rPr>
              <a:t>수락 후 구현으로 전환</a:t>
            </a:r>
            <a:endParaRPr lang="ko-KR" sz="1800" b="0"/>
          </a:p>
        </p:txBody>
      </p:sp>
      <p:sp>
        <p:nvSpPr>
          <p:cNvPr id="18" name="Text 18"/>
          <p:cNvSpPr txBox="1"/>
          <p:nvPr/>
        </p:nvSpPr>
        <p:spPr>
          <a:xfrm>
            <a:off x="6438900" y="4848225"/>
            <a:ext cx="1885950" cy="409575"/>
          </a:xfrm>
          <a:prstGeom prst="rect">
            <a:avLst/>
          </a:prstGeom>
          <a:noFill/>
          <a:ln>
            <a:noFill/>
          </a:ln>
        </p:spPr>
        <p:txBody>
          <a:bodyPr wrap="square" lIns="0" tIns="0" rIns="0" bIns="0" anchor="t">
            <a:noAutofit/>
          </a:bodyPr>
          <a:lstStyle/>
          <a:p>
            <a:pPr marL="0" marR="0" indent="0">
              <a:lnSpc>
                <a:spcPct val="125000"/>
              </a:lnSpc>
              <a:buNone/>
            </a:pPr>
            <a:r>
              <a:rPr lang="ko-KR" sz="2100" b="1">
                <a:solidFill>
                  <a:srgbClr val="172033"/>
                </a:solidFill>
                <a:latin typeface="NanumGothic"/>
                <a:ea typeface="NanumGothic"/>
                <a:cs typeface="NanumGothic"/>
              </a:rPr>
              <a:t>Autopilot</a:t>
            </a:r>
            <a:endParaRPr lang="ko-KR" sz="2100" b="1"/>
          </a:p>
        </p:txBody>
      </p:sp>
      <p:sp>
        <p:nvSpPr>
          <p:cNvPr id="19" name="Text 19"/>
          <p:cNvSpPr txBox="1"/>
          <p:nvPr/>
        </p:nvSpPr>
        <p:spPr>
          <a:xfrm>
            <a:off x="8420100" y="4848225"/>
            <a:ext cx="3048000" cy="657225"/>
          </a:xfrm>
          <a:prstGeom prst="rect">
            <a:avLst/>
          </a:prstGeom>
          <a:noFill/>
          <a:ln>
            <a:noFill/>
          </a:ln>
        </p:spPr>
        <p:txBody>
          <a:bodyPr wrap="square" lIns="0" tIns="0" rIns="0" bIns="0" anchor="t">
            <a:noAutofit/>
          </a:bodyPr>
          <a:lstStyle/>
          <a:p>
            <a:pPr marL="0" marR="0" indent="0">
              <a:lnSpc>
                <a:spcPct val="125000"/>
              </a:lnSpc>
              <a:buNone/>
            </a:pPr>
            <a:r>
              <a:rPr lang="ko-KR" sz="1800" b="0">
                <a:solidFill>
                  <a:srgbClr val="172033"/>
                </a:solidFill>
                <a:latin typeface="NanumGothic"/>
                <a:ea typeface="NanumGothic"/>
                <a:cs typeface="NanumGothic"/>
              </a:rPr>
              <a:t>명확한 목표를 연속 수행</a:t>
            </a:r>
            <a:endParaRPr lang="ko-KR" sz="1800" b="0"/>
          </a:p>
          <a:p>
            <a:pPr marL="0" marR="0" indent="0">
              <a:lnSpc>
                <a:spcPct val="125000"/>
              </a:lnSpc>
              <a:buNone/>
            </a:pPr>
            <a:r>
              <a:rPr lang="ko-KR" sz="1800" b="0">
                <a:solidFill>
                  <a:srgbClr val="172033"/>
                </a:solidFill>
                <a:latin typeface="NanumGothic"/>
                <a:ea typeface="NanumGothic"/>
                <a:cs typeface="NanumGothic"/>
              </a:rPr>
              <a:t>권한·중단 조건을 사전 설정</a:t>
            </a:r>
            <a:endParaRPr lang="ko-KR" sz="1800" b="0"/>
          </a:p>
        </p:txBody>
      </p:sp>
      <p:sp>
        <p:nvSpPr>
          <p:cNvPr id="20" name="Text 20"/>
          <p:cNvSpPr txBox="1"/>
          <p:nvPr/>
        </p:nvSpPr>
        <p:spPr>
          <a:xfrm>
            <a:off x="800100" y="5895975"/>
            <a:ext cx="10601325" cy="285750"/>
          </a:xfrm>
          <a:prstGeom prst="rect">
            <a:avLst/>
          </a:prstGeom>
          <a:noFill/>
          <a:ln>
            <a:noFill/>
          </a:ln>
        </p:spPr>
        <p:txBody>
          <a:bodyPr wrap="square" lIns="0" tIns="0" rIns="0" bIns="0" anchor="t">
            <a:noAutofit/>
          </a:bodyPr>
          <a:lstStyle/>
          <a:p>
            <a:pPr marL="0" marR="0" indent="0">
              <a:lnSpc>
                <a:spcPct val="125000"/>
              </a:lnSpc>
              <a:buNone/>
            </a:pPr>
            <a:r>
              <a:rPr lang="ko-KR" sz="1500" b="0">
                <a:solidFill>
                  <a:srgbClr val="637085"/>
                </a:solidFill>
                <a:latin typeface="NanumGothic"/>
                <a:ea typeface="NanumGothic"/>
                <a:cs typeface="NanumGothic"/>
              </a:rPr>
              <a:t>* Edit 지원은 IDE·버전별 확인 · 모드 선택과 도구 권한은 별도 설정</a:t>
            </a:r>
            <a:endParaRPr lang="ko-KR" sz="1500" b="0"/>
          </a:p>
        </p:txBody>
      </p:sp>
      <p:sp>
        <p:nvSpPr>
          <p:cNvPr id="21" name="Text 21"/>
          <p:cNvSpPr txBox="1"/>
          <p:nvPr/>
        </p:nvSpPr>
        <p:spPr>
          <a:xfrm>
            <a:off x="800100" y="6229350"/>
            <a:ext cx="10601325" cy="285750"/>
          </a:xfrm>
          <a:prstGeom prst="rect">
            <a:avLst/>
          </a:prstGeom>
          <a:noFill/>
          <a:ln>
            <a:noFill/>
          </a:ln>
        </p:spPr>
        <p:txBody>
          <a:bodyPr wrap="square" lIns="0" tIns="0" rIns="0" bIns="0" anchor="t">
            <a:noAutofit/>
          </a:bodyPr>
          <a:lstStyle/>
          <a:p>
            <a:pPr marL="0" marR="0" indent="0">
              <a:lnSpc>
                <a:spcPct val="125000"/>
              </a:lnSpc>
              <a:buNone/>
            </a:pPr>
            <a:r>
              <a:rPr lang="ko-KR" sz="1650" b="1">
                <a:solidFill>
                  <a:srgbClr val="19734A"/>
                </a:solidFill>
                <a:latin typeface="NanumGothic"/>
                <a:ea typeface="NanumGothic"/>
                <a:cs typeface="NanumGothic"/>
              </a:rPr>
              <a:t>이번 데모: CLI의 Plan → Interactive, 일회성 도구 승인</a:t>
            </a:r>
            <a:endParaRPr lang="ko-KR" sz="1650" b="1"/>
          </a:p>
        </p:txBody>
      </p:sp>
      <p:sp>
        <p:nvSpPr>
          <p:cNvPr id="22" name="Text 22"/>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4</a:t>
            </a:r>
            <a:endParaRPr lang="ko-KR" sz="1050" b="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에이전트가 수행하는 주요 개발 작업">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에이전트가 수행하는 주요 개발 작업</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직접 함께 작업하거나, 맡겨 두고 결과를 검토할 수 있습니다</a:t>
            </a:r>
            <a:endParaRPr lang="ko-KR" sz="1875" b="0"/>
          </a:p>
        </p:txBody>
      </p:sp>
      <p:sp>
        <p:nvSpPr>
          <p:cNvPr id="4" name="Text 4"/>
          <p:cNvSpPr txBox="1"/>
          <p:nvPr/>
        </p:nvSpPr>
        <p:spPr>
          <a:xfrm>
            <a:off x="790575" y="2114550"/>
            <a:ext cx="5105400" cy="457200"/>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7652C4"/>
                </a:solidFill>
                <a:latin typeface="NanumGothic"/>
                <a:ea typeface="NanumGothic"/>
                <a:cs typeface="NanumGothic"/>
              </a:rPr>
              <a:t>로컬 구현·검증</a:t>
            </a:r>
            <a:endParaRPr lang="ko-KR" sz="2400" b="1"/>
          </a:p>
        </p:txBody>
      </p:sp>
      <p:sp>
        <p:nvSpPr>
          <p:cNvPr id="5" name="Text 5"/>
          <p:cNvSpPr txBox="1"/>
          <p:nvPr/>
        </p:nvSpPr>
        <p:spPr>
          <a:xfrm>
            <a:off x="809625" y="2647950"/>
            <a:ext cx="5067300" cy="323850"/>
          </a:xfrm>
          <a:prstGeom prst="rect">
            <a:avLst/>
          </a:prstGeom>
          <a:noFill/>
          <a:ln>
            <a:noFill/>
          </a:ln>
        </p:spPr>
        <p:txBody>
          <a:bodyPr wrap="square" lIns="0" tIns="0" rIns="0" bIns="0" anchor="t">
            <a:noAutofit/>
          </a:bodyPr>
          <a:lstStyle/>
          <a:p>
            <a:pPr marL="0" marR="0" indent="0">
              <a:lnSpc>
                <a:spcPct val="125000"/>
              </a:lnSpc>
              <a:buNone/>
            </a:pPr>
            <a:r>
              <a:rPr lang="ko-KR" sz="1725" b="0">
                <a:solidFill>
                  <a:srgbClr val="637085"/>
                </a:solidFill>
                <a:latin typeface="NanumGothic"/>
                <a:ea typeface="NanumGothic"/>
                <a:cs typeface="NanumGothic"/>
              </a:rPr>
              <a:t>Agent mode · Copilot CLI</a:t>
            </a:r>
            <a:endParaRPr lang="ko-KR" sz="1725" b="0"/>
          </a:p>
        </p:txBody>
      </p:sp>
      <p:sp>
        <p:nvSpPr>
          <p:cNvPr id="6" name="Text 6"/>
          <p:cNvSpPr txBox="1"/>
          <p:nvPr/>
        </p:nvSpPr>
        <p:spPr>
          <a:xfrm>
            <a:off x="809625" y="3105150"/>
            <a:ext cx="5067300" cy="866775"/>
          </a:xfrm>
          <a:prstGeom prst="rect">
            <a:avLst/>
          </a:prstGeom>
          <a:noFill/>
          <a:ln>
            <a:noFill/>
          </a:ln>
        </p:spPr>
        <p:txBody>
          <a:bodyPr wrap="square" lIns="0" tIns="0" rIns="0" bIns="0" anchor="t">
            <a:noAutofit/>
          </a:bodyPr>
          <a:lstStyle/>
          <a:p>
            <a:pPr marL="0" marR="0" indent="0">
              <a:lnSpc>
                <a:spcPct val="125000"/>
              </a:lnSpc>
              <a:buNone/>
            </a:pPr>
            <a:r>
              <a:rPr lang="ko-KR" sz="2025" b="0">
                <a:solidFill>
                  <a:srgbClr val="172033"/>
                </a:solidFill>
                <a:latin typeface="NanumGothic"/>
                <a:ea typeface="NanumGothic"/>
                <a:cs typeface="NanumGothic"/>
              </a:rPr>
              <a:t>코드를 수정하고 명령·테스트를 실행</a:t>
            </a:r>
            <a:endParaRPr lang="ko-KR" sz="2025" b="0"/>
          </a:p>
          <a:p>
            <a:pPr marL="0" marR="0" indent="0">
              <a:lnSpc>
                <a:spcPct val="125000"/>
              </a:lnSpc>
              <a:buNone/>
            </a:pPr>
            <a:r>
              <a:rPr lang="ko-KR" sz="2025" b="0">
                <a:solidFill>
                  <a:srgbClr val="172033"/>
                </a:solidFill>
                <a:latin typeface="NanumGothic"/>
                <a:ea typeface="NanumGothic"/>
                <a:cs typeface="NanumGothic"/>
              </a:rPr>
              <a:t>결과에 따라 보완</a:t>
            </a:r>
            <a:endParaRPr lang="ko-KR" sz="2025" b="0"/>
          </a:p>
        </p:txBody>
      </p:sp>
      <p:sp>
        <p:nvSpPr>
          <p:cNvPr id="7" name="Text 7"/>
          <p:cNvSpPr txBox="1"/>
          <p:nvPr/>
        </p:nvSpPr>
        <p:spPr>
          <a:xfrm>
            <a:off x="6419850" y="2114550"/>
            <a:ext cx="5038725" cy="457200"/>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7652C4"/>
                </a:solidFill>
                <a:latin typeface="NanumGothic"/>
                <a:ea typeface="NanumGothic"/>
                <a:cs typeface="NanumGothic"/>
              </a:rPr>
              <a:t>클라우드 작업 위임</a:t>
            </a:r>
            <a:endParaRPr lang="ko-KR" sz="2400" b="1"/>
          </a:p>
        </p:txBody>
      </p:sp>
      <p:sp>
        <p:nvSpPr>
          <p:cNvPr id="8" name="Text 8"/>
          <p:cNvSpPr txBox="1"/>
          <p:nvPr/>
        </p:nvSpPr>
        <p:spPr>
          <a:xfrm>
            <a:off x="6438900" y="2647950"/>
            <a:ext cx="5010150" cy="323850"/>
          </a:xfrm>
          <a:prstGeom prst="rect">
            <a:avLst/>
          </a:prstGeom>
          <a:noFill/>
          <a:ln>
            <a:noFill/>
          </a:ln>
        </p:spPr>
        <p:txBody>
          <a:bodyPr wrap="square" lIns="0" tIns="0" rIns="0" bIns="0" anchor="t">
            <a:noAutofit/>
          </a:bodyPr>
          <a:lstStyle/>
          <a:p>
            <a:pPr marL="0" marR="0" indent="0">
              <a:lnSpc>
                <a:spcPct val="125000"/>
              </a:lnSpc>
              <a:buNone/>
            </a:pPr>
            <a:r>
              <a:rPr lang="ko-KR" sz="1725" b="0">
                <a:solidFill>
                  <a:srgbClr val="637085"/>
                </a:solidFill>
                <a:latin typeface="NanumGothic"/>
                <a:ea typeface="NanumGothic"/>
                <a:cs typeface="NanumGothic"/>
              </a:rPr>
              <a:t>Copilot cloud agent</a:t>
            </a:r>
            <a:endParaRPr lang="ko-KR" sz="1725" b="0"/>
          </a:p>
        </p:txBody>
      </p:sp>
      <p:sp>
        <p:nvSpPr>
          <p:cNvPr id="9" name="Text 9"/>
          <p:cNvSpPr txBox="1"/>
          <p:nvPr/>
        </p:nvSpPr>
        <p:spPr>
          <a:xfrm>
            <a:off x="6438900" y="3105150"/>
            <a:ext cx="5010150" cy="866775"/>
          </a:xfrm>
          <a:prstGeom prst="rect">
            <a:avLst/>
          </a:prstGeom>
          <a:noFill/>
          <a:ln>
            <a:noFill/>
          </a:ln>
        </p:spPr>
        <p:txBody>
          <a:bodyPr wrap="square" lIns="0" tIns="0" rIns="0" bIns="0" anchor="t">
            <a:noAutofit/>
          </a:bodyPr>
          <a:lstStyle/>
          <a:p>
            <a:pPr marL="0" marR="0" indent="0">
              <a:lnSpc>
                <a:spcPct val="125000"/>
              </a:lnSpc>
              <a:buNone/>
            </a:pPr>
            <a:r>
              <a:rPr lang="ko-KR" sz="2025" b="0">
                <a:solidFill>
                  <a:srgbClr val="172033"/>
                </a:solidFill>
                <a:latin typeface="NanumGothic"/>
                <a:ea typeface="NanumGothic"/>
                <a:cs typeface="NanumGothic"/>
              </a:rPr>
              <a:t>원격에서 조사·계획·브랜치 변경</a:t>
            </a:r>
            <a:endParaRPr lang="ko-KR" sz="2025" b="0"/>
          </a:p>
          <a:p>
            <a:pPr marL="0" marR="0" indent="0">
              <a:lnSpc>
                <a:spcPct val="125000"/>
              </a:lnSpc>
              <a:buNone/>
            </a:pPr>
            <a:r>
              <a:rPr lang="ko-KR" sz="2025" b="0">
                <a:solidFill>
                  <a:srgbClr val="172033"/>
                </a:solidFill>
                <a:latin typeface="NanumGothic"/>
                <a:ea typeface="NanumGothic"/>
                <a:cs typeface="NanumGothic"/>
              </a:rPr>
              <a:t>준비된 결과를 PR로 검토</a:t>
            </a:r>
            <a:endParaRPr lang="ko-KR" sz="2025" b="0"/>
          </a:p>
        </p:txBody>
      </p:sp>
      <p:cxnSp>
        <p:nvCxnSpPr>
          <p:cNvPr id="10" name="Handoff 10"/>
          <p:cNvCxnSpPr/>
          <p:nvPr/>
        </p:nvCxnSpPr>
        <p:spPr>
          <a:xfrm>
            <a:off x="790575" y="4114800"/>
            <a:ext cx="10601325" cy="0"/>
          </a:xfrm>
          <a:prstGeom prst="line">
            <a:avLst/>
          </a:prstGeom>
          <a:ln w="19050">
            <a:solidFill>
              <a:srgbClr val="D8DFEB"/>
            </a:solidFill>
          </a:ln>
        </p:spPr>
      </p:cxnSp>
      <p:sp>
        <p:nvSpPr>
          <p:cNvPr id="11" name="Text 11"/>
          <p:cNvSpPr txBox="1"/>
          <p:nvPr/>
        </p:nvSpPr>
        <p:spPr>
          <a:xfrm>
            <a:off x="790575" y="4391025"/>
            <a:ext cx="5105400" cy="457200"/>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7652C4"/>
                </a:solidFill>
                <a:latin typeface="NanumGothic"/>
                <a:ea typeface="NanumGothic"/>
                <a:cs typeface="NanumGothic"/>
              </a:rPr>
              <a:t>코드 리뷰</a:t>
            </a:r>
            <a:endParaRPr lang="ko-KR" sz="2400" b="1"/>
          </a:p>
        </p:txBody>
      </p:sp>
      <p:sp>
        <p:nvSpPr>
          <p:cNvPr id="12" name="Text 12"/>
          <p:cNvSpPr txBox="1"/>
          <p:nvPr/>
        </p:nvSpPr>
        <p:spPr>
          <a:xfrm>
            <a:off x="809625" y="4924425"/>
            <a:ext cx="5067300" cy="323850"/>
          </a:xfrm>
          <a:prstGeom prst="rect">
            <a:avLst/>
          </a:prstGeom>
          <a:noFill/>
          <a:ln>
            <a:noFill/>
          </a:ln>
        </p:spPr>
        <p:txBody>
          <a:bodyPr wrap="square" lIns="0" tIns="0" rIns="0" bIns="0" anchor="t">
            <a:noAutofit/>
          </a:bodyPr>
          <a:lstStyle/>
          <a:p>
            <a:pPr marL="0" marR="0" indent="0">
              <a:lnSpc>
                <a:spcPct val="125000"/>
              </a:lnSpc>
              <a:buNone/>
            </a:pPr>
            <a:r>
              <a:rPr lang="ko-KR" sz="1725" b="0">
                <a:solidFill>
                  <a:srgbClr val="637085"/>
                </a:solidFill>
                <a:latin typeface="NanumGothic"/>
                <a:ea typeface="NanumGothic"/>
                <a:cs typeface="NanumGothic"/>
              </a:rPr>
              <a:t>Copilot code review · CLI /review</a:t>
            </a:r>
            <a:endParaRPr lang="ko-KR" sz="1725" b="0"/>
          </a:p>
        </p:txBody>
      </p:sp>
      <p:sp>
        <p:nvSpPr>
          <p:cNvPr id="13" name="Text 13"/>
          <p:cNvSpPr txBox="1"/>
          <p:nvPr/>
        </p:nvSpPr>
        <p:spPr>
          <a:xfrm>
            <a:off x="809625" y="5343525"/>
            <a:ext cx="5067300" cy="781050"/>
          </a:xfrm>
          <a:prstGeom prst="rect">
            <a:avLst/>
          </a:prstGeom>
          <a:noFill/>
          <a:ln>
            <a:noFill/>
          </a:ln>
        </p:spPr>
        <p:txBody>
          <a:bodyPr wrap="square" lIns="0" tIns="0" rIns="0" bIns="0" anchor="t">
            <a:noAutofit/>
          </a:bodyPr>
          <a:lstStyle/>
          <a:p>
            <a:pPr marL="0" marR="0" indent="0">
              <a:lnSpc>
                <a:spcPct val="125000"/>
              </a:lnSpc>
              <a:buNone/>
            </a:pPr>
            <a:r>
              <a:rPr lang="ko-KR" sz="1950" b="0">
                <a:solidFill>
                  <a:srgbClr val="172033"/>
                </a:solidFill>
                <a:latin typeface="NanumGothic"/>
                <a:ea typeface="NanumGothic"/>
                <a:cs typeface="NanumGothic"/>
              </a:rPr>
              <a:t>변경 코드의 문제와 개선점을 분석</a:t>
            </a:r>
            <a:endParaRPr lang="ko-KR" sz="1950" b="0"/>
          </a:p>
          <a:p>
            <a:pPr marL="0" marR="0" indent="0">
              <a:lnSpc>
                <a:spcPct val="125000"/>
              </a:lnSpc>
              <a:buNone/>
            </a:pPr>
            <a:r>
              <a:rPr lang="ko-KR" sz="1950" b="0">
                <a:solidFill>
                  <a:srgbClr val="172033"/>
                </a:solidFill>
                <a:latin typeface="NanumGothic"/>
                <a:ea typeface="NanumGothic"/>
                <a:cs typeface="NanumGothic"/>
              </a:rPr>
              <a:t>개발자가 검토할 근거를 제공</a:t>
            </a:r>
            <a:endParaRPr lang="ko-KR" sz="1950" b="0"/>
          </a:p>
        </p:txBody>
      </p:sp>
      <p:sp>
        <p:nvSpPr>
          <p:cNvPr id="14" name="Text 14"/>
          <p:cNvSpPr txBox="1"/>
          <p:nvPr/>
        </p:nvSpPr>
        <p:spPr>
          <a:xfrm>
            <a:off x="6419850" y="4391025"/>
            <a:ext cx="5038725" cy="457200"/>
          </a:xfrm>
          <a:prstGeom prst="rect">
            <a:avLst/>
          </a:prstGeom>
          <a:noFill/>
          <a:ln>
            <a:noFill/>
          </a:ln>
        </p:spPr>
        <p:txBody>
          <a:bodyPr wrap="square" lIns="0" tIns="0" rIns="0" bIns="0" anchor="t">
            <a:noAutofit/>
          </a:bodyPr>
          <a:lstStyle/>
          <a:p>
            <a:pPr marL="0" marR="0" indent="0">
              <a:lnSpc>
                <a:spcPct val="125000"/>
              </a:lnSpc>
              <a:buNone/>
            </a:pPr>
            <a:r>
              <a:rPr lang="ko-KR" sz="2325" b="1">
                <a:solidFill>
                  <a:srgbClr val="7652C4"/>
                </a:solidFill>
                <a:latin typeface="NanumGothic"/>
                <a:ea typeface="NanumGothic"/>
                <a:cs typeface="NanumGothic"/>
              </a:rPr>
              <a:t>하위 에이전트·병렬 실행</a:t>
            </a:r>
            <a:endParaRPr lang="ko-KR" sz="2325" b="1"/>
          </a:p>
        </p:txBody>
      </p:sp>
      <p:sp>
        <p:nvSpPr>
          <p:cNvPr id="15" name="Text 15"/>
          <p:cNvSpPr txBox="1"/>
          <p:nvPr/>
        </p:nvSpPr>
        <p:spPr>
          <a:xfrm>
            <a:off x="6438900" y="4924425"/>
            <a:ext cx="5010150" cy="323850"/>
          </a:xfrm>
          <a:prstGeom prst="rect">
            <a:avLst/>
          </a:prstGeom>
          <a:noFill/>
          <a:ln>
            <a:noFill/>
          </a:ln>
        </p:spPr>
        <p:txBody>
          <a:bodyPr wrap="square" lIns="0" tIns="0" rIns="0" bIns="0" anchor="t">
            <a:noAutofit/>
          </a:bodyPr>
          <a:lstStyle/>
          <a:p>
            <a:pPr marL="0" marR="0" indent="0">
              <a:lnSpc>
                <a:spcPct val="125000"/>
              </a:lnSpc>
              <a:buNone/>
            </a:pPr>
            <a:r>
              <a:rPr lang="ko-KR" sz="1725" b="0">
                <a:solidFill>
                  <a:srgbClr val="637085"/>
                </a:solidFill>
                <a:latin typeface="NanumGothic"/>
                <a:ea typeface="NanumGothic"/>
                <a:cs typeface="NanumGothic"/>
              </a:rPr>
              <a:t>Subagents · CLI /fleet</a:t>
            </a:r>
            <a:endParaRPr lang="ko-KR" sz="1725" b="0"/>
          </a:p>
        </p:txBody>
      </p:sp>
      <p:sp>
        <p:nvSpPr>
          <p:cNvPr id="16" name="Text 16"/>
          <p:cNvSpPr txBox="1"/>
          <p:nvPr/>
        </p:nvSpPr>
        <p:spPr>
          <a:xfrm>
            <a:off x="6438900" y="5343525"/>
            <a:ext cx="5010150" cy="781050"/>
          </a:xfrm>
          <a:prstGeom prst="rect">
            <a:avLst/>
          </a:prstGeom>
          <a:noFill/>
          <a:ln>
            <a:noFill/>
          </a:ln>
        </p:spPr>
        <p:txBody>
          <a:bodyPr wrap="square" lIns="0" tIns="0" rIns="0" bIns="0" anchor="t">
            <a:noAutofit/>
          </a:bodyPr>
          <a:lstStyle/>
          <a:p>
            <a:pPr marL="0" marR="0" indent="0">
              <a:lnSpc>
                <a:spcPct val="125000"/>
              </a:lnSpc>
              <a:buNone/>
            </a:pPr>
            <a:r>
              <a:rPr lang="ko-KR" sz="1950" b="0">
                <a:solidFill>
                  <a:srgbClr val="172033"/>
                </a:solidFill>
                <a:latin typeface="NanumGothic"/>
                <a:ea typeface="NanumGothic"/>
                <a:cs typeface="NanumGothic"/>
              </a:rPr>
              <a:t>독립 작업을 나누어 맡기고</a:t>
            </a:r>
            <a:endParaRPr lang="ko-KR" sz="1950" b="0"/>
          </a:p>
          <a:p>
            <a:pPr marL="0" marR="0" indent="0">
              <a:lnSpc>
                <a:spcPct val="125000"/>
              </a:lnSpc>
              <a:buNone/>
            </a:pPr>
            <a:r>
              <a:rPr lang="ko-KR" sz="1950" b="0">
                <a:solidFill>
                  <a:srgbClr val="172033"/>
                </a:solidFill>
                <a:latin typeface="NanumGothic"/>
                <a:ea typeface="NanumGothic"/>
                <a:cs typeface="NanumGothic"/>
              </a:rPr>
              <a:t>가능한 부분은 병렬로 실행</a:t>
            </a:r>
            <a:endParaRPr lang="ko-KR" sz="1950" b="0"/>
          </a:p>
        </p:txBody>
      </p:sp>
      <p:sp>
        <p:nvSpPr>
          <p:cNvPr id="17" name="Text 17"/>
          <p:cNvSpPr txBox="1"/>
          <p:nvPr/>
        </p:nvSpPr>
        <p:spPr>
          <a:xfrm>
            <a:off x="800100" y="6257925"/>
            <a:ext cx="10610850" cy="285750"/>
          </a:xfrm>
          <a:prstGeom prst="rect">
            <a:avLst/>
          </a:prstGeom>
          <a:noFill/>
          <a:ln>
            <a:noFill/>
          </a:ln>
        </p:spPr>
        <p:txBody>
          <a:bodyPr wrap="square" lIns="0" tIns="0" rIns="0" bIns="0" anchor="t">
            <a:noAutofit/>
          </a:bodyPr>
          <a:lstStyle/>
          <a:p>
            <a:pPr marL="0" marR="0" indent="0">
              <a:lnSpc>
                <a:spcPct val="125000"/>
              </a:lnSpc>
              <a:buNone/>
            </a:pPr>
            <a:r>
              <a:rPr lang="ko-KR" sz="1575" b="1">
                <a:solidFill>
                  <a:srgbClr val="19734A"/>
                </a:solidFill>
                <a:latin typeface="NanumGothic"/>
                <a:ea typeface="NanumGothic"/>
                <a:cs typeface="NanumGothic"/>
              </a:rPr>
              <a:t>로컬 Agent ≠ 클라우드 위임 · AI 리뷰 ≠ 사람의 승인</a:t>
            </a:r>
            <a:endParaRPr lang="ko-KR" sz="1575" b="1"/>
          </a:p>
        </p:txBody>
      </p:sp>
      <p:sp>
        <p:nvSpPr>
          <p:cNvPr id="18" name="Text 18"/>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5</a:t>
            </a:r>
            <a:endParaRPr lang="ko-KR" sz="1050" b="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팀의 기준과 도구로 에이전트를 확장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팀의 기준과 도구로 에이전트를 확장합니다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개인의 작업을 조직에서 재사용할 수 있는 방식으로 만듭니다</a:t>
            </a:r>
            <a:endParaRPr lang="ko-KR" sz="1875" b="0"/>
          </a:p>
        </p:txBody>
      </p:sp>
      <p:graphicFrame>
        <p:nvGraphicFramePr>
          <p:cNvPr id="4" name="Concept comparison"/>
          <p:cNvGraphicFramePr/>
          <p:nvPr/>
        </p:nvGraphicFramePr>
        <p:xfrm>
          <a:off x="742950" y="2057400"/>
          <a:ext cx="10706100" cy="3771900"/>
        </p:xfrm>
        <a:graphic>
          <a:graphicData uri="http://schemas.openxmlformats.org/drawingml/2006/table">
            <a:tbl>
              <a:tblPr firstRow="1"/>
              <a:tblGrid>
                <a:gridCol w="2781300">
                  <a:extLst>
                    <a:ext uri="{9D8B030D-6E8A-4147-A177-3AD203B41FA5}">
                      <a16:colId xmlns:a16="http://schemas.microsoft.com/office/drawing/2014/main" val="20000"/>
                    </a:ext>
                  </a:extLst>
                </a:gridCol>
                <a:gridCol w="4019550">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628650">
                <a:tc>
                  <a:txBody>
                    <a:bodyPr/>
                    <a:lstStyle/>
                    <a:p>
                      <a:pPr marL="0" marR="0" indent="0">
                        <a:lnSpc>
                          <a:spcPct val="125000"/>
                        </a:lnSpc>
                        <a:buNone/>
                      </a:pPr>
                      <a:r>
                        <a:rPr lang="ko-KR" sz="1875" b="1">
                          <a:solidFill>
                            <a:srgbClr val="FFFFFF"/>
                          </a:solidFill>
                          <a:latin typeface="NanumGothic"/>
                          <a:ea typeface="NanumGothic"/>
                          <a:cs typeface="NanumGothic"/>
                        </a:rPr>
                        <a:t>확장 기능</a:t>
                      </a:r>
                      <a:endParaRPr lang="ko-KR" sz="1875" b="1"/>
                    </a:p>
                  </a:txBody>
                  <a:tcPr marL="190500" marR="152400" marT="152400" marB="95250" anchor="ctr">
                    <a:solidFill>
                      <a:srgbClr val="584185"/>
                    </a:solidFill>
                  </a:tcPr>
                </a:tc>
                <a:tc>
                  <a:txBody>
                    <a:bodyPr/>
                    <a:lstStyle/>
                    <a:p>
                      <a:pPr marL="0" marR="0" indent="0">
                        <a:lnSpc>
                          <a:spcPct val="125000"/>
                        </a:lnSpc>
                        <a:buNone/>
                      </a:pPr>
                      <a:r>
                        <a:rPr lang="ko-KR" sz="1875" b="1">
                          <a:solidFill>
                            <a:srgbClr val="FFFFFF"/>
                          </a:solidFill>
                          <a:latin typeface="NanumGothic"/>
                          <a:ea typeface="NanumGothic"/>
                          <a:cs typeface="NanumGothic"/>
                        </a:rPr>
                        <a:t>무엇을 정의하나</a:t>
                      </a:r>
                      <a:endParaRPr lang="ko-KR" sz="1875" b="1"/>
                    </a:p>
                  </a:txBody>
                  <a:tcPr marL="190500" marR="152400" marT="152400" marB="95250" anchor="ctr">
                    <a:solidFill>
                      <a:srgbClr val="584185"/>
                    </a:solidFill>
                  </a:tcPr>
                </a:tc>
                <a:tc>
                  <a:txBody>
                    <a:bodyPr/>
                    <a:lstStyle/>
                    <a:p>
                      <a:pPr marL="0" marR="0" indent="0">
                        <a:lnSpc>
                          <a:spcPct val="125000"/>
                        </a:lnSpc>
                        <a:buNone/>
                      </a:pPr>
                      <a:r>
                        <a:rPr lang="ko-KR" sz="1875" b="1">
                          <a:solidFill>
                            <a:srgbClr val="FFFFFF"/>
                          </a:solidFill>
                          <a:latin typeface="NanumGothic"/>
                          <a:ea typeface="NanumGothic"/>
                          <a:cs typeface="NanumGothic"/>
                        </a:rPr>
                        <a:t>활용 예</a:t>
                      </a:r>
                      <a:endParaRPr lang="ko-KR" sz="1875" b="1"/>
                    </a:p>
                  </a:txBody>
                  <a:tcPr marL="190500" marR="152400" marT="152400" marB="95250" anchor="ctr">
                    <a:solidFill>
                      <a:srgbClr val="584185"/>
                    </a:solidFill>
                  </a:tcPr>
                </a:tc>
                <a:extLst>
                  <a:ext uri="{0D108BD9-81ED-4DB2-BD59-A6C34878D82A}">
                    <a16:rowId xmlns:a16="http://schemas.microsoft.com/office/drawing/2014/main" val="10000"/>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Custom instructions</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항상 참고할 팀의 기준</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코딩 규칙·검증 명령</a:t>
                      </a:r>
                      <a:endParaRPr lang="ko-KR" sz="1800" b="0"/>
                    </a:p>
                  </a:txBody>
                  <a:tcPr marL="190500" marR="152400" marT="152400" marB="95250" anchor="ctr">
                    <a:solidFill>
                      <a:srgbClr val="FFFFFF"/>
                    </a:solidFill>
                  </a:tcPr>
                </a:tc>
                <a:extLst>
                  <a:ext uri="{0D108BD9-81ED-4DB2-BD59-A6C34878D82A}">
                    <a16:rowId xmlns:a16="http://schemas.microsoft.com/office/drawing/2014/main" val="10001"/>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Custom agents</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역할별 지침과 허용 도구</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리뷰·테스트 전담 에이전트</a:t>
                      </a:r>
                      <a:endParaRPr lang="ko-KR" sz="1800" b="0"/>
                    </a:p>
                  </a:txBody>
                  <a:tcPr marL="190500" marR="152400" marT="152400" marB="95250" anchor="ctr">
                    <a:solidFill>
                      <a:srgbClr val="EEEAF7"/>
                    </a:solidFill>
                  </a:tcPr>
                </a:tc>
                <a:extLst>
                  <a:ext uri="{0D108BD9-81ED-4DB2-BD59-A6C34878D82A}">
                    <a16:rowId xmlns:a16="http://schemas.microsoft.com/office/drawing/2014/main" val="10002"/>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Agent skills</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필요할 때 불러올 수행 절차</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테스트·문서화 방법 재사용</a:t>
                      </a:r>
                      <a:endParaRPr lang="ko-KR" sz="1800" b="0"/>
                    </a:p>
                  </a:txBody>
                  <a:tcPr marL="190500" marR="152400" marT="152400" marB="95250" anchor="ctr">
                    <a:solidFill>
                      <a:srgbClr val="FFFFFF"/>
                    </a:solidFill>
                  </a:tcPr>
                </a:tc>
                <a:extLst>
                  <a:ext uri="{0D108BD9-81ED-4DB2-BD59-A6C34878D82A}">
                    <a16:rowId xmlns:a16="http://schemas.microsoft.com/office/drawing/2014/main" val="10003"/>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MCP</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외부 데이터·도구 연결</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이슈·업무 시스템 조회·실행</a:t>
                      </a:r>
                      <a:endParaRPr lang="ko-KR" sz="1800" b="0"/>
                    </a:p>
                  </a:txBody>
                  <a:tcPr marL="190500" marR="152400" marT="152400" marB="95250" anchor="ctr">
                    <a:solidFill>
                      <a:srgbClr val="EEEAF7"/>
                    </a:solidFill>
                  </a:tcPr>
                </a:tc>
                <a:extLst>
                  <a:ext uri="{0D108BD9-81ED-4DB2-BD59-A6C34878D82A}">
                    <a16:rowId xmlns:a16="http://schemas.microsoft.com/office/drawing/2014/main" val="10004"/>
                  </a:ext>
                </a:extLst>
              </a:tr>
              <a:tr h="628650">
                <a:tc>
                  <a:txBody>
                    <a:bodyPr/>
                    <a:lstStyle/>
                    <a:p>
                      <a:pPr marL="0" marR="0" indent="0">
                        <a:lnSpc>
                          <a:spcPct val="125000"/>
                        </a:lnSpc>
                        <a:buNone/>
                      </a:pPr>
                      <a:r>
                        <a:rPr lang="ko-KR" sz="1800" b="0">
                          <a:solidFill>
                            <a:srgbClr val="172033"/>
                          </a:solidFill>
                          <a:latin typeface="NanumGothic"/>
                          <a:ea typeface="NanumGothic"/>
                          <a:cs typeface="NanumGothic"/>
                        </a:rPr>
                        <a:t>Agentic Workflows*</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이벤트·일정 기반 Actions 실행</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이슈 분류·CI 조사·보고</a:t>
                      </a:r>
                      <a:endParaRPr lang="ko-KR" sz="1800" b="0"/>
                    </a:p>
                  </a:txBody>
                  <a:tcPr marL="190500" marR="152400" marT="152400" marB="95250" anchor="ctr">
                    <a:solidFill>
                      <a:srgbClr val="FFFFFF"/>
                    </a:solidFill>
                  </a:tcPr>
                </a:tc>
                <a:extLst>
                  <a:ext uri="{0D108BD9-81ED-4DB2-BD59-A6C34878D82A}">
                    <a16:rowId xmlns:a16="http://schemas.microsoft.com/office/drawing/2014/main" val="10005"/>
                  </a:ext>
                </a:extLst>
              </a:tr>
            </a:tbl>
          </a:graphicData>
        </a:graphic>
      </p:graphicFrame>
      <p:sp>
        <p:nvSpPr>
          <p:cNvPr id="5" name="Text 5"/>
          <p:cNvSpPr txBox="1"/>
          <p:nvPr/>
        </p:nvSpPr>
        <p:spPr>
          <a:xfrm>
            <a:off x="800100" y="6000750"/>
            <a:ext cx="10601325" cy="304800"/>
          </a:xfrm>
          <a:prstGeom prst="rect">
            <a:avLst/>
          </a:prstGeom>
          <a:noFill/>
          <a:ln>
            <a:noFill/>
          </a:ln>
        </p:spPr>
        <p:txBody>
          <a:bodyPr wrap="square" lIns="0" tIns="0" rIns="0" bIns="0" anchor="t">
            <a:noAutofit/>
          </a:bodyPr>
          <a:lstStyle/>
          <a:p>
            <a:pPr marL="0" marR="0" indent="0">
              <a:lnSpc>
                <a:spcPct val="125000"/>
              </a:lnSpc>
              <a:buNone/>
            </a:pPr>
            <a:r>
              <a:rPr lang="ko-KR" sz="1500" b="0">
                <a:solidFill>
                  <a:srgbClr val="637085"/>
                </a:solidFill>
                <a:latin typeface="NanumGothic"/>
                <a:ea typeface="NanumGothic"/>
                <a:cs typeface="NanumGothic"/>
              </a:rPr>
              <a:t>* GitHub Agentic Workflows: Public preview · 기능·플랜·조직 정책별 지원 범위 확인</a:t>
            </a:r>
            <a:endParaRPr lang="ko-KR" sz="1500" b="0"/>
          </a:p>
        </p:txBody>
      </p:sp>
      <p:sp>
        <p:nvSpPr>
          <p:cNvPr id="6" name="Text 6"/>
          <p:cNvSpPr txBox="1"/>
          <p:nvPr/>
        </p:nvSpPr>
        <p:spPr>
          <a:xfrm>
            <a:off x="800100" y="6334125"/>
            <a:ext cx="10601325" cy="257175"/>
          </a:xfrm>
          <a:prstGeom prst="rect">
            <a:avLst/>
          </a:prstGeom>
          <a:noFill/>
          <a:ln>
            <a:noFill/>
          </a:ln>
        </p:spPr>
        <p:txBody>
          <a:bodyPr wrap="square" lIns="0" tIns="0" rIns="0" bIns="0" anchor="t">
            <a:noAutofit/>
          </a:bodyPr>
          <a:lstStyle/>
          <a:p>
            <a:pPr marL="0" marR="0" indent="0">
              <a:lnSpc>
                <a:spcPct val="125000"/>
              </a:lnSpc>
              <a:buNone/>
            </a:pPr>
            <a:r>
              <a:rPr lang="ko-KR" sz="1575" b="1">
                <a:solidFill>
                  <a:srgbClr val="7652C4"/>
                </a:solidFill>
                <a:latin typeface="NanumGothic"/>
                <a:ea typeface="NanumGothic"/>
                <a:cs typeface="NanumGothic"/>
              </a:rPr>
              <a:t>이제 실제 CLI 데모에서 계획·승인·구현·검증·리뷰를 확인합니다</a:t>
            </a:r>
            <a:endParaRPr lang="ko-KR" sz="1575" b="1"/>
          </a:p>
        </p:txBody>
      </p:sp>
      <p:sp>
        <p:nvSpPr>
          <p:cNvPr id="7" name="Text 7"/>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6</a:t>
            </a:r>
            <a:endParaRPr lang="ko-KR" sz="1050" b="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개발 생산성은 코드 작성 다음 단계까지">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개발 생산성은 코드 작성 다음 단계까지</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GitHub Copilot은 계획·실행·검증을 하나의 작업 흐름으로 연결합니다</a:t>
            </a:r>
            <a:endParaRPr lang="ko-KR" sz="1875" b="0"/>
          </a:p>
        </p:txBody>
      </p:sp>
      <p:sp>
        <p:nvSpPr>
          <p:cNvPr id="4" name="Text 4"/>
          <p:cNvSpPr txBox="1"/>
          <p:nvPr/>
        </p:nvSpPr>
        <p:spPr>
          <a:xfrm>
            <a:off x="790575" y="2228850"/>
            <a:ext cx="3162300" cy="552450"/>
          </a:xfrm>
          <a:prstGeom prst="rect">
            <a:avLst/>
          </a:prstGeom>
          <a:noFill/>
          <a:ln>
            <a:noFill/>
          </a:ln>
        </p:spPr>
        <p:txBody>
          <a:bodyPr wrap="square" lIns="0" tIns="0" rIns="0" bIns="0" anchor="t">
            <a:noAutofit/>
          </a:bodyPr>
          <a:lstStyle/>
          <a:p>
            <a:pPr marL="0" marR="0" indent="0">
              <a:lnSpc>
                <a:spcPct val="125000"/>
              </a:lnSpc>
              <a:buNone/>
            </a:pPr>
            <a:r>
              <a:rPr lang="ko-KR" sz="2925" b="1">
                <a:solidFill>
                  <a:srgbClr val="7652C4"/>
                </a:solidFill>
                <a:latin typeface="NanumGothic"/>
                <a:ea typeface="NanumGothic"/>
                <a:cs typeface="NanumGothic"/>
              </a:rPr>
              <a:t>실행 속도</a:t>
            </a:r>
            <a:endParaRPr lang="ko-KR" sz="2925" b="1"/>
          </a:p>
        </p:txBody>
      </p:sp>
      <p:sp>
        <p:nvSpPr>
          <p:cNvPr id="5" name="Text 5"/>
          <p:cNvSpPr txBox="1"/>
          <p:nvPr/>
        </p:nvSpPr>
        <p:spPr>
          <a:xfrm>
            <a:off x="4562475" y="2228850"/>
            <a:ext cx="3162300" cy="552450"/>
          </a:xfrm>
          <a:prstGeom prst="rect">
            <a:avLst/>
          </a:prstGeom>
          <a:noFill/>
          <a:ln>
            <a:noFill/>
          </a:ln>
        </p:spPr>
        <p:txBody>
          <a:bodyPr wrap="square" lIns="0" tIns="0" rIns="0" bIns="0" anchor="t">
            <a:noAutofit/>
          </a:bodyPr>
          <a:lstStyle/>
          <a:p>
            <a:pPr marL="0" marR="0" indent="0">
              <a:lnSpc>
                <a:spcPct val="125000"/>
              </a:lnSpc>
              <a:buNone/>
            </a:pPr>
            <a:r>
              <a:rPr lang="ko-KR" sz="2925" b="1">
                <a:solidFill>
                  <a:srgbClr val="7652C4"/>
                </a:solidFill>
                <a:latin typeface="NanumGothic"/>
                <a:ea typeface="NanumGothic"/>
                <a:cs typeface="NanumGothic"/>
              </a:rPr>
              <a:t>품질 확인</a:t>
            </a:r>
            <a:endParaRPr lang="ko-KR" sz="2925" b="1"/>
          </a:p>
        </p:txBody>
      </p:sp>
      <p:sp>
        <p:nvSpPr>
          <p:cNvPr id="6" name="Text 6"/>
          <p:cNvSpPr txBox="1"/>
          <p:nvPr/>
        </p:nvSpPr>
        <p:spPr>
          <a:xfrm>
            <a:off x="8315325" y="2228850"/>
            <a:ext cx="3162300" cy="552450"/>
          </a:xfrm>
          <a:prstGeom prst="rect">
            <a:avLst/>
          </a:prstGeom>
          <a:noFill/>
          <a:ln>
            <a:noFill/>
          </a:ln>
        </p:spPr>
        <p:txBody>
          <a:bodyPr wrap="square" lIns="0" tIns="0" rIns="0" bIns="0" anchor="t">
            <a:noAutofit/>
          </a:bodyPr>
          <a:lstStyle/>
          <a:p>
            <a:pPr marL="0" marR="0" indent="0">
              <a:lnSpc>
                <a:spcPct val="125000"/>
              </a:lnSpc>
              <a:buNone/>
            </a:pPr>
            <a:r>
              <a:rPr lang="ko-KR" sz="2925" b="1">
                <a:solidFill>
                  <a:srgbClr val="7652C4"/>
                </a:solidFill>
                <a:latin typeface="NanumGothic"/>
                <a:ea typeface="NanumGothic"/>
                <a:cs typeface="NanumGothic"/>
              </a:rPr>
              <a:t>조직 통제</a:t>
            </a:r>
            <a:endParaRPr lang="ko-KR" sz="2925" b="1"/>
          </a:p>
        </p:txBody>
      </p:sp>
      <p:sp>
        <p:nvSpPr>
          <p:cNvPr id="7" name="Text 7"/>
          <p:cNvSpPr txBox="1"/>
          <p:nvPr/>
        </p:nvSpPr>
        <p:spPr>
          <a:xfrm>
            <a:off x="809625" y="3152775"/>
            <a:ext cx="3162300" cy="1133475"/>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요청을 이해하고</a:t>
            </a:r>
            <a:endParaRPr lang="ko-KR" sz="2175" b="0"/>
          </a:p>
          <a:p>
            <a:pPr marL="0" marR="0" indent="0">
              <a:lnSpc>
                <a:spcPct val="125000"/>
              </a:lnSpc>
              <a:buNone/>
            </a:pPr>
            <a:r>
              <a:rPr lang="ko-KR" sz="2175" b="0">
                <a:solidFill>
                  <a:srgbClr val="172033"/>
                </a:solidFill>
                <a:latin typeface="NanumGothic"/>
                <a:ea typeface="NanumGothic"/>
                <a:cs typeface="NanumGothic"/>
              </a:rPr>
              <a:t>여러 파일을 함께 수정</a:t>
            </a:r>
            <a:endParaRPr lang="ko-KR" sz="2175" b="0"/>
          </a:p>
        </p:txBody>
      </p:sp>
      <p:sp>
        <p:nvSpPr>
          <p:cNvPr id="8" name="Text 8"/>
          <p:cNvSpPr txBox="1"/>
          <p:nvPr/>
        </p:nvSpPr>
        <p:spPr>
          <a:xfrm>
            <a:off x="4581525" y="3152775"/>
            <a:ext cx="3152775" cy="1133475"/>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테스트 실행과 리뷰로</a:t>
            </a:r>
            <a:endParaRPr lang="ko-KR" sz="2175" b="0"/>
          </a:p>
          <a:p>
            <a:pPr marL="0" marR="0" indent="0">
              <a:lnSpc>
                <a:spcPct val="125000"/>
              </a:lnSpc>
              <a:buNone/>
            </a:pPr>
            <a:r>
              <a:rPr lang="ko-KR" sz="2175" b="0">
                <a:solidFill>
                  <a:srgbClr val="172033"/>
                </a:solidFill>
                <a:latin typeface="NanumGothic"/>
                <a:ea typeface="NanumGothic"/>
                <a:cs typeface="NanumGothic"/>
              </a:rPr>
              <a:t>변경의 근거를 확인</a:t>
            </a:r>
            <a:endParaRPr lang="ko-KR" sz="2175" b="0"/>
          </a:p>
        </p:txBody>
      </p:sp>
      <p:sp>
        <p:nvSpPr>
          <p:cNvPr id="9" name="Text 9"/>
          <p:cNvSpPr txBox="1"/>
          <p:nvPr/>
        </p:nvSpPr>
        <p:spPr>
          <a:xfrm>
            <a:off x="8334375" y="3152775"/>
            <a:ext cx="3133725" cy="1133475"/>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범위와 실행 권한을</a:t>
            </a:r>
            <a:endParaRPr lang="ko-KR" sz="2175" b="0"/>
          </a:p>
          <a:p>
            <a:pPr marL="0" marR="0" indent="0">
              <a:lnSpc>
                <a:spcPct val="125000"/>
              </a:lnSpc>
              <a:buNone/>
            </a:pPr>
            <a:r>
              <a:rPr lang="ko-KR" sz="2175" b="0">
                <a:solidFill>
                  <a:srgbClr val="172033"/>
                </a:solidFill>
                <a:latin typeface="NanumGothic"/>
                <a:ea typeface="NanumGothic"/>
                <a:cs typeface="NanumGothic"/>
              </a:rPr>
              <a:t>사용자가 결정</a:t>
            </a:r>
            <a:endParaRPr lang="ko-KR" sz="2175" b="0"/>
          </a:p>
        </p:txBody>
      </p:sp>
      <p:cxnSp>
        <p:nvCxnSpPr>
          <p:cNvPr id="10" name="Handoff 10"/>
          <p:cNvCxnSpPr/>
          <p:nvPr/>
        </p:nvCxnSpPr>
        <p:spPr>
          <a:xfrm>
            <a:off x="790575" y="4838700"/>
            <a:ext cx="10591800" cy="0"/>
          </a:xfrm>
          <a:prstGeom prst="line">
            <a:avLst/>
          </a:prstGeom>
          <a:ln w="19050">
            <a:solidFill>
              <a:srgbClr val="D8DFEB"/>
            </a:solidFill>
          </a:ln>
        </p:spPr>
      </p:cxnSp>
      <p:sp>
        <p:nvSpPr>
          <p:cNvPr id="11" name="Text 11"/>
          <p:cNvSpPr txBox="1"/>
          <p:nvPr/>
        </p:nvSpPr>
        <p:spPr>
          <a:xfrm>
            <a:off x="800100" y="5257800"/>
            <a:ext cx="1971675" cy="409575"/>
          </a:xfrm>
          <a:prstGeom prst="rect">
            <a:avLst/>
          </a:prstGeom>
          <a:noFill/>
          <a:ln>
            <a:noFill/>
          </a:ln>
        </p:spPr>
        <p:txBody>
          <a:bodyPr wrap="square" lIns="0" tIns="0" rIns="0" bIns="0" anchor="t">
            <a:noAutofit/>
          </a:bodyPr>
          <a:lstStyle/>
          <a:p>
            <a:pPr marL="0" marR="0" indent="0">
              <a:lnSpc>
                <a:spcPct val="125000"/>
              </a:lnSpc>
              <a:buNone/>
            </a:pPr>
            <a:r>
              <a:rPr lang="ko-KR" sz="2025" b="0">
                <a:solidFill>
                  <a:srgbClr val="637085"/>
                </a:solidFill>
                <a:latin typeface="NanumGothic"/>
                <a:ea typeface="NanumGothic"/>
                <a:cs typeface="NanumGothic"/>
              </a:rPr>
              <a:t>기대 효과</a:t>
            </a:r>
            <a:endParaRPr lang="ko-KR" sz="2025" b="0"/>
          </a:p>
        </p:txBody>
      </p:sp>
      <p:sp>
        <p:nvSpPr>
          <p:cNvPr id="12" name="Text 12"/>
          <p:cNvSpPr txBox="1"/>
          <p:nvPr/>
        </p:nvSpPr>
        <p:spPr>
          <a:xfrm>
            <a:off x="800100" y="5781675"/>
            <a:ext cx="10620375" cy="514350"/>
          </a:xfrm>
          <a:prstGeom prst="rect">
            <a:avLst/>
          </a:prstGeom>
          <a:noFill/>
          <a:ln>
            <a:noFill/>
          </a:ln>
        </p:spPr>
        <p:txBody>
          <a:bodyPr wrap="square" lIns="0" tIns="0" rIns="0" bIns="0" anchor="t">
            <a:noAutofit/>
          </a:bodyPr>
          <a:lstStyle/>
          <a:p>
            <a:pPr marL="0" marR="0" indent="0">
              <a:lnSpc>
                <a:spcPct val="125000"/>
              </a:lnSpc>
              <a:buNone/>
            </a:pPr>
            <a:r>
              <a:rPr lang="ko-KR" sz="2250" b="1">
                <a:solidFill>
                  <a:srgbClr val="172033"/>
                </a:solidFill>
                <a:latin typeface="NanumGothic"/>
                <a:ea typeface="NanumGothic"/>
                <a:cs typeface="NanumGothic"/>
              </a:rPr>
              <a:t>수작업 연결은 줄이고, 개발자는 판단이 필요한 일에 집중</a:t>
            </a:r>
            <a:endParaRPr lang="ko-KR" sz="2250" b="1"/>
          </a:p>
        </p:txBody>
      </p:sp>
      <p:sp>
        <p:nvSpPr>
          <p:cNvPr id="13" name="Text 13"/>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7</a:t>
            </a:r>
            <a:endParaRPr lang="ko-KR" sz="1050" b="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경영진의 요청: 고액 환불에는 승인과 이력">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경영진의 요청: 고액 환불에는 승인과 이력</a:t>
            </a:r>
            <a:endParaRPr lang="ko-KR" sz="3225" b="1"/>
          </a:p>
        </p:txBody>
      </p:sp>
      <p:sp>
        <p:nvSpPr>
          <p:cNvPr id="3" name="Text 3"/>
          <p:cNvSpPr txBox="1"/>
          <p:nvPr/>
        </p:nvSpPr>
        <p:spPr>
          <a:xfrm>
            <a:off x="781050" y="1724025"/>
            <a:ext cx="10620375" cy="1247775"/>
          </a:xfrm>
          <a:prstGeom prst="rect">
            <a:avLst/>
          </a:prstGeom>
          <a:noFill/>
          <a:ln>
            <a:noFill/>
          </a:ln>
        </p:spPr>
        <p:txBody>
          <a:bodyPr wrap="square" lIns="0" tIns="0" rIns="0" bIns="0" anchor="t">
            <a:noAutofit/>
          </a:bodyPr>
          <a:lstStyle/>
          <a:p>
            <a:pPr marL="0" marR="0" indent="0">
              <a:lnSpc>
                <a:spcPct val="125000"/>
              </a:lnSpc>
              <a:buNone/>
            </a:pPr>
            <a:r>
              <a:rPr lang="ko-KR" sz="2850" b="1">
                <a:solidFill>
                  <a:srgbClr val="7652C4"/>
                </a:solidFill>
                <a:latin typeface="NanumGothic"/>
                <a:ea typeface="NanumGothic"/>
                <a:cs typeface="NanumGothic"/>
              </a:rPr>
              <a:t>“100만 원 이상은 다른 담당자가 승인하고,</a:t>
            </a:r>
            <a:endParaRPr lang="ko-KR" sz="2850" b="1"/>
          </a:p>
          <a:p>
            <a:pPr marL="0" marR="0" indent="0">
              <a:lnSpc>
                <a:spcPct val="125000"/>
              </a:lnSpc>
              <a:buNone/>
            </a:pPr>
            <a:r>
              <a:rPr lang="ko-KR" sz="2850" b="1">
                <a:solidFill>
                  <a:srgbClr val="7652C4"/>
                </a:solidFill>
                <a:latin typeface="NanumGothic"/>
                <a:ea typeface="NanumGothic"/>
                <a:cs typeface="NanumGothic"/>
              </a:rPr>
              <a:t>소액 고객 대응은 지금처럼 유지해 주세요.”</a:t>
            </a:r>
            <a:endParaRPr lang="ko-KR" sz="2850" b="1"/>
          </a:p>
        </p:txBody>
      </p:sp>
      <p:pic>
        <p:nvPicPr>
          <p:cNvPr id="4" name="before-completed-row.png" descr="Actual local demo screenshot"/>
          <p:cNvPicPr>
            <a:picLocks noChangeAspect="1"/>
          </p:cNvPicPr>
          <p:nvPr/>
        </p:nvPicPr>
        <p:blipFill>
          <a:blip r:embed="rId3"/>
          <a:stretch>
            <a:fillRect/>
          </a:stretch>
        </p:blipFill>
        <p:spPr>
          <a:xfrm>
            <a:off x="742950" y="3631057"/>
            <a:ext cx="10715625" cy="653161"/>
          </a:xfrm>
          <a:prstGeom prst="rect">
            <a:avLst/>
          </a:prstGeom>
        </p:spPr>
      </p:pic>
      <p:sp>
        <p:nvSpPr>
          <p:cNvPr id="5" name="Text 5"/>
          <p:cNvSpPr txBox="1"/>
          <p:nvPr/>
        </p:nvSpPr>
        <p:spPr>
          <a:xfrm>
            <a:off x="790575" y="4962525"/>
            <a:ext cx="10591800" cy="542925"/>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AD5B15"/>
                </a:solidFill>
                <a:latin typeface="NanumGothic"/>
                <a:ea typeface="NanumGothic"/>
                <a:cs typeface="NanumGothic"/>
              </a:rPr>
              <a:t>현재: 120만 원도 승인 없이 즉시 완료</a:t>
            </a:r>
            <a:endParaRPr lang="ko-KR" sz="2400" b="1"/>
          </a:p>
        </p:txBody>
      </p:sp>
      <p:sp>
        <p:nvSpPr>
          <p:cNvPr id="6" name="Text 6"/>
          <p:cNvSpPr txBox="1"/>
          <p:nvPr/>
        </p:nvSpPr>
        <p:spPr>
          <a:xfrm>
            <a:off x="800100" y="5810250"/>
            <a:ext cx="10601325" cy="495300"/>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172033"/>
                </a:solidFill>
                <a:latin typeface="NanumGothic"/>
                <a:ea typeface="NanumGothic"/>
                <a:cs typeface="NanumGothic"/>
              </a:rPr>
              <a:t>바꿀 것: 금액 정책 · 역할 분리 · 감사 이력 · 기존 동작 유지</a:t>
            </a:r>
            <a:endParaRPr lang="ko-KR" sz="2100" b="0"/>
          </a:p>
        </p:txBody>
      </p:sp>
      <p:sp>
        <p:nvSpPr>
          <p:cNvPr id="7" name="Text 7"/>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8</a:t>
            </a:r>
            <a:endParaRPr lang="ko-KR" sz="1050" b="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요청부터 검토까지 Copilot이 실행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요청부터 검토까지 Copilot이 실행합니다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사용자는 일일이 코드를 지시하는 대신 목표와 판단 기준을 제시합니다</a:t>
            </a:r>
            <a:endParaRPr lang="ko-KR" sz="1875" b="0"/>
          </a:p>
        </p:txBody>
      </p:sp>
      <p:sp>
        <p:nvSpPr>
          <p:cNvPr id="4" name="Text 4"/>
          <p:cNvSpPr txBox="1"/>
          <p:nvPr/>
        </p:nvSpPr>
        <p:spPr>
          <a:xfrm>
            <a:off x="838200" y="2409825"/>
            <a:ext cx="1905000" cy="514350"/>
          </a:xfrm>
          <a:prstGeom prst="rect">
            <a:avLst/>
          </a:prstGeom>
          <a:noFill/>
          <a:ln>
            <a:noFill/>
          </a:ln>
        </p:spPr>
        <p:txBody>
          <a:bodyPr wrap="square" lIns="0" tIns="0" rIns="0" bIns="0" anchor="t">
            <a:noAutofit/>
          </a:bodyPr>
          <a:lstStyle/>
          <a:p>
            <a:pPr marL="0" marR="0" indent="0">
              <a:lnSpc>
                <a:spcPct val="125000"/>
              </a:lnSpc>
              <a:buNone/>
            </a:pPr>
            <a:r>
              <a:rPr lang="ko-KR" sz="2775" b="1">
                <a:solidFill>
                  <a:srgbClr val="7652C4"/>
                </a:solidFill>
                <a:latin typeface="NanumGothic"/>
                <a:ea typeface="NanumGothic"/>
                <a:cs typeface="NanumGothic"/>
              </a:rPr>
              <a:t>계획</a:t>
            </a:r>
            <a:endParaRPr lang="ko-KR" sz="2775" b="1"/>
          </a:p>
        </p:txBody>
      </p:sp>
      <p:cxnSp>
        <p:nvCxnSpPr>
          <p:cNvPr id="5" name="Handoff 5"/>
          <p:cNvCxnSpPr/>
          <p:nvPr/>
        </p:nvCxnSpPr>
        <p:spPr>
          <a:xfrm>
            <a:off x="2895600" y="2676525"/>
            <a:ext cx="485775" cy="0"/>
          </a:xfrm>
          <a:prstGeom prst="line">
            <a:avLst/>
          </a:prstGeom>
          <a:ln w="19050">
            <a:solidFill>
              <a:srgbClr val="7652C4"/>
            </a:solidFill>
            <a:tailEnd type="triangle" w="sm" len="sm"/>
          </a:ln>
        </p:spPr>
      </p:cxnSp>
      <p:sp>
        <p:nvSpPr>
          <p:cNvPr id="6" name="Text 6"/>
          <p:cNvSpPr txBox="1"/>
          <p:nvPr/>
        </p:nvSpPr>
        <p:spPr>
          <a:xfrm>
            <a:off x="3609975" y="2409825"/>
            <a:ext cx="1905000" cy="514350"/>
          </a:xfrm>
          <a:prstGeom prst="rect">
            <a:avLst/>
          </a:prstGeom>
          <a:noFill/>
          <a:ln>
            <a:noFill/>
          </a:ln>
        </p:spPr>
        <p:txBody>
          <a:bodyPr wrap="square" lIns="0" tIns="0" rIns="0" bIns="0" anchor="t">
            <a:noAutofit/>
          </a:bodyPr>
          <a:lstStyle/>
          <a:p>
            <a:pPr marL="0" marR="0" indent="0">
              <a:lnSpc>
                <a:spcPct val="125000"/>
              </a:lnSpc>
              <a:buNone/>
            </a:pPr>
            <a:r>
              <a:rPr lang="ko-KR" sz="2775" b="1">
                <a:solidFill>
                  <a:srgbClr val="7652C4"/>
                </a:solidFill>
                <a:latin typeface="NanumGothic"/>
                <a:ea typeface="NanumGothic"/>
                <a:cs typeface="NanumGothic"/>
              </a:rPr>
              <a:t>구현</a:t>
            </a:r>
            <a:endParaRPr lang="ko-KR" sz="2775" b="1"/>
          </a:p>
        </p:txBody>
      </p:sp>
      <p:cxnSp>
        <p:nvCxnSpPr>
          <p:cNvPr id="7" name="Handoff 7"/>
          <p:cNvCxnSpPr/>
          <p:nvPr/>
        </p:nvCxnSpPr>
        <p:spPr>
          <a:xfrm>
            <a:off x="5667375" y="2676525"/>
            <a:ext cx="485775" cy="0"/>
          </a:xfrm>
          <a:prstGeom prst="line">
            <a:avLst/>
          </a:prstGeom>
          <a:ln w="19050">
            <a:solidFill>
              <a:srgbClr val="7652C4"/>
            </a:solidFill>
            <a:tailEnd type="triangle" w="sm" len="sm"/>
          </a:ln>
        </p:spPr>
      </p:cxnSp>
      <p:sp>
        <p:nvSpPr>
          <p:cNvPr id="8" name="Text 8"/>
          <p:cNvSpPr txBox="1"/>
          <p:nvPr/>
        </p:nvSpPr>
        <p:spPr>
          <a:xfrm>
            <a:off x="6381750" y="2409825"/>
            <a:ext cx="1905000" cy="514350"/>
          </a:xfrm>
          <a:prstGeom prst="rect">
            <a:avLst/>
          </a:prstGeom>
          <a:noFill/>
          <a:ln>
            <a:noFill/>
          </a:ln>
        </p:spPr>
        <p:txBody>
          <a:bodyPr wrap="square" lIns="0" tIns="0" rIns="0" bIns="0" anchor="t">
            <a:noAutofit/>
          </a:bodyPr>
          <a:lstStyle/>
          <a:p>
            <a:pPr marL="0" marR="0" indent="0">
              <a:lnSpc>
                <a:spcPct val="125000"/>
              </a:lnSpc>
              <a:buNone/>
            </a:pPr>
            <a:r>
              <a:rPr lang="ko-KR" sz="2775" b="1">
                <a:solidFill>
                  <a:srgbClr val="7652C4"/>
                </a:solidFill>
                <a:latin typeface="NanumGothic"/>
                <a:ea typeface="NanumGothic"/>
                <a:cs typeface="NanumGothic"/>
              </a:rPr>
              <a:t>검증</a:t>
            </a:r>
            <a:endParaRPr lang="ko-KR" sz="2775" b="1"/>
          </a:p>
        </p:txBody>
      </p:sp>
      <p:cxnSp>
        <p:nvCxnSpPr>
          <p:cNvPr id="9" name="Handoff 9"/>
          <p:cNvCxnSpPr/>
          <p:nvPr/>
        </p:nvCxnSpPr>
        <p:spPr>
          <a:xfrm>
            <a:off x="8439150" y="2676525"/>
            <a:ext cx="485775" cy="0"/>
          </a:xfrm>
          <a:prstGeom prst="line">
            <a:avLst/>
          </a:prstGeom>
          <a:ln w="19050">
            <a:solidFill>
              <a:srgbClr val="7652C4"/>
            </a:solidFill>
            <a:tailEnd type="triangle" w="sm" len="sm"/>
          </a:ln>
        </p:spPr>
      </p:cxnSp>
      <p:sp>
        <p:nvSpPr>
          <p:cNvPr id="10" name="Text 10"/>
          <p:cNvSpPr txBox="1"/>
          <p:nvPr/>
        </p:nvSpPr>
        <p:spPr>
          <a:xfrm>
            <a:off x="9153525" y="2409825"/>
            <a:ext cx="1905000" cy="514350"/>
          </a:xfrm>
          <a:prstGeom prst="rect">
            <a:avLst/>
          </a:prstGeom>
          <a:noFill/>
          <a:ln>
            <a:noFill/>
          </a:ln>
        </p:spPr>
        <p:txBody>
          <a:bodyPr wrap="square" lIns="0" tIns="0" rIns="0" bIns="0" anchor="t">
            <a:noAutofit/>
          </a:bodyPr>
          <a:lstStyle/>
          <a:p>
            <a:pPr marL="0" marR="0" indent="0">
              <a:lnSpc>
                <a:spcPct val="125000"/>
              </a:lnSpc>
              <a:buNone/>
            </a:pPr>
            <a:r>
              <a:rPr lang="ko-KR" sz="2775" b="1">
                <a:solidFill>
                  <a:srgbClr val="7652C4"/>
                </a:solidFill>
                <a:latin typeface="NanumGothic"/>
                <a:ea typeface="NanumGothic"/>
                <a:cs typeface="NanumGothic"/>
              </a:rPr>
              <a:t>리뷰</a:t>
            </a:r>
            <a:endParaRPr lang="ko-KR" sz="2775" b="1"/>
          </a:p>
        </p:txBody>
      </p:sp>
      <p:sp>
        <p:nvSpPr>
          <p:cNvPr id="11" name="Text 11"/>
          <p:cNvSpPr txBox="1"/>
          <p:nvPr/>
        </p:nvSpPr>
        <p:spPr>
          <a:xfrm>
            <a:off x="838200" y="3276600"/>
            <a:ext cx="2333625" cy="1038225"/>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637085"/>
                </a:solidFill>
                <a:latin typeface="NanumGothic"/>
                <a:ea typeface="NanumGothic"/>
                <a:cs typeface="NanumGothic"/>
              </a:rPr>
              <a:t>현재 코드 이해</a:t>
            </a:r>
            <a:endParaRPr lang="ko-KR" sz="2100" b="0"/>
          </a:p>
          <a:p>
            <a:pPr marL="0" marR="0" indent="0">
              <a:lnSpc>
                <a:spcPct val="125000"/>
              </a:lnSpc>
              <a:buNone/>
            </a:pPr>
            <a:r>
              <a:rPr lang="ko-KR" sz="2100" b="0">
                <a:solidFill>
                  <a:srgbClr val="637085"/>
                </a:solidFill>
                <a:latin typeface="NanumGothic"/>
                <a:ea typeface="NanumGothic"/>
                <a:cs typeface="NanumGothic"/>
              </a:rPr>
              <a:t>완료 기준 구체화</a:t>
            </a:r>
            <a:endParaRPr lang="ko-KR" sz="2100" b="0"/>
          </a:p>
        </p:txBody>
      </p:sp>
      <p:sp>
        <p:nvSpPr>
          <p:cNvPr id="12" name="Text 12"/>
          <p:cNvSpPr txBox="1"/>
          <p:nvPr/>
        </p:nvSpPr>
        <p:spPr>
          <a:xfrm>
            <a:off x="3609975" y="3276600"/>
            <a:ext cx="2333625" cy="1038225"/>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637085"/>
                </a:solidFill>
                <a:latin typeface="NanumGothic"/>
                <a:ea typeface="NanumGothic"/>
                <a:cs typeface="NanumGothic"/>
              </a:rPr>
              <a:t>서버와 업무 화면</a:t>
            </a:r>
            <a:endParaRPr lang="ko-KR" sz="2100" b="0"/>
          </a:p>
          <a:p>
            <a:pPr marL="0" marR="0" indent="0">
              <a:lnSpc>
                <a:spcPct val="125000"/>
              </a:lnSpc>
              <a:buNone/>
            </a:pPr>
            <a:r>
              <a:rPr lang="ko-KR" sz="2100" b="0">
                <a:solidFill>
                  <a:srgbClr val="637085"/>
                </a:solidFill>
                <a:latin typeface="NanumGothic"/>
                <a:ea typeface="NanumGothic"/>
                <a:cs typeface="NanumGothic"/>
              </a:rPr>
              <a:t>테스트와 문서</a:t>
            </a:r>
            <a:endParaRPr lang="ko-KR" sz="2100" b="0"/>
          </a:p>
        </p:txBody>
      </p:sp>
      <p:sp>
        <p:nvSpPr>
          <p:cNvPr id="13" name="Text 13"/>
          <p:cNvSpPr txBox="1"/>
          <p:nvPr/>
        </p:nvSpPr>
        <p:spPr>
          <a:xfrm>
            <a:off x="6381750" y="3276600"/>
            <a:ext cx="2333625" cy="1038225"/>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637085"/>
                </a:solidFill>
                <a:latin typeface="NanumGothic"/>
                <a:ea typeface="NanumGothic"/>
                <a:cs typeface="NanumGothic"/>
              </a:rPr>
              <a:t>로컬 테스트 실행</a:t>
            </a:r>
            <a:endParaRPr lang="ko-KR" sz="2100" b="0"/>
          </a:p>
          <a:p>
            <a:pPr marL="0" marR="0" indent="0">
              <a:lnSpc>
                <a:spcPct val="125000"/>
              </a:lnSpc>
              <a:buNone/>
            </a:pPr>
            <a:r>
              <a:rPr lang="ko-KR" sz="2100" b="0">
                <a:solidFill>
                  <a:srgbClr val="637085"/>
                </a:solidFill>
                <a:latin typeface="NanumGothic"/>
                <a:ea typeface="NanumGothic"/>
                <a:cs typeface="NanumGothic"/>
              </a:rPr>
              <a:t>실패 원인 보완</a:t>
            </a:r>
            <a:endParaRPr lang="ko-KR" sz="2100" b="0"/>
          </a:p>
        </p:txBody>
      </p:sp>
      <p:sp>
        <p:nvSpPr>
          <p:cNvPr id="14" name="Text 14"/>
          <p:cNvSpPr txBox="1"/>
          <p:nvPr/>
        </p:nvSpPr>
        <p:spPr>
          <a:xfrm>
            <a:off x="9153525" y="3276600"/>
            <a:ext cx="2324100" cy="1038225"/>
          </a:xfrm>
          <a:prstGeom prst="rect">
            <a:avLst/>
          </a:prstGeom>
          <a:noFill/>
          <a:ln>
            <a:noFill/>
          </a:ln>
        </p:spPr>
        <p:txBody>
          <a:bodyPr wrap="square" lIns="0" tIns="0" rIns="0" bIns="0" anchor="t">
            <a:noAutofit/>
          </a:bodyPr>
          <a:lstStyle/>
          <a:p>
            <a:pPr marL="0" marR="0" indent="0">
              <a:lnSpc>
                <a:spcPct val="125000"/>
              </a:lnSpc>
              <a:buNone/>
            </a:pPr>
            <a:r>
              <a:rPr lang="ko-KR" sz="2100" b="0">
                <a:solidFill>
                  <a:srgbClr val="637085"/>
                </a:solidFill>
                <a:latin typeface="NanumGothic"/>
                <a:ea typeface="NanumGothic"/>
                <a:cs typeface="NanumGothic"/>
              </a:rPr>
              <a:t>변경 내용 재검토</a:t>
            </a:r>
            <a:endParaRPr lang="ko-KR" sz="2100" b="0"/>
          </a:p>
          <a:p>
            <a:pPr marL="0" marR="0" indent="0">
              <a:lnSpc>
                <a:spcPct val="125000"/>
              </a:lnSpc>
              <a:buNone/>
            </a:pPr>
            <a:r>
              <a:rPr lang="ko-KR" sz="2100" b="0">
                <a:solidFill>
                  <a:srgbClr val="637085"/>
                </a:solidFill>
                <a:latin typeface="NanumGothic"/>
                <a:ea typeface="NanumGothic"/>
                <a:cs typeface="NanumGothic"/>
              </a:rPr>
              <a:t>남은 조건 정리</a:t>
            </a:r>
            <a:endParaRPr lang="ko-KR" sz="2100" b="0"/>
          </a:p>
        </p:txBody>
      </p:sp>
      <p:cxnSp>
        <p:nvCxnSpPr>
          <p:cNvPr id="15" name="Handoff 15"/>
          <p:cNvCxnSpPr/>
          <p:nvPr/>
        </p:nvCxnSpPr>
        <p:spPr>
          <a:xfrm>
            <a:off x="809625" y="4857750"/>
            <a:ext cx="10582275" cy="0"/>
          </a:xfrm>
          <a:prstGeom prst="line">
            <a:avLst/>
          </a:prstGeom>
          <a:ln w="19050">
            <a:solidFill>
              <a:srgbClr val="D8DFEB"/>
            </a:solidFill>
          </a:ln>
        </p:spPr>
      </p:cxnSp>
      <p:sp>
        <p:nvSpPr>
          <p:cNvPr id="16" name="Text 16"/>
          <p:cNvSpPr txBox="1"/>
          <p:nvPr/>
        </p:nvSpPr>
        <p:spPr>
          <a:xfrm>
            <a:off x="838200" y="5362575"/>
            <a:ext cx="5114925" cy="6000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9734A"/>
                </a:solidFill>
                <a:latin typeface="NanumGothic"/>
                <a:ea typeface="NanumGothic"/>
                <a:cs typeface="NanumGothic"/>
              </a:rPr>
              <a:t>사용자: 계획·실행 권한 승인</a:t>
            </a:r>
            <a:endParaRPr lang="ko-KR" sz="2175" b="1"/>
          </a:p>
        </p:txBody>
      </p:sp>
      <p:sp>
        <p:nvSpPr>
          <p:cNvPr id="17" name="Text 17"/>
          <p:cNvSpPr txBox="1"/>
          <p:nvPr/>
        </p:nvSpPr>
        <p:spPr>
          <a:xfrm>
            <a:off x="6381750" y="5362575"/>
            <a:ext cx="5086350" cy="6000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9734A"/>
                </a:solidFill>
                <a:latin typeface="NanumGothic"/>
                <a:ea typeface="NanumGothic"/>
                <a:cs typeface="NanumGothic"/>
              </a:rPr>
              <a:t>조직: 적용·출시 여부 결정</a:t>
            </a:r>
            <a:endParaRPr lang="ko-KR" sz="2175" b="1"/>
          </a:p>
        </p:txBody>
      </p:sp>
      <p:sp>
        <p:nvSpPr>
          <p:cNvPr id="18" name="Text 18"/>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9</a:t>
            </a:r>
            <a:endParaRPr lang="ko-KR" sz="1050" b="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우리 저장소의 맥락에서 시작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우리 저장소의 맥락에서 시작합니다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실제 Copilot CLI가 코드와 팀 지침을 읽고 계획을 제시합니다</a:t>
            </a:r>
            <a:endParaRPr lang="ko-KR" sz="1875" b="0"/>
          </a:p>
        </p:txBody>
      </p:sp>
      <p:pic>
        <p:nvPicPr>
          <p:cNvPr id="4" name="ghcp-plan.png" descr="Actual local demo screenshot"/>
          <p:cNvPicPr>
            <a:picLocks noChangeAspect="1"/>
          </p:cNvPicPr>
          <p:nvPr/>
        </p:nvPicPr>
        <p:blipFill>
          <a:blip r:embed="rId3"/>
          <a:stretch>
            <a:fillRect/>
          </a:stretch>
        </p:blipFill>
        <p:spPr>
          <a:xfrm>
            <a:off x="2368689" y="1971675"/>
            <a:ext cx="7454622" cy="3419475"/>
          </a:xfrm>
          <a:prstGeom prst="rect">
            <a:avLst/>
          </a:prstGeom>
        </p:spPr>
      </p:pic>
      <p:sp>
        <p:nvSpPr>
          <p:cNvPr id="5" name="Text 5"/>
          <p:cNvSpPr txBox="1"/>
          <p:nvPr/>
        </p:nvSpPr>
        <p:spPr>
          <a:xfrm>
            <a:off x="790575" y="5724525"/>
            <a:ext cx="10572750" cy="504825"/>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7652C4"/>
                </a:solidFill>
                <a:latin typeface="NanumGothic"/>
                <a:ea typeface="NanumGothic"/>
                <a:cs typeface="NanumGothic"/>
              </a:rPr>
              <a:t>팀 지침 + 기존 코드 + 완료 기준</a:t>
            </a:r>
            <a:endParaRPr lang="ko-KR" sz="2400" b="1"/>
          </a:p>
        </p:txBody>
      </p:sp>
      <p:sp>
        <p:nvSpPr>
          <p:cNvPr id="6" name="Text 6"/>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10</a:t>
            </a:r>
            <a:endParaRPr lang="ko-KR" sz="1050"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AI가 실행해도 결정권은 사용자에게">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AI가 실행해도 결정권은 사용자에게</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Copilot이 제시한 변경과 명령을 확인하고 허용하거나 거부합니다</a:t>
            </a:r>
            <a:endParaRPr lang="ko-KR" sz="1875" b="0"/>
          </a:p>
        </p:txBody>
      </p:sp>
      <p:pic>
        <p:nvPicPr>
          <p:cNvPr id="4" name="ghcp-approval.png" descr="Actual local demo screenshot"/>
          <p:cNvPicPr>
            <a:picLocks noChangeAspect="1"/>
          </p:cNvPicPr>
          <p:nvPr/>
        </p:nvPicPr>
        <p:blipFill>
          <a:blip r:embed="rId3"/>
          <a:stretch>
            <a:fillRect/>
          </a:stretch>
        </p:blipFill>
        <p:spPr>
          <a:xfrm>
            <a:off x="2410219" y="1971675"/>
            <a:ext cx="7371562" cy="3381375"/>
          </a:xfrm>
          <a:prstGeom prst="rect">
            <a:avLst/>
          </a:prstGeom>
        </p:spPr>
      </p:pic>
      <p:sp>
        <p:nvSpPr>
          <p:cNvPr id="5" name="Text 5"/>
          <p:cNvSpPr txBox="1"/>
          <p:nvPr/>
        </p:nvSpPr>
        <p:spPr>
          <a:xfrm>
            <a:off x="790575" y="5638800"/>
            <a:ext cx="10582275" cy="457200"/>
          </a:xfrm>
          <a:prstGeom prst="rect">
            <a:avLst/>
          </a:prstGeom>
          <a:noFill/>
          <a:ln>
            <a:noFill/>
          </a:ln>
        </p:spPr>
        <p:txBody>
          <a:bodyPr wrap="square" lIns="0" tIns="0" rIns="0" bIns="0" anchor="t">
            <a:noAutofit/>
          </a:bodyPr>
          <a:lstStyle/>
          <a:p>
            <a:pPr marL="0" marR="0" indent="0">
              <a:lnSpc>
                <a:spcPct val="125000"/>
              </a:lnSpc>
              <a:buNone/>
            </a:pPr>
            <a:r>
              <a:rPr lang="ko-KR" sz="2325" b="1">
                <a:solidFill>
                  <a:srgbClr val="7652C4"/>
                </a:solidFill>
                <a:latin typeface="NanumGothic"/>
                <a:ea typeface="NanumGothic"/>
                <a:cs typeface="NanumGothic"/>
              </a:rPr>
              <a:t>계획 수락과 도구 실행 승인을 구분</a:t>
            </a:r>
            <a:endParaRPr lang="ko-KR" sz="2325" b="1"/>
          </a:p>
        </p:txBody>
      </p:sp>
      <p:sp>
        <p:nvSpPr>
          <p:cNvPr id="6" name="Text 6"/>
          <p:cNvSpPr txBox="1"/>
          <p:nvPr/>
        </p:nvSpPr>
        <p:spPr>
          <a:xfrm>
            <a:off x="800100" y="6200775"/>
            <a:ext cx="10572750" cy="285750"/>
          </a:xfrm>
          <a:prstGeom prst="rect">
            <a:avLst/>
          </a:prstGeom>
          <a:noFill/>
          <a:ln>
            <a:noFill/>
          </a:ln>
        </p:spPr>
        <p:txBody>
          <a:bodyPr wrap="square" lIns="0" tIns="0" rIns="0" bIns="0" anchor="t">
            <a:noAutofit/>
          </a:bodyPr>
          <a:lstStyle/>
          <a:p>
            <a:pPr marL="0" marR="0" indent="0">
              <a:lnSpc>
                <a:spcPct val="125000"/>
              </a:lnSpc>
              <a:buNone/>
            </a:pPr>
            <a:r>
              <a:rPr lang="ko-KR" sz="1425" b="0">
                <a:solidFill>
                  <a:srgbClr val="637085"/>
                </a:solidFill>
                <a:latin typeface="NanumGothic"/>
                <a:ea typeface="NanumGothic"/>
                <a:cs typeface="NanumGothic"/>
              </a:rPr>
              <a:t>실제 CLI 승인 UI · 영상의 선택 키는 시연 자동화이며 사람의 출시 승인이 아님</a:t>
            </a:r>
            <a:endParaRPr lang="ko-KR" sz="1425" b="0"/>
          </a:p>
        </p:txBody>
      </p:sp>
      <p:sp>
        <p:nvSpPr>
          <p:cNvPr id="7" name="Text 7"/>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11</a:t>
            </a:r>
            <a:endParaRPr lang="ko-KR" sz="1050" b="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답변이 아니라 동작하는 변경을 만듭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답변이 아니라 동작하는 변경을 만듭니다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하나의 정책 요청이 제품의 여러 부분에 함께 반영됩니다</a:t>
            </a:r>
            <a:endParaRPr lang="ko-KR" sz="1875" b="0"/>
          </a:p>
        </p:txBody>
      </p:sp>
      <p:pic>
        <p:nvPicPr>
          <p:cNvPr id="4" name="ghcp-implementation.png" descr="Actual local demo screenshot"/>
          <p:cNvPicPr>
            <a:picLocks noChangeAspect="1"/>
          </p:cNvPicPr>
          <p:nvPr/>
        </p:nvPicPr>
        <p:blipFill>
          <a:blip r:embed="rId3"/>
          <a:stretch>
            <a:fillRect/>
          </a:stretch>
        </p:blipFill>
        <p:spPr>
          <a:xfrm>
            <a:off x="742950" y="2220016"/>
            <a:ext cx="6953250" cy="3189493"/>
          </a:xfrm>
          <a:prstGeom prst="rect">
            <a:avLst/>
          </a:prstGeom>
        </p:spPr>
      </p:pic>
      <p:sp>
        <p:nvSpPr>
          <p:cNvPr id="5" name="Text 5"/>
          <p:cNvSpPr txBox="1"/>
          <p:nvPr/>
        </p:nvSpPr>
        <p:spPr>
          <a:xfrm>
            <a:off x="8115300" y="2219325"/>
            <a:ext cx="3286125" cy="409575"/>
          </a:xfrm>
          <a:prstGeom prst="rect">
            <a:avLst/>
          </a:prstGeom>
          <a:noFill/>
          <a:ln>
            <a:noFill/>
          </a:ln>
        </p:spPr>
        <p:txBody>
          <a:bodyPr wrap="square" lIns="0" tIns="0" rIns="0" bIns="0" anchor="t">
            <a:noAutofit/>
          </a:bodyPr>
          <a:lstStyle/>
          <a:p>
            <a:pPr marL="0" marR="0" indent="0">
              <a:lnSpc>
                <a:spcPct val="125000"/>
              </a:lnSpc>
              <a:buNone/>
            </a:pPr>
            <a:r>
              <a:rPr lang="ko-KR" sz="2325" b="1">
                <a:solidFill>
                  <a:srgbClr val="7652C4"/>
                </a:solidFill>
                <a:latin typeface="NanumGothic"/>
                <a:ea typeface="NanumGothic"/>
                <a:cs typeface="NanumGothic"/>
              </a:rPr>
              <a:t>업무 규칙</a:t>
            </a:r>
            <a:endParaRPr lang="ko-KR" sz="2325" b="1"/>
          </a:p>
        </p:txBody>
      </p:sp>
      <p:sp>
        <p:nvSpPr>
          <p:cNvPr id="6" name="Text 6"/>
          <p:cNvSpPr txBox="1"/>
          <p:nvPr/>
        </p:nvSpPr>
        <p:spPr>
          <a:xfrm>
            <a:off x="8124825" y="2762250"/>
            <a:ext cx="3276600" cy="457200"/>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172033"/>
                </a:solidFill>
                <a:latin typeface="NanumGothic"/>
                <a:ea typeface="NanumGothic"/>
                <a:cs typeface="NanumGothic"/>
              </a:rPr>
              <a:t>서버의 승인·차단·이력</a:t>
            </a:r>
            <a:endParaRPr lang="ko-KR" sz="1875" b="0"/>
          </a:p>
        </p:txBody>
      </p:sp>
      <p:sp>
        <p:nvSpPr>
          <p:cNvPr id="7" name="Text 7"/>
          <p:cNvSpPr txBox="1"/>
          <p:nvPr/>
        </p:nvSpPr>
        <p:spPr>
          <a:xfrm>
            <a:off x="8115300" y="3419475"/>
            <a:ext cx="3286125" cy="409575"/>
          </a:xfrm>
          <a:prstGeom prst="rect">
            <a:avLst/>
          </a:prstGeom>
          <a:noFill/>
          <a:ln>
            <a:noFill/>
          </a:ln>
        </p:spPr>
        <p:txBody>
          <a:bodyPr wrap="square" lIns="0" tIns="0" rIns="0" bIns="0" anchor="t">
            <a:noAutofit/>
          </a:bodyPr>
          <a:lstStyle/>
          <a:p>
            <a:pPr marL="0" marR="0" indent="0">
              <a:lnSpc>
                <a:spcPct val="125000"/>
              </a:lnSpc>
              <a:buNone/>
            </a:pPr>
            <a:r>
              <a:rPr lang="ko-KR" sz="2325" b="1">
                <a:solidFill>
                  <a:srgbClr val="7652C4"/>
                </a:solidFill>
                <a:latin typeface="NanumGothic"/>
                <a:ea typeface="NanumGothic"/>
                <a:cs typeface="NanumGothic"/>
              </a:rPr>
              <a:t>사용자 경험</a:t>
            </a:r>
            <a:endParaRPr lang="ko-KR" sz="2325" b="1"/>
          </a:p>
        </p:txBody>
      </p:sp>
      <p:sp>
        <p:nvSpPr>
          <p:cNvPr id="8" name="Text 8"/>
          <p:cNvSpPr txBox="1"/>
          <p:nvPr/>
        </p:nvSpPr>
        <p:spPr>
          <a:xfrm>
            <a:off x="8124825" y="3962400"/>
            <a:ext cx="3276600" cy="457200"/>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172033"/>
                </a:solidFill>
                <a:latin typeface="NanumGothic"/>
                <a:ea typeface="NanumGothic"/>
                <a:cs typeface="NanumGothic"/>
              </a:rPr>
              <a:t>요청·승인·반려 화면</a:t>
            </a:r>
            <a:endParaRPr lang="ko-KR" sz="1875" b="0"/>
          </a:p>
        </p:txBody>
      </p:sp>
      <p:sp>
        <p:nvSpPr>
          <p:cNvPr id="9" name="Text 9"/>
          <p:cNvSpPr txBox="1"/>
          <p:nvPr/>
        </p:nvSpPr>
        <p:spPr>
          <a:xfrm>
            <a:off x="8115300" y="4667250"/>
            <a:ext cx="3286125" cy="552450"/>
          </a:xfrm>
          <a:prstGeom prst="rect">
            <a:avLst/>
          </a:prstGeom>
          <a:noFill/>
          <a:ln>
            <a:noFill/>
          </a:ln>
        </p:spPr>
        <p:txBody>
          <a:bodyPr wrap="square" lIns="0" tIns="0" rIns="0" bIns="0" anchor="t">
            <a:noAutofit/>
          </a:bodyPr>
          <a:lstStyle/>
          <a:p>
            <a:pPr marL="0" marR="0" indent="0">
              <a:lnSpc>
                <a:spcPct val="125000"/>
              </a:lnSpc>
              <a:buNone/>
            </a:pPr>
            <a:r>
              <a:rPr lang="ko-KR" sz="2325" b="1">
                <a:solidFill>
                  <a:srgbClr val="7652C4"/>
                </a:solidFill>
                <a:latin typeface="NanumGothic"/>
                <a:ea typeface="NanumGothic"/>
                <a:cs typeface="NanumGothic"/>
              </a:rPr>
              <a:t>테스트와 문서</a:t>
            </a:r>
            <a:endParaRPr lang="ko-KR" sz="2325" b="1"/>
          </a:p>
        </p:txBody>
      </p:sp>
      <p:sp>
        <p:nvSpPr>
          <p:cNvPr id="10" name="Text 10"/>
          <p:cNvSpPr txBox="1"/>
          <p:nvPr/>
        </p:nvSpPr>
        <p:spPr>
          <a:xfrm>
            <a:off x="790575" y="5924550"/>
            <a:ext cx="10582275" cy="428625"/>
          </a:xfrm>
          <a:prstGeom prst="rect">
            <a:avLst/>
          </a:prstGeom>
          <a:noFill/>
          <a:ln>
            <a:noFill/>
          </a:ln>
        </p:spPr>
        <p:txBody>
          <a:bodyPr wrap="square" lIns="0" tIns="0" rIns="0" bIns="0" anchor="t">
            <a:noAutofit/>
          </a:bodyPr>
          <a:lstStyle/>
          <a:p>
            <a:pPr marL="0" marR="0" indent="0">
              <a:lnSpc>
                <a:spcPct val="125000"/>
              </a:lnSpc>
              <a:buNone/>
            </a:pPr>
            <a:r>
              <a:rPr lang="ko-KR" sz="2025" b="0">
                <a:solidFill>
                  <a:srgbClr val="637085"/>
                </a:solidFill>
                <a:latin typeface="NanumGothic"/>
                <a:ea typeface="NanumGothic"/>
                <a:cs typeface="NanumGothic"/>
              </a:rPr>
              <a:t>6개 파일의 실제 변경 · 허용 범위 밖 변경 없음</a:t>
            </a:r>
            <a:endParaRPr lang="ko-KR" sz="2025" b="0"/>
          </a:p>
        </p:txBody>
      </p:sp>
      <p:sp>
        <p:nvSpPr>
          <p:cNvPr id="11" name="Text 11"/>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12</a:t>
            </a:r>
            <a:endParaRPr lang="ko-KR" sz="1050" b="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업무 정책이 실제 화면에서 작동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업무 정책이 실제 화면에서 작동합니다</a:t>
            </a:r>
            <a:endParaRPr lang="ko-KR" sz="3225" b="1"/>
          </a:p>
        </p:txBody>
      </p:sp>
      <p:sp>
        <p:nvSpPr>
          <p:cNvPr id="3" name="Text 3"/>
          <p:cNvSpPr txBox="1"/>
          <p:nvPr/>
        </p:nvSpPr>
        <p:spPr>
          <a:xfrm>
            <a:off x="781050" y="1885950"/>
            <a:ext cx="1533525" cy="4476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7652C4"/>
                </a:solidFill>
                <a:latin typeface="NanumGothic"/>
                <a:ea typeface="NanumGothic"/>
                <a:cs typeface="NanumGothic"/>
              </a:rPr>
              <a:t>요청</a:t>
            </a:r>
            <a:endParaRPr lang="ko-KR" sz="2175" b="1"/>
          </a:p>
        </p:txBody>
      </p:sp>
      <p:pic>
        <p:nvPicPr>
          <p:cNvPr id="4" name="after-pending-row.png" descr="Actual local demo screenshot"/>
          <p:cNvPicPr>
            <a:picLocks noChangeAspect="1"/>
          </p:cNvPicPr>
          <p:nvPr/>
        </p:nvPicPr>
        <p:blipFill>
          <a:blip r:embed="rId3"/>
          <a:stretch>
            <a:fillRect/>
          </a:stretch>
        </p:blipFill>
        <p:spPr>
          <a:xfrm>
            <a:off x="2428875" y="1941989"/>
            <a:ext cx="9020175" cy="573721"/>
          </a:xfrm>
          <a:prstGeom prst="rect">
            <a:avLst/>
          </a:prstGeom>
        </p:spPr>
      </p:pic>
      <p:sp>
        <p:nvSpPr>
          <p:cNvPr id="5" name="Text 5"/>
          <p:cNvSpPr txBox="1"/>
          <p:nvPr/>
        </p:nvSpPr>
        <p:spPr>
          <a:xfrm>
            <a:off x="781050" y="3190875"/>
            <a:ext cx="1533525" cy="4476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AD5B15"/>
                </a:solidFill>
                <a:latin typeface="NanumGothic"/>
                <a:ea typeface="NanumGothic"/>
                <a:cs typeface="NanumGothic"/>
              </a:rPr>
              <a:t>차단</a:t>
            </a:r>
            <a:endParaRPr lang="ko-KR" sz="2175" b="1"/>
          </a:p>
        </p:txBody>
      </p:sp>
      <p:pic>
        <p:nvPicPr>
          <p:cNvPr id="6" name="after-blocked-notice.png" descr="Actual local demo screenshot"/>
          <p:cNvPicPr>
            <a:picLocks noChangeAspect="1"/>
          </p:cNvPicPr>
          <p:nvPr/>
        </p:nvPicPr>
        <p:blipFill>
          <a:blip r:embed="rId4"/>
          <a:stretch>
            <a:fillRect/>
          </a:stretch>
        </p:blipFill>
        <p:spPr>
          <a:xfrm>
            <a:off x="2428875" y="3311206"/>
            <a:ext cx="9020175" cy="302263"/>
          </a:xfrm>
          <a:prstGeom prst="rect">
            <a:avLst/>
          </a:prstGeom>
        </p:spPr>
      </p:pic>
      <p:sp>
        <p:nvSpPr>
          <p:cNvPr id="7" name="Text 7"/>
          <p:cNvSpPr txBox="1"/>
          <p:nvPr/>
        </p:nvSpPr>
        <p:spPr>
          <a:xfrm>
            <a:off x="781050" y="4457700"/>
            <a:ext cx="1533525" cy="447675"/>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19734A"/>
                </a:solidFill>
                <a:latin typeface="NanumGothic"/>
                <a:ea typeface="NanumGothic"/>
                <a:cs typeface="NanumGothic"/>
              </a:rPr>
              <a:t>승인</a:t>
            </a:r>
            <a:endParaRPr lang="ko-KR" sz="2175" b="1"/>
          </a:p>
        </p:txBody>
      </p:sp>
      <p:pic>
        <p:nvPicPr>
          <p:cNvPr id="8" name="after-approved-row.png" descr="Actual local demo screenshot"/>
          <p:cNvPicPr>
            <a:picLocks noChangeAspect="1"/>
          </p:cNvPicPr>
          <p:nvPr/>
        </p:nvPicPr>
        <p:blipFill>
          <a:blip r:embed="rId5"/>
          <a:stretch>
            <a:fillRect/>
          </a:stretch>
        </p:blipFill>
        <p:spPr>
          <a:xfrm>
            <a:off x="2428875" y="4506642"/>
            <a:ext cx="9020175" cy="549816"/>
          </a:xfrm>
          <a:prstGeom prst="rect">
            <a:avLst/>
          </a:prstGeom>
        </p:spPr>
      </p:pic>
      <p:sp>
        <p:nvSpPr>
          <p:cNvPr id="9" name="Text 9"/>
          <p:cNvSpPr txBox="1"/>
          <p:nvPr/>
        </p:nvSpPr>
        <p:spPr>
          <a:xfrm>
            <a:off x="800100" y="5743575"/>
            <a:ext cx="10582275" cy="590550"/>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120만 원은 승인 대기 → 자기 승인 차단 → 다른 담당자 승인</a:t>
            </a:r>
            <a:endParaRPr lang="ko-KR" sz="2175" b="0"/>
          </a:p>
        </p:txBody>
      </p:sp>
      <p:sp>
        <p:nvSpPr>
          <p:cNvPr id="10" name="Text 10"/>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13</a:t>
            </a:r>
            <a:endParaRPr lang="ko-KR" sz="1050" b="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완료를 판단할 근거까지 남깁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완료를 판단할 근거까지 남깁니다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실행한 테스트와 별도 리뷰를 바탕으로 변경을 검토합니다</a:t>
            </a:r>
            <a:endParaRPr lang="ko-KR" sz="1875" b="0"/>
          </a:p>
        </p:txBody>
      </p:sp>
      <p:pic>
        <p:nvPicPr>
          <p:cNvPr id="4" name="ghcp-tests.png" descr="Actual local demo screenshot"/>
          <p:cNvPicPr>
            <a:picLocks noChangeAspect="1"/>
          </p:cNvPicPr>
          <p:nvPr/>
        </p:nvPicPr>
        <p:blipFill>
          <a:blip r:embed="rId3"/>
          <a:stretch>
            <a:fillRect/>
          </a:stretch>
        </p:blipFill>
        <p:spPr>
          <a:xfrm>
            <a:off x="742950" y="2093735"/>
            <a:ext cx="5219700" cy="2394304"/>
          </a:xfrm>
          <a:prstGeom prst="rect">
            <a:avLst/>
          </a:prstGeom>
        </p:spPr>
      </p:pic>
      <p:pic>
        <p:nvPicPr>
          <p:cNvPr id="5" name="ghcp-review.png" descr="Actual local demo screenshot"/>
          <p:cNvPicPr>
            <a:picLocks noChangeAspect="1"/>
          </p:cNvPicPr>
          <p:nvPr/>
        </p:nvPicPr>
        <p:blipFill>
          <a:blip r:embed="rId4"/>
          <a:stretch>
            <a:fillRect/>
          </a:stretch>
        </p:blipFill>
        <p:spPr>
          <a:xfrm>
            <a:off x="6238875" y="2095920"/>
            <a:ext cx="5210175" cy="2389935"/>
          </a:xfrm>
          <a:prstGeom prst="rect">
            <a:avLst/>
          </a:prstGeom>
        </p:spPr>
      </p:pic>
      <p:sp>
        <p:nvSpPr>
          <p:cNvPr id="6" name="Text 6"/>
          <p:cNvSpPr txBox="1"/>
          <p:nvPr/>
        </p:nvSpPr>
        <p:spPr>
          <a:xfrm>
            <a:off x="809625" y="4914900"/>
            <a:ext cx="3276600" cy="742950"/>
          </a:xfrm>
          <a:prstGeom prst="rect">
            <a:avLst/>
          </a:prstGeom>
          <a:noFill/>
          <a:ln>
            <a:noFill/>
          </a:ln>
        </p:spPr>
        <p:txBody>
          <a:bodyPr wrap="square" lIns="0" tIns="0" rIns="0" bIns="0" anchor="t">
            <a:noAutofit/>
          </a:bodyPr>
          <a:lstStyle/>
          <a:p>
            <a:pPr marL="0" marR="0" indent="0">
              <a:lnSpc>
                <a:spcPct val="125000"/>
              </a:lnSpc>
              <a:buNone/>
            </a:pPr>
            <a:r>
              <a:rPr lang="ko-KR" sz="4425" b="1">
                <a:solidFill>
                  <a:srgbClr val="19734A"/>
                </a:solidFill>
                <a:latin typeface="NanumGothic"/>
                <a:ea typeface="NanumGothic"/>
                <a:cs typeface="NanumGothic"/>
              </a:rPr>
              <a:t>12/12</a:t>
            </a:r>
            <a:endParaRPr lang="ko-KR" sz="4425" b="1"/>
          </a:p>
        </p:txBody>
      </p:sp>
      <p:sp>
        <p:nvSpPr>
          <p:cNvPr id="7" name="Text 7"/>
          <p:cNvSpPr txBox="1"/>
          <p:nvPr/>
        </p:nvSpPr>
        <p:spPr>
          <a:xfrm>
            <a:off x="4591050" y="4914900"/>
            <a:ext cx="3276600" cy="742950"/>
          </a:xfrm>
          <a:prstGeom prst="rect">
            <a:avLst/>
          </a:prstGeom>
          <a:noFill/>
          <a:ln>
            <a:noFill/>
          </a:ln>
        </p:spPr>
        <p:txBody>
          <a:bodyPr wrap="square" lIns="0" tIns="0" rIns="0" bIns="0" anchor="t">
            <a:noAutofit/>
          </a:bodyPr>
          <a:lstStyle/>
          <a:p>
            <a:pPr marL="0" marR="0" indent="0">
              <a:lnSpc>
                <a:spcPct val="125000"/>
              </a:lnSpc>
              <a:buNone/>
            </a:pPr>
            <a:r>
              <a:rPr lang="ko-KR" sz="4425" b="1">
                <a:solidFill>
                  <a:srgbClr val="19734A"/>
                </a:solidFill>
                <a:latin typeface="NanumGothic"/>
                <a:ea typeface="NanumGothic"/>
                <a:cs typeface="NanumGothic"/>
              </a:rPr>
              <a:t>20/20</a:t>
            </a:r>
            <a:endParaRPr lang="ko-KR" sz="4425" b="1"/>
          </a:p>
        </p:txBody>
      </p:sp>
      <p:sp>
        <p:nvSpPr>
          <p:cNvPr id="8" name="Text 8"/>
          <p:cNvSpPr txBox="1"/>
          <p:nvPr/>
        </p:nvSpPr>
        <p:spPr>
          <a:xfrm>
            <a:off x="8372475" y="5038725"/>
            <a:ext cx="3028950" cy="657225"/>
          </a:xfrm>
          <a:prstGeom prst="rect">
            <a:avLst/>
          </a:prstGeom>
          <a:noFill/>
          <a:ln>
            <a:noFill/>
          </a:ln>
        </p:spPr>
        <p:txBody>
          <a:bodyPr wrap="square" lIns="0" tIns="0" rIns="0" bIns="0" anchor="t">
            <a:noAutofit/>
          </a:bodyPr>
          <a:lstStyle/>
          <a:p>
            <a:pPr marL="0" marR="0" indent="0">
              <a:lnSpc>
                <a:spcPct val="125000"/>
              </a:lnSpc>
              <a:buNone/>
            </a:pPr>
            <a:r>
              <a:rPr lang="ko-KR" sz="3375" b="1">
                <a:solidFill>
                  <a:srgbClr val="7652C4"/>
                </a:solidFill>
                <a:latin typeface="NanumGothic"/>
                <a:ea typeface="NanumGothic"/>
                <a:cs typeface="NanumGothic"/>
              </a:rPr>
              <a:t>/review</a:t>
            </a:r>
            <a:endParaRPr lang="ko-KR" sz="3375" b="1"/>
          </a:p>
        </p:txBody>
      </p:sp>
      <p:sp>
        <p:nvSpPr>
          <p:cNvPr id="9" name="Text 9"/>
          <p:cNvSpPr txBox="1"/>
          <p:nvPr/>
        </p:nvSpPr>
        <p:spPr>
          <a:xfrm>
            <a:off x="819150" y="5886450"/>
            <a:ext cx="3257550" cy="3714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제품 회귀 테스트</a:t>
            </a:r>
            <a:endParaRPr lang="ko-KR" sz="1875" b="0"/>
          </a:p>
        </p:txBody>
      </p:sp>
      <p:sp>
        <p:nvSpPr>
          <p:cNvPr id="10" name="Text 10"/>
          <p:cNvSpPr txBox="1"/>
          <p:nvPr/>
        </p:nvSpPr>
        <p:spPr>
          <a:xfrm>
            <a:off x="4600575" y="5886450"/>
            <a:ext cx="3257550" cy="3714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독립 인수 테스트</a:t>
            </a:r>
            <a:endParaRPr lang="ko-KR" sz="1875" b="0"/>
          </a:p>
        </p:txBody>
      </p:sp>
      <p:sp>
        <p:nvSpPr>
          <p:cNvPr id="11" name="Text 11"/>
          <p:cNvSpPr txBox="1"/>
          <p:nvPr/>
        </p:nvSpPr>
        <p:spPr>
          <a:xfrm>
            <a:off x="8382000" y="5886450"/>
            <a:ext cx="3028950" cy="3714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변경 위험 재검토</a:t>
            </a:r>
            <a:endParaRPr lang="ko-KR" sz="1875" b="0"/>
          </a:p>
        </p:txBody>
      </p:sp>
      <p:sp>
        <p:nvSpPr>
          <p:cNvPr id="12" name="Text 12"/>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14</a:t>
            </a:r>
            <a:endParaRPr lang="ko-KR" sz="1050" b="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이미 쓰는 GitHub를 팀의 AI 개발 기반으로">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이미 쓰는 GitHub를 팀의 AI 개발 기반으로</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개인의 도구 사용을 넘어 팀의 기준과 개발 흐름에 연결합니다</a:t>
            </a:r>
            <a:endParaRPr lang="ko-KR" sz="1875" b="0"/>
          </a:p>
        </p:txBody>
      </p:sp>
      <p:sp>
        <p:nvSpPr>
          <p:cNvPr id="4" name="Text 4"/>
          <p:cNvSpPr txBox="1"/>
          <p:nvPr/>
        </p:nvSpPr>
        <p:spPr>
          <a:xfrm>
            <a:off x="800100" y="2190750"/>
            <a:ext cx="3810000" cy="438150"/>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7652C4"/>
                </a:solidFill>
                <a:latin typeface="NanumGothic"/>
                <a:ea typeface="NanumGothic"/>
                <a:cs typeface="NanumGothic"/>
              </a:rPr>
              <a:t>팀의 개발 기준</a:t>
            </a:r>
            <a:endParaRPr lang="ko-KR" sz="2400" b="1"/>
          </a:p>
        </p:txBody>
      </p:sp>
      <p:sp>
        <p:nvSpPr>
          <p:cNvPr id="5" name="Text 5"/>
          <p:cNvSpPr txBox="1"/>
          <p:nvPr/>
        </p:nvSpPr>
        <p:spPr>
          <a:xfrm>
            <a:off x="4914900" y="2171700"/>
            <a:ext cx="6515100" cy="952500"/>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저장소 지침과 역할별 에이전트로</a:t>
            </a:r>
            <a:endParaRPr lang="ko-KR" sz="2175" b="0"/>
          </a:p>
          <a:p>
            <a:pPr marL="0" marR="0" indent="0">
              <a:lnSpc>
                <a:spcPct val="125000"/>
              </a:lnSpc>
              <a:buNone/>
            </a:pPr>
            <a:r>
              <a:rPr lang="ko-KR" sz="2175" b="0">
                <a:solidFill>
                  <a:srgbClr val="172033"/>
                </a:solidFill>
                <a:latin typeface="NanumGothic"/>
                <a:ea typeface="NanumGothic"/>
                <a:cs typeface="NanumGothic"/>
              </a:rPr>
              <a:t>반복되는 맥락과 작업 방식을 공유</a:t>
            </a:r>
            <a:endParaRPr lang="ko-KR" sz="2175" b="0"/>
          </a:p>
        </p:txBody>
      </p:sp>
      <p:cxnSp>
        <p:nvCxnSpPr>
          <p:cNvPr id="6" name="Handoff 6"/>
          <p:cNvCxnSpPr/>
          <p:nvPr/>
        </p:nvCxnSpPr>
        <p:spPr>
          <a:xfrm>
            <a:off x="790575" y="3390900"/>
            <a:ext cx="10610850" cy="0"/>
          </a:xfrm>
          <a:prstGeom prst="line">
            <a:avLst/>
          </a:prstGeom>
          <a:ln w="19050">
            <a:solidFill>
              <a:srgbClr val="D8DFEB"/>
            </a:solidFill>
          </a:ln>
        </p:spPr>
      </p:cxnSp>
      <p:sp>
        <p:nvSpPr>
          <p:cNvPr id="7" name="Text 7"/>
          <p:cNvSpPr txBox="1"/>
          <p:nvPr/>
        </p:nvSpPr>
        <p:spPr>
          <a:xfrm>
            <a:off x="800100" y="3705225"/>
            <a:ext cx="3810000" cy="438150"/>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7652C4"/>
                </a:solidFill>
                <a:latin typeface="NanumGothic"/>
                <a:ea typeface="NanumGothic"/>
                <a:cs typeface="NanumGothic"/>
              </a:rPr>
              <a:t>조직의 관리 기준</a:t>
            </a:r>
            <a:endParaRPr lang="ko-KR" sz="2400" b="1"/>
          </a:p>
        </p:txBody>
      </p:sp>
      <p:sp>
        <p:nvSpPr>
          <p:cNvPr id="8" name="Text 8"/>
          <p:cNvSpPr txBox="1"/>
          <p:nvPr/>
        </p:nvSpPr>
        <p:spPr>
          <a:xfrm>
            <a:off x="4914900" y="3667125"/>
            <a:ext cx="6515100" cy="971550"/>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허용할 기능·모델을 조직 정책으로 관리</a:t>
            </a:r>
            <a:endParaRPr lang="ko-KR" sz="2175" b="0"/>
          </a:p>
          <a:p>
            <a:pPr marL="0" marR="0" indent="0">
              <a:lnSpc>
                <a:spcPct val="125000"/>
              </a:lnSpc>
              <a:buNone/>
            </a:pPr>
            <a:r>
              <a:rPr lang="ko-KR" sz="2175" b="0">
                <a:solidFill>
                  <a:srgbClr val="172033"/>
                </a:solidFill>
                <a:latin typeface="NanumGothic"/>
                <a:ea typeface="NanumGothic"/>
                <a:cs typeface="NanumGothic"/>
              </a:rPr>
              <a:t>제품·플랜별 적용 범위 확인</a:t>
            </a:r>
            <a:endParaRPr lang="ko-KR" sz="2175" b="0"/>
          </a:p>
        </p:txBody>
      </p:sp>
      <p:cxnSp>
        <p:nvCxnSpPr>
          <p:cNvPr id="9" name="Handoff 9"/>
          <p:cNvCxnSpPr/>
          <p:nvPr/>
        </p:nvCxnSpPr>
        <p:spPr>
          <a:xfrm>
            <a:off x="790575" y="4895850"/>
            <a:ext cx="10610850" cy="0"/>
          </a:xfrm>
          <a:prstGeom prst="line">
            <a:avLst/>
          </a:prstGeom>
          <a:ln w="19050">
            <a:solidFill>
              <a:srgbClr val="D8DFEB"/>
            </a:solidFill>
          </a:ln>
        </p:spPr>
      </p:cxnSp>
      <p:sp>
        <p:nvSpPr>
          <p:cNvPr id="10" name="Text 10"/>
          <p:cNvSpPr txBox="1"/>
          <p:nvPr/>
        </p:nvSpPr>
        <p:spPr>
          <a:xfrm>
            <a:off x="800100" y="5219700"/>
            <a:ext cx="3810000" cy="438150"/>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7652C4"/>
                </a:solidFill>
                <a:latin typeface="NanumGothic"/>
                <a:ea typeface="NanumGothic"/>
                <a:cs typeface="NanumGothic"/>
              </a:rPr>
              <a:t>기존 개발 흐름</a:t>
            </a:r>
            <a:endParaRPr lang="ko-KR" sz="2400" b="1"/>
          </a:p>
        </p:txBody>
      </p:sp>
      <p:sp>
        <p:nvSpPr>
          <p:cNvPr id="11" name="Text 11"/>
          <p:cNvSpPr txBox="1"/>
          <p:nvPr/>
        </p:nvSpPr>
        <p:spPr>
          <a:xfrm>
            <a:off x="4914900" y="5191125"/>
            <a:ext cx="6515100" cy="1009650"/>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저장소·PR·리뷰·Actions로 연결 가능</a:t>
            </a:r>
            <a:endParaRPr lang="ko-KR" sz="2175" b="0"/>
          </a:p>
          <a:p>
            <a:pPr marL="0" marR="0" indent="0">
              <a:lnSpc>
                <a:spcPct val="125000"/>
              </a:lnSpc>
              <a:buNone/>
            </a:pPr>
            <a:r>
              <a:rPr lang="ko-KR" sz="2175" b="0">
                <a:solidFill>
                  <a:srgbClr val="172033"/>
                </a:solidFill>
                <a:latin typeface="NanumGothic"/>
                <a:ea typeface="NanumGothic"/>
                <a:cs typeface="NanumGothic"/>
              </a:rPr>
              <a:t>이번 시연은 로컬 구현·검증·리뷰까지</a:t>
            </a:r>
            <a:endParaRPr lang="ko-KR" sz="2175" b="0"/>
          </a:p>
        </p:txBody>
      </p:sp>
      <p:sp>
        <p:nvSpPr>
          <p:cNvPr id="12" name="Text 12"/>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15</a:t>
            </a:r>
            <a:endParaRPr lang="ko-KR" sz="1050" b="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CXO의 질문에 실행 결과로 답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CXO의 질문에 실행 결과로 답합니다</a:t>
            </a:r>
            <a:endParaRPr lang="ko-KR" sz="3225" b="1"/>
          </a:p>
        </p:txBody>
      </p:sp>
      <p:graphicFrame>
        <p:nvGraphicFramePr>
          <p:cNvPr id="3" name="Concept comparison"/>
          <p:cNvGraphicFramePr/>
          <p:nvPr/>
        </p:nvGraphicFramePr>
        <p:xfrm>
          <a:off x="742950" y="1781175"/>
          <a:ext cx="10706100" cy="3714750"/>
        </p:xfrm>
        <a:graphic>
          <a:graphicData uri="http://schemas.openxmlformats.org/drawingml/2006/table">
            <a:tbl>
              <a:tblPr firstRow="1"/>
              <a:tblGrid>
                <a:gridCol w="3333750">
                  <a:extLst>
                    <a:ext uri="{9D8B030D-6E8A-4147-A177-3AD203B41FA5}">
                      <a16:colId xmlns:a16="http://schemas.microsoft.com/office/drawing/2014/main" val="20000"/>
                    </a:ext>
                  </a:extLst>
                </a:gridCol>
                <a:gridCol w="384810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742950">
                <a:tc>
                  <a:txBody>
                    <a:bodyPr/>
                    <a:lstStyle/>
                    <a:p>
                      <a:pPr marL="0" marR="0" indent="0">
                        <a:lnSpc>
                          <a:spcPct val="125000"/>
                        </a:lnSpc>
                        <a:buNone/>
                      </a:pPr>
                      <a:r>
                        <a:rPr lang="ko-KR" sz="1875" b="1">
                          <a:solidFill>
                            <a:srgbClr val="FFFFFF"/>
                          </a:solidFill>
                          <a:latin typeface="NanumGothic"/>
                          <a:ea typeface="NanumGothic"/>
                          <a:cs typeface="NanumGothic"/>
                        </a:rPr>
                        <a:t>경영 관점</a:t>
                      </a:r>
                      <a:endParaRPr lang="ko-KR" sz="1875" b="1"/>
                    </a:p>
                  </a:txBody>
                  <a:tcPr marL="190500" marR="152400" marT="152400" marB="95250" anchor="ctr">
                    <a:solidFill>
                      <a:srgbClr val="584185"/>
                    </a:solidFill>
                  </a:tcPr>
                </a:tc>
                <a:tc>
                  <a:txBody>
                    <a:bodyPr/>
                    <a:lstStyle/>
                    <a:p>
                      <a:pPr marL="0" marR="0" indent="0">
                        <a:lnSpc>
                          <a:spcPct val="125000"/>
                        </a:lnSpc>
                        <a:buNone/>
                      </a:pPr>
                      <a:r>
                        <a:rPr lang="ko-KR" sz="1875" b="1">
                          <a:solidFill>
                            <a:srgbClr val="FFFFFF"/>
                          </a:solidFill>
                          <a:latin typeface="NanumGothic"/>
                          <a:ea typeface="NanumGothic"/>
                          <a:cs typeface="NanumGothic"/>
                        </a:rPr>
                        <a:t>GitHub Copilot의 역할</a:t>
                      </a:r>
                      <a:endParaRPr lang="ko-KR" sz="1875" b="1"/>
                    </a:p>
                  </a:txBody>
                  <a:tcPr marL="190500" marR="152400" marT="152400" marB="95250" anchor="ctr">
                    <a:solidFill>
                      <a:srgbClr val="584185"/>
                    </a:solidFill>
                  </a:tcPr>
                </a:tc>
                <a:tc>
                  <a:txBody>
                    <a:bodyPr/>
                    <a:lstStyle/>
                    <a:p>
                      <a:pPr marL="0" marR="0" indent="0">
                        <a:lnSpc>
                          <a:spcPct val="125000"/>
                        </a:lnSpc>
                        <a:buNone/>
                      </a:pPr>
                      <a:r>
                        <a:rPr lang="ko-KR" sz="1875" b="1">
                          <a:solidFill>
                            <a:srgbClr val="FFFFFF"/>
                          </a:solidFill>
                          <a:latin typeface="NanumGothic"/>
                          <a:ea typeface="NanumGothic"/>
                          <a:cs typeface="NanumGothic"/>
                        </a:rPr>
                        <a:t>이번에 확인한 근거</a:t>
                      </a:r>
                      <a:endParaRPr lang="ko-KR" sz="1875" b="1"/>
                    </a:p>
                  </a:txBody>
                  <a:tcPr marL="190500" marR="152400" marT="152400" marB="95250" anchor="ctr">
                    <a:solidFill>
                      <a:srgbClr val="584185"/>
                    </a:solidFill>
                  </a:tcPr>
                </a:tc>
                <a:extLst>
                  <a:ext uri="{0D108BD9-81ED-4DB2-BD59-A6C34878D82A}">
                    <a16:rowId xmlns:a16="http://schemas.microsoft.com/office/drawing/2014/main" val="10000"/>
                  </a:ext>
                </a:extLst>
              </a:tr>
              <a:tr h="742950">
                <a:tc>
                  <a:txBody>
                    <a:bodyPr/>
                    <a:lstStyle/>
                    <a:p>
                      <a:pPr marL="0" marR="0" indent="0">
                        <a:lnSpc>
                          <a:spcPct val="125000"/>
                        </a:lnSpc>
                        <a:buNone/>
                      </a:pPr>
                      <a:r>
                        <a:rPr lang="ko-KR" sz="1800" b="0">
                          <a:solidFill>
                            <a:srgbClr val="172033"/>
                          </a:solidFill>
                          <a:latin typeface="NanumGothic"/>
                          <a:ea typeface="NanumGothic"/>
                          <a:cs typeface="NanumGothic"/>
                        </a:rPr>
                        <a:t>변화에 대응하는 속도</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요청을 계획과 구현으로 연결</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여러 파일의 실제 변경</a:t>
                      </a:r>
                      <a:endParaRPr lang="ko-KR" sz="1800" b="0"/>
                    </a:p>
                  </a:txBody>
                  <a:tcPr marL="190500" marR="152400" marT="152400" marB="95250" anchor="ctr">
                    <a:solidFill>
                      <a:srgbClr val="FFFFFF"/>
                    </a:solidFill>
                  </a:tcPr>
                </a:tc>
                <a:extLst>
                  <a:ext uri="{0D108BD9-81ED-4DB2-BD59-A6C34878D82A}">
                    <a16:rowId xmlns:a16="http://schemas.microsoft.com/office/drawing/2014/main" val="10001"/>
                  </a:ext>
                </a:extLst>
              </a:tr>
              <a:tr h="742950">
                <a:tc>
                  <a:txBody>
                    <a:bodyPr/>
                    <a:lstStyle/>
                    <a:p>
                      <a:pPr marL="0" marR="0" indent="0">
                        <a:lnSpc>
                          <a:spcPct val="125000"/>
                        </a:lnSpc>
                        <a:buNone/>
                      </a:pPr>
                      <a:r>
                        <a:rPr lang="ko-KR" sz="1800" b="0">
                          <a:solidFill>
                            <a:srgbClr val="172033"/>
                          </a:solidFill>
                          <a:latin typeface="NanumGothic"/>
                          <a:ea typeface="NanumGothic"/>
                          <a:cs typeface="NanumGothic"/>
                        </a:rPr>
                        <a:t>변경 품질의 확인</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검증 실행과 리뷰 지원</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테스트 결과와 리뷰 기록</a:t>
                      </a:r>
                      <a:endParaRPr lang="ko-KR" sz="1800" b="0"/>
                    </a:p>
                  </a:txBody>
                  <a:tcPr marL="190500" marR="152400" marT="152400" marB="95250" anchor="ctr">
                    <a:solidFill>
                      <a:srgbClr val="EEEAF7"/>
                    </a:solidFill>
                  </a:tcPr>
                </a:tc>
                <a:extLst>
                  <a:ext uri="{0D108BD9-81ED-4DB2-BD59-A6C34878D82A}">
                    <a16:rowId xmlns:a16="http://schemas.microsoft.com/office/drawing/2014/main" val="10002"/>
                  </a:ext>
                </a:extLst>
              </a:tr>
              <a:tr h="742950">
                <a:tc>
                  <a:txBody>
                    <a:bodyPr/>
                    <a:lstStyle/>
                    <a:p>
                      <a:pPr marL="0" marR="0" indent="0">
                        <a:lnSpc>
                          <a:spcPct val="125000"/>
                        </a:lnSpc>
                        <a:buNone/>
                      </a:pPr>
                      <a:r>
                        <a:rPr lang="ko-KR" sz="1800" b="0">
                          <a:solidFill>
                            <a:srgbClr val="172033"/>
                          </a:solidFill>
                          <a:latin typeface="NanumGothic"/>
                          <a:ea typeface="NanumGothic"/>
                          <a:cs typeface="NanumGothic"/>
                        </a:rPr>
                        <a:t>실행의 통제 가능성</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도구 권한의 사용자 승인</a:t>
                      </a:r>
                      <a:endParaRPr lang="ko-KR" sz="1800" b="0"/>
                    </a:p>
                  </a:txBody>
                  <a:tcPr marL="190500" marR="152400" marT="152400" marB="95250" anchor="ctr">
                    <a:solidFill>
                      <a:srgbClr val="FFFFFF"/>
                    </a:solidFill>
                  </a:tcPr>
                </a:tc>
                <a:tc>
                  <a:txBody>
                    <a:bodyPr/>
                    <a:lstStyle/>
                    <a:p>
                      <a:pPr marL="0" marR="0" indent="0">
                        <a:lnSpc>
                          <a:spcPct val="125000"/>
                        </a:lnSpc>
                        <a:buNone/>
                      </a:pPr>
                      <a:r>
                        <a:rPr lang="ko-KR" sz="1800" b="0">
                          <a:solidFill>
                            <a:srgbClr val="172033"/>
                          </a:solidFill>
                          <a:latin typeface="NanumGothic"/>
                          <a:ea typeface="NanumGothic"/>
                          <a:cs typeface="NanumGothic"/>
                        </a:rPr>
                        <a:t>네이티브 승인 화면</a:t>
                      </a:r>
                      <a:endParaRPr lang="ko-KR" sz="1800" b="0"/>
                    </a:p>
                  </a:txBody>
                  <a:tcPr marL="190500" marR="152400" marT="152400" marB="95250" anchor="ctr">
                    <a:solidFill>
                      <a:srgbClr val="FFFFFF"/>
                    </a:solidFill>
                  </a:tcPr>
                </a:tc>
                <a:extLst>
                  <a:ext uri="{0D108BD9-81ED-4DB2-BD59-A6C34878D82A}">
                    <a16:rowId xmlns:a16="http://schemas.microsoft.com/office/drawing/2014/main" val="10003"/>
                  </a:ext>
                </a:extLst>
              </a:tr>
              <a:tr h="742950">
                <a:tc>
                  <a:txBody>
                    <a:bodyPr/>
                    <a:lstStyle/>
                    <a:p>
                      <a:pPr marL="0" marR="0" indent="0">
                        <a:lnSpc>
                          <a:spcPct val="125000"/>
                        </a:lnSpc>
                        <a:buNone/>
                      </a:pPr>
                      <a:r>
                        <a:rPr lang="ko-KR" sz="1800" b="0">
                          <a:solidFill>
                            <a:srgbClr val="172033"/>
                          </a:solidFill>
                          <a:latin typeface="NanumGothic"/>
                          <a:ea typeface="NanumGothic"/>
                          <a:cs typeface="NanumGothic"/>
                        </a:rPr>
                        <a:t>조직으로의 확장</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저장소 지침과 개발 흐름 활용</a:t>
                      </a:r>
                      <a:endParaRPr lang="ko-KR" sz="1800" b="0"/>
                    </a:p>
                  </a:txBody>
                  <a:tcPr marL="190500" marR="152400" marT="152400" marB="95250" anchor="ctr">
                    <a:solidFill>
                      <a:srgbClr val="EEEAF7"/>
                    </a:solidFill>
                  </a:tcPr>
                </a:tc>
                <a:tc>
                  <a:txBody>
                    <a:bodyPr/>
                    <a:lstStyle/>
                    <a:p>
                      <a:pPr marL="0" marR="0" indent="0">
                        <a:lnSpc>
                          <a:spcPct val="125000"/>
                        </a:lnSpc>
                        <a:buNone/>
                      </a:pPr>
                      <a:r>
                        <a:rPr lang="ko-KR" sz="1800" b="0">
                          <a:solidFill>
                            <a:srgbClr val="172033"/>
                          </a:solidFill>
                          <a:latin typeface="NanumGothic"/>
                          <a:ea typeface="NanumGothic"/>
                          <a:cs typeface="NanumGothic"/>
                        </a:rPr>
                        <a:t>재사용 가능한 실행 경로</a:t>
                      </a:r>
                      <a:endParaRPr lang="ko-KR" sz="1800" b="0"/>
                    </a:p>
                  </a:txBody>
                  <a:tcPr marL="190500" marR="152400" marT="152400" marB="95250" anchor="ctr">
                    <a:solidFill>
                      <a:srgbClr val="EEEAF7"/>
                    </a:solidFill>
                  </a:tcPr>
                </a:tc>
                <a:extLst>
                  <a:ext uri="{0D108BD9-81ED-4DB2-BD59-A6C34878D82A}">
                    <a16:rowId xmlns:a16="http://schemas.microsoft.com/office/drawing/2014/main" val="10004"/>
                  </a:ext>
                </a:extLst>
              </a:tr>
            </a:tbl>
          </a:graphicData>
        </a:graphic>
      </p:graphicFrame>
      <p:sp>
        <p:nvSpPr>
          <p:cNvPr id="4" name="Text 4"/>
          <p:cNvSpPr txBox="1"/>
          <p:nvPr/>
        </p:nvSpPr>
        <p:spPr>
          <a:xfrm>
            <a:off x="790575" y="5895975"/>
            <a:ext cx="10572750" cy="457200"/>
          </a:xfrm>
          <a:prstGeom prst="rect">
            <a:avLst/>
          </a:prstGeom>
          <a:noFill/>
          <a:ln>
            <a:noFill/>
          </a:ln>
        </p:spPr>
        <p:txBody>
          <a:bodyPr wrap="square" lIns="0" tIns="0" rIns="0" bIns="0" anchor="t">
            <a:noAutofit/>
          </a:bodyPr>
          <a:lstStyle/>
          <a:p>
            <a:pPr marL="0" marR="0" indent="0">
              <a:lnSpc>
                <a:spcPct val="125000"/>
              </a:lnSpc>
              <a:buNone/>
            </a:pPr>
            <a:r>
              <a:rPr lang="ko-KR" sz="2175" b="1">
                <a:solidFill>
                  <a:srgbClr val="7652C4"/>
                </a:solidFill>
                <a:latin typeface="NanumGothic"/>
                <a:ea typeface="NanumGothic"/>
                <a:cs typeface="NanumGothic"/>
              </a:rPr>
              <a:t>ROI는 가정하지 않고, 고객의 업무와 완료 기준으로 측정합니다</a:t>
            </a:r>
            <a:endParaRPr lang="ko-KR" sz="2175" b="1"/>
          </a:p>
        </p:txBody>
      </p:sp>
      <p:sp>
        <p:nvSpPr>
          <p:cNvPr id="5" name="Text 5"/>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16</a:t>
            </a:r>
            <a:endParaRPr lang="ko-KR" sz="1050" b="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작은 파일럿으로 우리 조직의 효과를 확인">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tIns="0" rIns="0" bIns="0" anchor="t">
            <a:noAutofit/>
          </a:bodyPr>
          <a:lstStyle/>
          <a:p>
            <a:pPr marL="0" marR="0" indent="0">
              <a:lnSpc>
                <a:spcPct val="125000"/>
              </a:lnSpc>
              <a:buNone/>
            </a:pPr>
            <a:r>
              <a:rPr lang="ko-KR" sz="3225" b="1">
                <a:solidFill>
                  <a:srgbClr val="172033"/>
                </a:solidFill>
                <a:latin typeface="NanumGothic"/>
                <a:ea typeface="NanumGothic"/>
                <a:cs typeface="NanumGothic"/>
              </a:rPr>
              <a:t>작은 파일럿으로 우리 조직의 효과를 확인</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tIns="0" rIns="0" bIns="0" anchor="t">
            <a:noAutofit/>
          </a:bodyPr>
          <a:lstStyle/>
          <a:p>
            <a:pPr marL="0" marR="0" indent="0">
              <a:lnSpc>
                <a:spcPct val="125000"/>
              </a:lnSpc>
              <a:buNone/>
            </a:pPr>
            <a:r>
              <a:rPr lang="ko-KR" sz="1875" b="0">
                <a:solidFill>
                  <a:srgbClr val="637085"/>
                </a:solidFill>
                <a:latin typeface="NanumGothic"/>
                <a:ea typeface="NanumGothic"/>
                <a:cs typeface="NanumGothic"/>
              </a:rPr>
              <a:t>제안: 되돌릴 수 있는 내부 업무 한 가지부터 시작합니다</a:t>
            </a:r>
            <a:endParaRPr lang="ko-KR" sz="1875" b="0"/>
          </a:p>
        </p:txBody>
      </p:sp>
      <p:sp>
        <p:nvSpPr>
          <p:cNvPr id="4" name="Text 4"/>
          <p:cNvSpPr txBox="1"/>
          <p:nvPr/>
        </p:nvSpPr>
        <p:spPr>
          <a:xfrm>
            <a:off x="790575" y="2305050"/>
            <a:ext cx="3238500" cy="466725"/>
          </a:xfrm>
          <a:prstGeom prst="rect">
            <a:avLst/>
          </a:prstGeom>
          <a:noFill/>
          <a:ln>
            <a:noFill/>
          </a:ln>
        </p:spPr>
        <p:txBody>
          <a:bodyPr wrap="square" lIns="0" tIns="0" rIns="0" bIns="0" anchor="t">
            <a:noAutofit/>
          </a:bodyPr>
          <a:lstStyle/>
          <a:p>
            <a:pPr marL="0" marR="0" indent="0">
              <a:lnSpc>
                <a:spcPct val="125000"/>
              </a:lnSpc>
              <a:buNone/>
            </a:pPr>
            <a:r>
              <a:rPr lang="ko-KR" sz="2625" b="1">
                <a:solidFill>
                  <a:srgbClr val="7652C4"/>
                </a:solidFill>
                <a:latin typeface="NanumGothic"/>
                <a:ea typeface="NanumGothic"/>
                <a:cs typeface="NanumGothic"/>
              </a:rPr>
              <a:t>업무 선정</a:t>
            </a:r>
            <a:endParaRPr lang="ko-KR" sz="2625" b="1"/>
          </a:p>
        </p:txBody>
      </p:sp>
      <p:sp>
        <p:nvSpPr>
          <p:cNvPr id="5" name="Text 5"/>
          <p:cNvSpPr txBox="1"/>
          <p:nvPr/>
        </p:nvSpPr>
        <p:spPr>
          <a:xfrm>
            <a:off x="4543425" y="2305050"/>
            <a:ext cx="3238500" cy="466725"/>
          </a:xfrm>
          <a:prstGeom prst="rect">
            <a:avLst/>
          </a:prstGeom>
          <a:noFill/>
          <a:ln>
            <a:noFill/>
          </a:ln>
        </p:spPr>
        <p:txBody>
          <a:bodyPr wrap="square" lIns="0" tIns="0" rIns="0" bIns="0" anchor="t">
            <a:noAutofit/>
          </a:bodyPr>
          <a:lstStyle/>
          <a:p>
            <a:pPr marL="0" marR="0" indent="0">
              <a:lnSpc>
                <a:spcPct val="125000"/>
              </a:lnSpc>
              <a:buNone/>
            </a:pPr>
            <a:r>
              <a:rPr lang="ko-KR" sz="2625" b="1">
                <a:solidFill>
                  <a:srgbClr val="7652C4"/>
                </a:solidFill>
                <a:latin typeface="NanumGothic"/>
                <a:ea typeface="NanumGothic"/>
                <a:cs typeface="NanumGothic"/>
              </a:rPr>
              <a:t>기준 합의</a:t>
            </a:r>
            <a:endParaRPr lang="ko-KR" sz="2625" b="1"/>
          </a:p>
        </p:txBody>
      </p:sp>
      <p:sp>
        <p:nvSpPr>
          <p:cNvPr id="6" name="Text 6"/>
          <p:cNvSpPr txBox="1"/>
          <p:nvPr/>
        </p:nvSpPr>
        <p:spPr>
          <a:xfrm>
            <a:off x="8296275" y="2305050"/>
            <a:ext cx="3181350" cy="466725"/>
          </a:xfrm>
          <a:prstGeom prst="rect">
            <a:avLst/>
          </a:prstGeom>
          <a:noFill/>
          <a:ln>
            <a:noFill/>
          </a:ln>
        </p:spPr>
        <p:txBody>
          <a:bodyPr wrap="square" lIns="0" tIns="0" rIns="0" bIns="0" anchor="t">
            <a:noAutofit/>
          </a:bodyPr>
          <a:lstStyle/>
          <a:p>
            <a:pPr marL="0" marR="0" indent="0">
              <a:lnSpc>
                <a:spcPct val="125000"/>
              </a:lnSpc>
              <a:buNone/>
            </a:pPr>
            <a:r>
              <a:rPr lang="ko-KR" sz="2625" b="1">
                <a:solidFill>
                  <a:srgbClr val="7652C4"/>
                </a:solidFill>
                <a:latin typeface="NanumGothic"/>
                <a:ea typeface="NanumGothic"/>
                <a:cs typeface="NanumGothic"/>
              </a:rPr>
              <a:t>효과 측정</a:t>
            </a:r>
            <a:endParaRPr lang="ko-KR" sz="2625" b="1"/>
          </a:p>
        </p:txBody>
      </p:sp>
      <p:sp>
        <p:nvSpPr>
          <p:cNvPr id="7" name="Text 7"/>
          <p:cNvSpPr txBox="1"/>
          <p:nvPr/>
        </p:nvSpPr>
        <p:spPr>
          <a:xfrm>
            <a:off x="809625" y="3133725"/>
            <a:ext cx="3238500" cy="1095375"/>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승인 분기·운영 화면</a:t>
            </a:r>
            <a:endParaRPr lang="ko-KR" sz="2175" b="0"/>
          </a:p>
          <a:p>
            <a:pPr marL="0" marR="0" indent="0">
              <a:lnSpc>
                <a:spcPct val="125000"/>
              </a:lnSpc>
              <a:buNone/>
            </a:pPr>
            <a:r>
              <a:rPr lang="ko-KR" sz="2175" b="0">
                <a:solidFill>
                  <a:srgbClr val="172033"/>
                </a:solidFill>
                <a:latin typeface="NanumGothic"/>
                <a:ea typeface="NanumGothic"/>
                <a:cs typeface="NanumGothic"/>
              </a:rPr>
              <a:t>회귀 테스트 보강</a:t>
            </a:r>
            <a:endParaRPr lang="ko-KR" sz="2175" b="0"/>
          </a:p>
        </p:txBody>
      </p:sp>
      <p:sp>
        <p:nvSpPr>
          <p:cNvPr id="8" name="Text 8"/>
          <p:cNvSpPr txBox="1"/>
          <p:nvPr/>
        </p:nvSpPr>
        <p:spPr>
          <a:xfrm>
            <a:off x="4562475" y="3133725"/>
            <a:ext cx="3238500" cy="1095375"/>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수정 범위·승인 지점</a:t>
            </a:r>
            <a:endParaRPr lang="ko-KR" sz="2175" b="0"/>
          </a:p>
          <a:p>
            <a:pPr marL="0" marR="0" indent="0">
              <a:lnSpc>
                <a:spcPct val="125000"/>
              </a:lnSpc>
              <a:buNone/>
            </a:pPr>
            <a:r>
              <a:rPr lang="ko-KR" sz="2175" b="0">
                <a:solidFill>
                  <a:srgbClr val="172033"/>
                </a:solidFill>
                <a:latin typeface="NanumGothic"/>
                <a:ea typeface="NanumGothic"/>
                <a:cs typeface="NanumGothic"/>
              </a:rPr>
              <a:t>인수 테스트·복구 경로</a:t>
            </a:r>
            <a:endParaRPr lang="ko-KR" sz="2175" b="0"/>
          </a:p>
        </p:txBody>
      </p:sp>
      <p:sp>
        <p:nvSpPr>
          <p:cNvPr id="9" name="Text 9"/>
          <p:cNvSpPr txBox="1"/>
          <p:nvPr/>
        </p:nvSpPr>
        <p:spPr>
          <a:xfrm>
            <a:off x="8315325" y="3133725"/>
            <a:ext cx="3162300" cy="1095375"/>
          </a:xfrm>
          <a:prstGeom prst="rect">
            <a:avLst/>
          </a:prstGeom>
          <a:noFill/>
          <a:ln>
            <a:noFill/>
          </a:ln>
        </p:spPr>
        <p:txBody>
          <a:bodyPr wrap="square" lIns="0" tIns="0" rIns="0" bIns="0" anchor="t">
            <a:noAutofit/>
          </a:bodyPr>
          <a:lstStyle/>
          <a:p>
            <a:pPr marL="0" marR="0" indent="0">
              <a:lnSpc>
                <a:spcPct val="125000"/>
              </a:lnSpc>
              <a:buNone/>
            </a:pPr>
            <a:r>
              <a:rPr lang="ko-KR" sz="2175" b="0">
                <a:solidFill>
                  <a:srgbClr val="172033"/>
                </a:solidFill>
                <a:latin typeface="NanumGothic"/>
                <a:ea typeface="NanumGothic"/>
                <a:cs typeface="NanumGothic"/>
              </a:rPr>
              <a:t>완료시간·재작업</a:t>
            </a:r>
            <a:endParaRPr lang="ko-KR" sz="2175" b="0"/>
          </a:p>
          <a:p>
            <a:pPr marL="0" marR="0" indent="0">
              <a:lnSpc>
                <a:spcPct val="125000"/>
              </a:lnSpc>
              <a:buNone/>
            </a:pPr>
            <a:r>
              <a:rPr lang="ko-KR" sz="2175" b="0">
                <a:solidFill>
                  <a:srgbClr val="172033"/>
                </a:solidFill>
                <a:latin typeface="NanumGothic"/>
                <a:ea typeface="NanumGothic"/>
                <a:cs typeface="NanumGothic"/>
              </a:rPr>
              <a:t>리뷰 시간·통제 준수</a:t>
            </a:r>
            <a:endParaRPr lang="ko-KR" sz="2175" b="0"/>
          </a:p>
        </p:txBody>
      </p:sp>
      <p:cxnSp>
        <p:nvCxnSpPr>
          <p:cNvPr id="10" name="Handoff 10"/>
          <p:cNvCxnSpPr/>
          <p:nvPr/>
        </p:nvCxnSpPr>
        <p:spPr>
          <a:xfrm>
            <a:off x="790575" y="4743450"/>
            <a:ext cx="10601325" cy="0"/>
          </a:xfrm>
          <a:prstGeom prst="line">
            <a:avLst/>
          </a:prstGeom>
          <a:ln w="19050">
            <a:solidFill>
              <a:srgbClr val="D8DFEB"/>
            </a:solidFill>
          </a:ln>
        </p:spPr>
      </p:cxnSp>
      <p:sp>
        <p:nvSpPr>
          <p:cNvPr id="11" name="Text 11"/>
          <p:cNvSpPr txBox="1"/>
          <p:nvPr/>
        </p:nvSpPr>
        <p:spPr>
          <a:xfrm>
            <a:off x="800100" y="5267325"/>
            <a:ext cx="10629900" cy="762000"/>
          </a:xfrm>
          <a:prstGeom prst="rect">
            <a:avLst/>
          </a:prstGeom>
          <a:noFill/>
          <a:ln>
            <a:noFill/>
          </a:ln>
        </p:spPr>
        <p:txBody>
          <a:bodyPr wrap="square" lIns="0" tIns="0" rIns="0" bIns="0" anchor="t">
            <a:noAutofit/>
          </a:bodyPr>
          <a:lstStyle/>
          <a:p>
            <a:pPr marL="0" marR="0" indent="0">
              <a:lnSpc>
                <a:spcPct val="125000"/>
              </a:lnSpc>
              <a:buNone/>
            </a:pPr>
            <a:r>
              <a:rPr lang="ko-KR" sz="2400" b="1">
                <a:solidFill>
                  <a:srgbClr val="172033"/>
                </a:solidFill>
                <a:latin typeface="NanumGothic"/>
                <a:ea typeface="NanumGothic"/>
                <a:cs typeface="NanumGothic"/>
              </a:rPr>
              <a:t>같은 완료 기준으로 전후 비교 → 효과가 확인된 업무부터 확대</a:t>
            </a:r>
            <a:endParaRPr lang="ko-KR" sz="2400" b="1"/>
          </a:p>
        </p:txBody>
      </p:sp>
      <p:sp>
        <p:nvSpPr>
          <p:cNvPr id="12" name="Text 12"/>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A95A8"/>
                </a:solidFill>
                <a:latin typeface="NanumGothic"/>
                <a:ea typeface="NanumGothic"/>
                <a:cs typeface="NanumGothic"/>
              </a:rPr>
              <a:t>17</a:t>
            </a:r>
            <a:endParaRPr lang="ko-KR" sz="1050" b="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실행은 Copilot이, 기준과 결정은 조직이">
    <p:bg>
      <p:bgPr>
        <a:solidFill>
          <a:srgbClr val="101523"/>
        </a:solidFill>
        <a:effectLst/>
      </p:bgPr>
    </p:bg>
    <p:spTree>
      <p:nvGrpSpPr>
        <p:cNvPr id="1" name=""/>
        <p:cNvGrpSpPr/>
        <p:nvPr/>
      </p:nvGrpSpPr>
      <p:grpSpPr>
        <a:xfrm>
          <a:off x="0" y="0"/>
          <a:ext cx="0" cy="0"/>
          <a:chOff x="0" y="0"/>
          <a:chExt cx="0" cy="0"/>
        </a:xfrm>
      </p:grpSpPr>
      <p:sp>
        <p:nvSpPr>
          <p:cNvPr id="2" name="Text 2"/>
          <p:cNvSpPr txBox="1"/>
          <p:nvPr/>
        </p:nvSpPr>
        <p:spPr>
          <a:xfrm>
            <a:off x="762000" y="857250"/>
            <a:ext cx="10525125" cy="790575"/>
          </a:xfrm>
          <a:prstGeom prst="rect">
            <a:avLst/>
          </a:prstGeom>
          <a:noFill/>
          <a:ln>
            <a:noFill/>
          </a:ln>
        </p:spPr>
        <p:txBody>
          <a:bodyPr wrap="square" lIns="0" tIns="0" rIns="0" bIns="0" anchor="t">
            <a:noAutofit/>
          </a:bodyPr>
          <a:lstStyle/>
          <a:p>
            <a:pPr marL="0" marR="0" indent="0">
              <a:lnSpc>
                <a:spcPct val="125000"/>
              </a:lnSpc>
              <a:buNone/>
            </a:pPr>
            <a:r>
              <a:rPr lang="ko-KR" sz="4275" b="1">
                <a:solidFill>
                  <a:srgbClr val="FFFFFF"/>
                </a:solidFill>
                <a:latin typeface="NanumGothic"/>
                <a:ea typeface="NanumGothic"/>
                <a:cs typeface="NanumGothic"/>
              </a:rPr>
              <a:t>GitHub Copilot</a:t>
            </a:r>
            <a:endParaRPr lang="ko-KR" sz="4275" b="1"/>
          </a:p>
        </p:txBody>
      </p:sp>
      <p:sp>
        <p:nvSpPr>
          <p:cNvPr id="3" name="Text 3"/>
          <p:cNvSpPr txBox="1"/>
          <p:nvPr/>
        </p:nvSpPr>
        <p:spPr>
          <a:xfrm>
            <a:off x="762000" y="2266950"/>
            <a:ext cx="10610850" cy="1790700"/>
          </a:xfrm>
          <a:prstGeom prst="rect">
            <a:avLst/>
          </a:prstGeom>
          <a:noFill/>
          <a:ln>
            <a:noFill/>
          </a:ln>
        </p:spPr>
        <p:txBody>
          <a:bodyPr wrap="square" lIns="0" tIns="0" rIns="0" bIns="0" anchor="t">
            <a:noAutofit/>
          </a:bodyPr>
          <a:lstStyle/>
          <a:p>
            <a:pPr marL="0" marR="0" indent="0">
              <a:lnSpc>
                <a:spcPct val="125000"/>
              </a:lnSpc>
              <a:buNone/>
            </a:pPr>
            <a:r>
              <a:rPr lang="ko-KR" sz="4725" b="1">
                <a:solidFill>
                  <a:srgbClr val="FFFFFF"/>
                </a:solidFill>
                <a:latin typeface="NanumGothic"/>
                <a:ea typeface="NanumGothic"/>
                <a:cs typeface="NanumGothic"/>
              </a:rPr>
              <a:t>실행은 Copilot이</a:t>
            </a:r>
            <a:endParaRPr lang="ko-KR" sz="4725" b="1"/>
          </a:p>
          <a:p>
            <a:pPr marL="0" marR="0" indent="0">
              <a:lnSpc>
                <a:spcPct val="125000"/>
              </a:lnSpc>
              <a:buNone/>
            </a:pPr>
            <a:r>
              <a:rPr lang="ko-KR" sz="4725" b="1">
                <a:solidFill>
                  <a:srgbClr val="FFFFFF"/>
                </a:solidFill>
                <a:latin typeface="NanumGothic"/>
                <a:ea typeface="NanumGothic"/>
                <a:cs typeface="NanumGothic"/>
              </a:rPr>
              <a:t>기준과 결정은 조직이</a:t>
            </a:r>
            <a:endParaRPr lang="ko-KR" sz="4725" b="1"/>
          </a:p>
        </p:txBody>
      </p:sp>
      <p:sp>
        <p:nvSpPr>
          <p:cNvPr id="4" name="Text 4"/>
          <p:cNvSpPr txBox="1"/>
          <p:nvPr/>
        </p:nvSpPr>
        <p:spPr>
          <a:xfrm>
            <a:off x="809625" y="4714875"/>
            <a:ext cx="10525125" cy="1133475"/>
          </a:xfrm>
          <a:prstGeom prst="rect">
            <a:avLst/>
          </a:prstGeom>
          <a:noFill/>
          <a:ln>
            <a:noFill/>
          </a:ln>
        </p:spPr>
        <p:txBody>
          <a:bodyPr wrap="square" lIns="0" tIns="0" rIns="0" bIns="0" anchor="t">
            <a:noAutofit/>
          </a:bodyPr>
          <a:lstStyle/>
          <a:p>
            <a:pPr marL="0" marR="0" indent="0">
              <a:lnSpc>
                <a:spcPct val="125000"/>
              </a:lnSpc>
              <a:buNone/>
            </a:pPr>
            <a:r>
              <a:rPr lang="ko-KR" sz="2700" b="0">
                <a:solidFill>
                  <a:srgbClr val="D7C3FF"/>
                </a:solidFill>
                <a:latin typeface="NanumGothic"/>
                <a:ea typeface="NanumGothic"/>
                <a:cs typeface="NanumGothic"/>
              </a:rPr>
              <a:t>개발 실행력을 높이고</a:t>
            </a:r>
            <a:endParaRPr lang="ko-KR" sz="2700" b="0"/>
          </a:p>
          <a:p>
            <a:pPr marL="0" marR="0" indent="0">
              <a:lnSpc>
                <a:spcPct val="125000"/>
              </a:lnSpc>
              <a:buNone/>
            </a:pPr>
            <a:r>
              <a:rPr lang="ko-KR" sz="2700" b="0">
                <a:solidFill>
                  <a:srgbClr val="D7C3FF"/>
                </a:solidFill>
                <a:latin typeface="NanumGothic"/>
                <a:ea typeface="NanumGothic"/>
                <a:cs typeface="NanumGothic"/>
              </a:rPr>
              <a:t>검토와 승인 지점은 유지합니다</a:t>
            </a:r>
            <a:endParaRPr lang="ko-KR" sz="2700" b="0"/>
          </a:p>
        </p:txBody>
      </p:sp>
      <p:sp>
        <p:nvSpPr>
          <p:cNvPr id="5" name="Text 5"/>
          <p:cNvSpPr txBox="1"/>
          <p:nvPr/>
        </p:nvSpPr>
        <p:spPr>
          <a:xfrm>
            <a:off x="11430000" y="6505575"/>
            <a:ext cx="342900" cy="209550"/>
          </a:xfrm>
          <a:prstGeom prst="rect">
            <a:avLst/>
          </a:prstGeom>
          <a:noFill/>
          <a:ln>
            <a:noFill/>
          </a:ln>
        </p:spPr>
        <p:txBody>
          <a:bodyPr wrap="square" lIns="0" tIns="0" rIns="0" bIns="0" anchor="t">
            <a:noAutofit/>
          </a:bodyPr>
          <a:lstStyle/>
          <a:p>
            <a:pPr marL="0" marR="0" indent="0">
              <a:lnSpc>
                <a:spcPct val="125000"/>
              </a:lnSpc>
              <a:buNone/>
            </a:pPr>
            <a:r>
              <a:rPr lang="ko-KR" sz="1050" b="0">
                <a:solidFill>
                  <a:srgbClr val="8994A9"/>
                </a:solidFill>
                <a:latin typeface="NanumGothic"/>
                <a:ea typeface="NanumGothic"/>
                <a:cs typeface="NanumGothic"/>
              </a:rPr>
              <a:t>18</a:t>
            </a:r>
            <a:endParaRPr lang="ko-KR" sz="1050" b="0"/>
          </a:p>
        </p:txBody>
      </p:sp>
    </p:spTree>
  </p:cSld>
  <p:clrMapOvr>
    <a:masterClrMapping/>
  </p:clrMapOvr>
</p:sld>
</file>

<file path=ppt/theme/theme1.xml><?xml version="1.0" encoding="utf-8"?>
<a:theme xmlns:a="http://schemas.openxmlformats.org/drawingml/2006/main" name="Executive Copilot">
  <a:themeElements>
    <a:clrScheme name="Executive">
      <a:dk1>
        <a:srgbClr val="172033"/>
      </a:dk1>
      <a:lt1>
        <a:srgbClr val="FFFFFF"/>
      </a:lt1>
      <a:dk2>
        <a:srgbClr val="101523"/>
      </a:dk2>
      <a:lt2>
        <a:srgbClr val="F7F8FC"/>
      </a:lt2>
      <a:accent1>
        <a:srgbClr val="7652C4"/>
      </a:accent1>
      <a:accent2>
        <a:srgbClr val="19734A"/>
      </a:accent2>
      <a:accent3>
        <a:srgbClr val="AD5B15"/>
      </a:accent3>
      <a:accent4>
        <a:srgbClr val="637085"/>
      </a:accent4>
      <a:accent5>
        <a:srgbClr val="C9B6F2"/>
      </a:accent5>
      <a:accent6>
        <a:srgbClr val="E8F3EC"/>
      </a:accent6>
      <a:hlink>
        <a:srgbClr val="7652C4"/>
      </a:hlink>
      <a:folHlink>
        <a:srgbClr val="584185"/>
      </a:folHlink>
    </a:clrScheme>
    <a:fontScheme name="Korean">
      <a:majorFont>
        <a:latin typeface="Nanum Gothic"/>
        <a:ea typeface="Nanum Gothic"/>
        <a:cs typeface="Nanum Gothic"/>
      </a:majorFont>
      <a:minorFont>
        <a:latin typeface="Nanum Gothic"/>
        <a:ea typeface="Nanum Gothic"/>
        <a:cs typeface="Nanum Gothic"/>
      </a:minorFont>
    </a:fontScheme>
    <a:fmtScheme name="Simple">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headEnd type="none"/>
          <a:tailEnd type="none"/>
        </a:ln>
        <a:ln w="19050" cap="flat" cmpd="sng" algn="ctr">
          <a:solidFill>
            <a:schemeClr val="phClr"/>
          </a:solidFill>
          <a:prstDash val="solid"/>
          <a:miter lim="800000"/>
          <a:headEnd type="none"/>
          <a:tailEnd type="none"/>
        </a:ln>
        <a:ln w="28575" cap="flat" cmpd="sng" algn="ctr">
          <a:solidFill>
            <a:schemeClr val="phClr"/>
          </a:solidFill>
          <a:prstDash val="solid"/>
          <a:miter lim="800000"/>
          <a:headEnd type="none"/>
          <a:tailEnd type="none"/>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2964</Words>
  <Application>Microsoft Macintosh PowerPoint</Application>
  <PresentationFormat>Widescreen</PresentationFormat>
  <Paragraphs>253</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NanumGothic</vt:lpstr>
      <vt:lpstr>Executive Copilot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Agentic Development in Action</dc:title>
  <dc:subject>CXO demo: refund approval and audit</dc:subject>
  <dc:creator>GitHub Copilot</dc:creator>
  <cp:lastModifiedBy>Junwoo Jeong</cp:lastModifiedBy>
  <cp:revision>1</cp:revision>
  <dcterms:modified xsi:type="dcterms:W3CDTF">2026-09-26T09:12:46Z</dcterms:modified>
</cp:coreProperties>
</file>